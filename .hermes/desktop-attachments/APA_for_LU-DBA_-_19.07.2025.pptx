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35"/>
  </p:notesMasterIdLst>
  <p:sldIdLst>
    <p:sldId id="258" r:id="rId3"/>
    <p:sldId id="259" r:id="rId4"/>
    <p:sldId id="260" r:id="rId5"/>
    <p:sldId id="291" r:id="rId6"/>
    <p:sldId id="292" r:id="rId7"/>
    <p:sldId id="298" r:id="rId8"/>
    <p:sldId id="297" r:id="rId9"/>
    <p:sldId id="296" r:id="rId10"/>
    <p:sldId id="284" r:id="rId11"/>
    <p:sldId id="285" r:id="rId12"/>
    <p:sldId id="283" r:id="rId13"/>
    <p:sldId id="282" r:id="rId14"/>
    <p:sldId id="286" r:id="rId15"/>
    <p:sldId id="299" r:id="rId16"/>
    <p:sldId id="295" r:id="rId17"/>
    <p:sldId id="294" r:id="rId18"/>
    <p:sldId id="280" r:id="rId19"/>
    <p:sldId id="261" r:id="rId20"/>
    <p:sldId id="262" r:id="rId21"/>
    <p:sldId id="263" r:id="rId22"/>
    <p:sldId id="281" r:id="rId23"/>
    <p:sldId id="293" r:id="rId24"/>
    <p:sldId id="279" r:id="rId25"/>
    <p:sldId id="290" r:id="rId26"/>
    <p:sldId id="300" r:id="rId27"/>
    <p:sldId id="277" r:id="rId28"/>
    <p:sldId id="289" r:id="rId29"/>
    <p:sldId id="301" r:id="rId30"/>
    <p:sldId id="288" r:id="rId31"/>
    <p:sldId id="287" r:id="rId32"/>
    <p:sldId id="275" r:id="rId33"/>
    <p:sldId id="27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32"/>
    <p:restoredTop sz="94635"/>
  </p:normalViewPr>
  <p:slideViewPr>
    <p:cSldViewPr snapToGrid="0">
      <p:cViewPr varScale="1">
        <p:scale>
          <a:sx n="96" d="100"/>
          <a:sy n="96" d="100"/>
        </p:scale>
        <p:origin x="192"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661F81-6383-4D87-94DE-96DDB21EC11C}" type="doc">
      <dgm:prSet loTypeId="urn:microsoft.com/office/officeart/2005/8/layout/arrow2" loCatId="process" qsTypeId="urn:microsoft.com/office/officeart/2005/8/quickstyle/simple1" qsCatId="simple" csTypeId="urn:microsoft.com/office/officeart/2005/8/colors/colorful1" csCatId="colorful" phldr="1"/>
      <dgm:spPr/>
      <dgm:t>
        <a:bodyPr/>
        <a:lstStyle/>
        <a:p>
          <a:endParaRPr lang="en-US"/>
        </a:p>
      </dgm:t>
    </dgm:pt>
    <dgm:pt modelId="{0451A835-EC1F-49D2-9772-ED093A5F1DB7}">
      <dgm:prSet phldrT="[Text]" phldr="0" custT="1"/>
      <dgm:spPr/>
      <dgm:t>
        <a:bodyPr/>
        <a:lstStyle/>
        <a:p>
          <a:pPr rtl="0"/>
          <a:r>
            <a:rPr lang="en-US" sz="1800" dirty="0">
              <a:latin typeface="Tahoma"/>
              <a:ea typeface="Tahoma"/>
              <a:cs typeface="Tahoma"/>
            </a:rPr>
            <a:t>Event Occurs</a:t>
          </a:r>
        </a:p>
      </dgm:t>
    </dgm:pt>
    <dgm:pt modelId="{82F05430-5658-472D-A942-1348C522E333}" type="parTrans" cxnId="{97F0B60F-EBAC-433D-9C55-62EB57BCD19A}">
      <dgm:prSet/>
      <dgm:spPr/>
      <dgm:t>
        <a:bodyPr/>
        <a:lstStyle/>
        <a:p>
          <a:endParaRPr lang="en-US" sz="2400"/>
        </a:p>
      </dgm:t>
    </dgm:pt>
    <dgm:pt modelId="{59ADC5AD-00DD-4A87-9855-CD0550B980C8}" type="sibTrans" cxnId="{97F0B60F-EBAC-433D-9C55-62EB57BCD19A}">
      <dgm:prSet/>
      <dgm:spPr/>
      <dgm:t>
        <a:bodyPr/>
        <a:lstStyle/>
        <a:p>
          <a:endParaRPr lang="en-US" sz="2400"/>
        </a:p>
      </dgm:t>
    </dgm:pt>
    <dgm:pt modelId="{127732A9-6CC3-491C-A086-EBF9B79ADF33}">
      <dgm:prSet phldrT="[Text]" phldr="0" custT="1"/>
      <dgm:spPr/>
      <dgm:t>
        <a:bodyPr/>
        <a:lstStyle/>
        <a:p>
          <a:pPr rtl="0"/>
          <a:r>
            <a:rPr lang="en-US" sz="1800" dirty="0">
              <a:latin typeface="Tahoma"/>
              <a:ea typeface="Tahoma"/>
              <a:cs typeface="Tahoma"/>
            </a:rPr>
            <a:t>Same Day</a:t>
          </a:r>
        </a:p>
      </dgm:t>
    </dgm:pt>
    <dgm:pt modelId="{DF224021-FF87-416F-9709-FA5E060500A3}" type="parTrans" cxnId="{C8A2F99A-9884-4AAC-8861-ACB7C9AC12F6}">
      <dgm:prSet/>
      <dgm:spPr/>
      <dgm:t>
        <a:bodyPr/>
        <a:lstStyle/>
        <a:p>
          <a:endParaRPr lang="en-US" sz="2400"/>
        </a:p>
      </dgm:t>
    </dgm:pt>
    <dgm:pt modelId="{A0AE577C-FE6E-44F6-AE4D-45A0C74D5E98}" type="sibTrans" cxnId="{C8A2F99A-9884-4AAC-8861-ACB7C9AC12F6}">
      <dgm:prSet/>
      <dgm:spPr/>
      <dgm:t>
        <a:bodyPr/>
        <a:lstStyle/>
        <a:p>
          <a:endParaRPr lang="en-US" sz="2400"/>
        </a:p>
      </dgm:t>
    </dgm:pt>
    <dgm:pt modelId="{A7632F69-BA1D-46F3-986B-8BCD272F117A}">
      <dgm:prSet phldrT="[Text]" phldr="0" custT="1"/>
      <dgm:spPr/>
      <dgm:t>
        <a:bodyPr/>
        <a:lstStyle/>
        <a:p>
          <a:pPr rtl="0"/>
          <a:r>
            <a:rPr lang="en-US" sz="1800" dirty="0">
              <a:latin typeface="Tahoma"/>
              <a:ea typeface="Tahoma"/>
              <a:cs typeface="Tahoma"/>
            </a:rPr>
            <a:t>Weeks After</a:t>
          </a:r>
        </a:p>
      </dgm:t>
    </dgm:pt>
    <dgm:pt modelId="{CC872AB3-41DA-46B1-8410-F3304ED2223B}" type="parTrans" cxnId="{4BB49C30-338C-4E8B-95A9-EE60B16547A6}">
      <dgm:prSet/>
      <dgm:spPr/>
      <dgm:t>
        <a:bodyPr/>
        <a:lstStyle/>
        <a:p>
          <a:endParaRPr lang="en-US" sz="2400"/>
        </a:p>
      </dgm:t>
    </dgm:pt>
    <dgm:pt modelId="{02A49005-8B91-417C-B3B6-3A4B0C5164F4}" type="sibTrans" cxnId="{4BB49C30-338C-4E8B-95A9-EE60B16547A6}">
      <dgm:prSet/>
      <dgm:spPr/>
      <dgm:t>
        <a:bodyPr/>
        <a:lstStyle/>
        <a:p>
          <a:endParaRPr lang="en-US" sz="2400"/>
        </a:p>
      </dgm:t>
    </dgm:pt>
    <dgm:pt modelId="{3FB2931D-554F-40E5-9A79-CCCD6AA097A8}">
      <dgm:prSet phldr="0" custT="1"/>
      <dgm:spPr/>
      <dgm:t>
        <a:bodyPr/>
        <a:lstStyle/>
        <a:p>
          <a:pPr rtl="0"/>
          <a:r>
            <a:rPr lang="en-US" sz="1800" dirty="0">
              <a:latin typeface="Tahoma"/>
              <a:ea typeface="Tahoma"/>
              <a:cs typeface="Tahoma"/>
            </a:rPr>
            <a:t>Months After</a:t>
          </a:r>
        </a:p>
      </dgm:t>
    </dgm:pt>
    <dgm:pt modelId="{DE934E1A-7BE1-43A0-AD84-31D68A0CD568}" type="parTrans" cxnId="{9D44EA11-F30B-4B82-A1C0-F423D5C55D3A}">
      <dgm:prSet/>
      <dgm:spPr/>
      <dgm:t>
        <a:bodyPr/>
        <a:lstStyle/>
        <a:p>
          <a:endParaRPr lang="en-US" sz="2400"/>
        </a:p>
      </dgm:t>
    </dgm:pt>
    <dgm:pt modelId="{22EFB91D-5C33-4F9B-A770-A4D08D2B995C}" type="sibTrans" cxnId="{9D44EA11-F30B-4B82-A1C0-F423D5C55D3A}">
      <dgm:prSet/>
      <dgm:spPr/>
      <dgm:t>
        <a:bodyPr/>
        <a:lstStyle/>
        <a:p>
          <a:endParaRPr lang="en-US" sz="2400"/>
        </a:p>
      </dgm:t>
    </dgm:pt>
    <dgm:pt modelId="{B0D3ED29-FEAD-4420-AB32-9705F3F85773}">
      <dgm:prSet phldr="0" custT="1"/>
      <dgm:spPr/>
      <dgm:t>
        <a:bodyPr/>
        <a:lstStyle/>
        <a:p>
          <a:pPr rtl="0"/>
          <a:r>
            <a:rPr lang="en-US" sz="1800" dirty="0">
              <a:latin typeface="Tahoma"/>
              <a:ea typeface="Tahoma"/>
              <a:cs typeface="Tahoma"/>
            </a:rPr>
            <a:t>One Year After</a:t>
          </a:r>
        </a:p>
      </dgm:t>
    </dgm:pt>
    <dgm:pt modelId="{4ADC4FDF-F609-456D-A886-16C85B369E5D}" type="parTrans" cxnId="{2F1DA989-D356-4D72-89E4-FCEC905F4A47}">
      <dgm:prSet/>
      <dgm:spPr/>
      <dgm:t>
        <a:bodyPr/>
        <a:lstStyle/>
        <a:p>
          <a:endParaRPr lang="en-US" sz="2400"/>
        </a:p>
      </dgm:t>
    </dgm:pt>
    <dgm:pt modelId="{65AD0890-38C7-4EE1-BB96-A1D92AB0A54A}" type="sibTrans" cxnId="{2F1DA989-D356-4D72-89E4-FCEC905F4A47}">
      <dgm:prSet/>
      <dgm:spPr/>
      <dgm:t>
        <a:bodyPr/>
        <a:lstStyle/>
        <a:p>
          <a:endParaRPr lang="en-US" sz="2400"/>
        </a:p>
      </dgm:t>
    </dgm:pt>
    <dgm:pt modelId="{48FD4236-60DE-49A7-A27C-69C9C1FFC3F0}">
      <dgm:prSet phldr="0"/>
      <dgm:spPr/>
      <dgm:t>
        <a:bodyPr/>
        <a:lstStyle/>
        <a:p>
          <a:endParaRPr lang="en-US" sz="2400"/>
        </a:p>
      </dgm:t>
    </dgm:pt>
    <dgm:pt modelId="{04FE1F54-9E03-4ED9-91C8-B867A594533D}" type="parTrans" cxnId="{563FD45F-E7A1-4148-AE0F-1B4E9BB6FF1B}">
      <dgm:prSet/>
      <dgm:spPr/>
      <dgm:t>
        <a:bodyPr/>
        <a:lstStyle/>
        <a:p>
          <a:endParaRPr lang="en-US" sz="2400"/>
        </a:p>
      </dgm:t>
    </dgm:pt>
    <dgm:pt modelId="{9C9F8C67-DEA6-4E2F-91EC-FBCF71A0415B}" type="sibTrans" cxnId="{563FD45F-E7A1-4148-AE0F-1B4E9BB6FF1B}">
      <dgm:prSet/>
      <dgm:spPr/>
      <dgm:t>
        <a:bodyPr/>
        <a:lstStyle/>
        <a:p>
          <a:endParaRPr lang="en-US" sz="2400"/>
        </a:p>
      </dgm:t>
    </dgm:pt>
    <dgm:pt modelId="{6D6CAC68-01E8-4D1A-8B17-D7D61DCE66E6}">
      <dgm:prSet phldr="0" custT="1"/>
      <dgm:spPr/>
      <dgm:t>
        <a:bodyPr/>
        <a:lstStyle/>
        <a:p>
          <a:pPr rtl="0"/>
          <a:r>
            <a:rPr lang="en-US" sz="1400" dirty="0">
              <a:latin typeface="Tahoma"/>
              <a:ea typeface="Tahoma"/>
              <a:cs typeface="Tahoma"/>
            </a:rPr>
            <a:t>Eyewitness accounts</a:t>
          </a:r>
        </a:p>
      </dgm:t>
    </dgm:pt>
    <dgm:pt modelId="{55D9205A-4FF2-4696-822B-F8EE860A30B1}" type="parTrans" cxnId="{8AB50FC6-9F3C-4B1C-AB44-D9D51BE1DEE3}">
      <dgm:prSet/>
      <dgm:spPr/>
      <dgm:t>
        <a:bodyPr/>
        <a:lstStyle/>
        <a:p>
          <a:endParaRPr lang="en-US" sz="2400"/>
        </a:p>
      </dgm:t>
    </dgm:pt>
    <dgm:pt modelId="{F707ACB1-22B8-428E-98A1-7229A26BC503}" type="sibTrans" cxnId="{8AB50FC6-9F3C-4B1C-AB44-D9D51BE1DEE3}">
      <dgm:prSet/>
      <dgm:spPr/>
      <dgm:t>
        <a:bodyPr/>
        <a:lstStyle/>
        <a:p>
          <a:endParaRPr lang="en-US" sz="2400"/>
        </a:p>
      </dgm:t>
    </dgm:pt>
    <dgm:pt modelId="{90D291CB-7C97-47D1-A4F4-92AE0807BA39}">
      <dgm:prSet phldr="0" custT="1"/>
      <dgm:spPr/>
      <dgm:t>
        <a:bodyPr/>
        <a:lstStyle/>
        <a:p>
          <a:r>
            <a:rPr lang="en-US" sz="1400" dirty="0">
              <a:latin typeface="Tahoma"/>
              <a:ea typeface="Tahoma"/>
              <a:cs typeface="Tahoma"/>
            </a:rPr>
            <a:t>Social media updates</a:t>
          </a:r>
        </a:p>
      </dgm:t>
    </dgm:pt>
    <dgm:pt modelId="{22CB0F9F-51E2-465F-9FF2-AB0513F9E152}" type="parTrans" cxnId="{0C42E7FB-1AC9-44FF-ADA7-0449D8938603}">
      <dgm:prSet/>
      <dgm:spPr/>
      <dgm:t>
        <a:bodyPr/>
        <a:lstStyle/>
        <a:p>
          <a:endParaRPr lang="en-US" sz="2400"/>
        </a:p>
      </dgm:t>
    </dgm:pt>
    <dgm:pt modelId="{CB5BDDDC-7090-4E75-B05A-86F9B7FEA7BA}" type="sibTrans" cxnId="{0C42E7FB-1AC9-44FF-ADA7-0449D8938603}">
      <dgm:prSet/>
      <dgm:spPr/>
      <dgm:t>
        <a:bodyPr/>
        <a:lstStyle/>
        <a:p>
          <a:endParaRPr lang="en-US" sz="2400"/>
        </a:p>
      </dgm:t>
    </dgm:pt>
    <dgm:pt modelId="{608200FA-7F8F-4EC7-977B-771C3BD68626}">
      <dgm:prSet phldr="0" custT="1"/>
      <dgm:spPr/>
      <dgm:t>
        <a:bodyPr/>
        <a:lstStyle/>
        <a:p>
          <a:pPr rtl="0"/>
          <a:r>
            <a:rPr lang="en-US" sz="1400" dirty="0">
              <a:latin typeface="Tahoma"/>
              <a:ea typeface="Tahoma"/>
              <a:cs typeface="Tahoma"/>
            </a:rPr>
            <a:t>Television broadcasts</a:t>
          </a:r>
        </a:p>
      </dgm:t>
    </dgm:pt>
    <dgm:pt modelId="{C2C00B37-8954-4D15-951C-7F8563297A5E}" type="parTrans" cxnId="{3FFFA4E2-A94E-4669-92CD-DC1B88B6744F}">
      <dgm:prSet/>
      <dgm:spPr/>
      <dgm:t>
        <a:bodyPr/>
        <a:lstStyle/>
        <a:p>
          <a:endParaRPr lang="en-US" sz="2400"/>
        </a:p>
      </dgm:t>
    </dgm:pt>
    <dgm:pt modelId="{0F60FDA7-6985-4B37-9154-85E79DF7DAAB}" type="sibTrans" cxnId="{3FFFA4E2-A94E-4669-92CD-DC1B88B6744F}">
      <dgm:prSet/>
      <dgm:spPr/>
      <dgm:t>
        <a:bodyPr/>
        <a:lstStyle/>
        <a:p>
          <a:endParaRPr lang="en-US" sz="2400"/>
        </a:p>
      </dgm:t>
    </dgm:pt>
    <dgm:pt modelId="{B8910D5A-60E2-4A81-B603-060CA4348D1B}">
      <dgm:prSet phldr="0" custT="1"/>
      <dgm:spPr/>
      <dgm:t>
        <a:bodyPr/>
        <a:lstStyle/>
        <a:p>
          <a:r>
            <a:rPr lang="en-US" sz="1400" dirty="0">
              <a:latin typeface="Tahoma"/>
              <a:ea typeface="Tahoma"/>
              <a:cs typeface="Tahoma"/>
            </a:rPr>
            <a:t>Radio broadcasts</a:t>
          </a:r>
        </a:p>
      </dgm:t>
    </dgm:pt>
    <dgm:pt modelId="{826A9936-C1E1-4C92-B57A-DBB184A7E033}" type="parTrans" cxnId="{448D546B-05FD-4BA6-9636-6B580928FD9B}">
      <dgm:prSet/>
      <dgm:spPr/>
      <dgm:t>
        <a:bodyPr/>
        <a:lstStyle/>
        <a:p>
          <a:endParaRPr lang="en-US" sz="2400"/>
        </a:p>
      </dgm:t>
    </dgm:pt>
    <dgm:pt modelId="{96E65AD6-9517-4B96-B7EE-A75FD6F902B2}" type="sibTrans" cxnId="{448D546B-05FD-4BA6-9636-6B580928FD9B}">
      <dgm:prSet/>
      <dgm:spPr/>
      <dgm:t>
        <a:bodyPr/>
        <a:lstStyle/>
        <a:p>
          <a:endParaRPr lang="en-US" sz="2400"/>
        </a:p>
      </dgm:t>
    </dgm:pt>
    <dgm:pt modelId="{93A56EF0-8CA0-4859-9873-4BA65B6EDC3C}">
      <dgm:prSet phldr="0" custT="1"/>
      <dgm:spPr/>
      <dgm:t>
        <a:bodyPr/>
        <a:lstStyle/>
        <a:p>
          <a:r>
            <a:rPr lang="en-US" sz="1400" dirty="0">
              <a:latin typeface="Tahoma"/>
              <a:ea typeface="Tahoma"/>
              <a:cs typeface="Tahoma"/>
            </a:rPr>
            <a:t>Online newspapers</a:t>
          </a:r>
        </a:p>
      </dgm:t>
    </dgm:pt>
    <dgm:pt modelId="{9C6485C8-00F1-48D3-A989-8E8481758800}" type="parTrans" cxnId="{1AAD6A6F-4E35-42C6-8E19-C7FA6B27F9A8}">
      <dgm:prSet/>
      <dgm:spPr/>
      <dgm:t>
        <a:bodyPr/>
        <a:lstStyle/>
        <a:p>
          <a:endParaRPr lang="en-US" sz="2400"/>
        </a:p>
      </dgm:t>
    </dgm:pt>
    <dgm:pt modelId="{2C6E730E-D36B-422E-B0B3-398947DBFF62}" type="sibTrans" cxnId="{1AAD6A6F-4E35-42C6-8E19-C7FA6B27F9A8}">
      <dgm:prSet/>
      <dgm:spPr/>
      <dgm:t>
        <a:bodyPr/>
        <a:lstStyle/>
        <a:p>
          <a:endParaRPr lang="en-US" sz="2400"/>
        </a:p>
      </dgm:t>
    </dgm:pt>
    <dgm:pt modelId="{9DCEA6CF-CA07-4CF0-9E74-D7A1701528AB}">
      <dgm:prSet phldr="0" custT="1"/>
      <dgm:spPr/>
      <dgm:t>
        <a:bodyPr/>
        <a:lstStyle/>
        <a:p>
          <a:r>
            <a:rPr lang="en-US" sz="1400" dirty="0">
              <a:latin typeface="Tahoma"/>
              <a:ea typeface="Tahoma"/>
              <a:cs typeface="Tahoma"/>
            </a:rPr>
            <a:t>Online magazines</a:t>
          </a:r>
        </a:p>
      </dgm:t>
    </dgm:pt>
    <dgm:pt modelId="{BE75E096-F4ED-44CE-8685-39CA01D2611E}" type="parTrans" cxnId="{20A6A2DE-59F4-4A57-9F8A-FF89E5283690}">
      <dgm:prSet/>
      <dgm:spPr/>
      <dgm:t>
        <a:bodyPr/>
        <a:lstStyle/>
        <a:p>
          <a:endParaRPr lang="en-US" sz="2400"/>
        </a:p>
      </dgm:t>
    </dgm:pt>
    <dgm:pt modelId="{4A31D7E2-AF5D-4E11-A708-B4991C4488DE}" type="sibTrans" cxnId="{20A6A2DE-59F4-4A57-9F8A-FF89E5283690}">
      <dgm:prSet/>
      <dgm:spPr/>
      <dgm:t>
        <a:bodyPr/>
        <a:lstStyle/>
        <a:p>
          <a:endParaRPr lang="en-US" sz="2400"/>
        </a:p>
      </dgm:t>
    </dgm:pt>
    <dgm:pt modelId="{CF7F2E69-93C2-4923-8D68-76610D1AAAD4}">
      <dgm:prSet phldr="0" custT="1"/>
      <dgm:spPr/>
      <dgm:t>
        <a:bodyPr/>
        <a:lstStyle/>
        <a:p>
          <a:r>
            <a:rPr lang="en-US" sz="1400" dirty="0">
              <a:latin typeface="Tahoma"/>
              <a:ea typeface="Tahoma"/>
              <a:cs typeface="Tahoma"/>
            </a:rPr>
            <a:t>Online news sites</a:t>
          </a:r>
        </a:p>
      </dgm:t>
    </dgm:pt>
    <dgm:pt modelId="{BBBF243B-D944-478F-83A6-4460741D15F2}" type="parTrans" cxnId="{8FBF5CF1-17D8-4973-A922-EDECE94938D4}">
      <dgm:prSet/>
      <dgm:spPr/>
      <dgm:t>
        <a:bodyPr/>
        <a:lstStyle/>
        <a:p>
          <a:endParaRPr lang="en-US" sz="2400"/>
        </a:p>
      </dgm:t>
    </dgm:pt>
    <dgm:pt modelId="{48BB4169-EA0C-494B-B3BD-D44B7E185471}" type="sibTrans" cxnId="{8FBF5CF1-17D8-4973-A922-EDECE94938D4}">
      <dgm:prSet/>
      <dgm:spPr/>
      <dgm:t>
        <a:bodyPr/>
        <a:lstStyle/>
        <a:p>
          <a:endParaRPr lang="en-US" sz="2400"/>
        </a:p>
      </dgm:t>
    </dgm:pt>
    <dgm:pt modelId="{62DAFCFE-AF5A-47D5-BB92-DA6BF6DD904E}">
      <dgm:prSet phldr="0" custT="1"/>
      <dgm:spPr/>
      <dgm:t>
        <a:bodyPr/>
        <a:lstStyle/>
        <a:p>
          <a:pPr rtl="0"/>
          <a:r>
            <a:rPr lang="en-US" sz="1400" dirty="0">
              <a:latin typeface="Tahoma"/>
              <a:ea typeface="Tahoma"/>
              <a:cs typeface="Tahoma"/>
            </a:rPr>
            <a:t>Print magazines</a:t>
          </a:r>
        </a:p>
      </dgm:t>
    </dgm:pt>
    <dgm:pt modelId="{61857D11-1D77-4A23-8C8C-38843AF3F2BC}" type="parTrans" cxnId="{5D367DFA-48A2-4999-B3D0-261990BA2FDB}">
      <dgm:prSet/>
      <dgm:spPr/>
      <dgm:t>
        <a:bodyPr/>
        <a:lstStyle/>
        <a:p>
          <a:endParaRPr lang="en-US" sz="2400"/>
        </a:p>
      </dgm:t>
    </dgm:pt>
    <dgm:pt modelId="{13DB3177-91CC-4460-BC60-CBD2C2922C7A}" type="sibTrans" cxnId="{5D367DFA-48A2-4999-B3D0-261990BA2FDB}">
      <dgm:prSet/>
      <dgm:spPr/>
      <dgm:t>
        <a:bodyPr/>
        <a:lstStyle/>
        <a:p>
          <a:endParaRPr lang="en-US" sz="2400"/>
        </a:p>
      </dgm:t>
    </dgm:pt>
    <dgm:pt modelId="{8D192228-2BC8-492D-9009-CBCB176874FA}">
      <dgm:prSet phldr="0" custT="1"/>
      <dgm:spPr/>
      <dgm:t>
        <a:bodyPr/>
        <a:lstStyle/>
        <a:p>
          <a:r>
            <a:rPr lang="en-US" sz="1400" dirty="0">
              <a:latin typeface="Tahoma"/>
              <a:ea typeface="Tahoma"/>
              <a:cs typeface="Tahoma"/>
            </a:rPr>
            <a:t>Print newspapers</a:t>
          </a:r>
        </a:p>
      </dgm:t>
    </dgm:pt>
    <dgm:pt modelId="{68504299-0151-438F-9026-F1E2B746477F}" type="parTrans" cxnId="{759E4356-0957-4EC5-AC12-0B4573C5D482}">
      <dgm:prSet/>
      <dgm:spPr/>
      <dgm:t>
        <a:bodyPr/>
        <a:lstStyle/>
        <a:p>
          <a:endParaRPr lang="en-US" sz="2400"/>
        </a:p>
      </dgm:t>
    </dgm:pt>
    <dgm:pt modelId="{643730CD-A49E-4BE2-80C2-F39B8ECAFCF6}" type="sibTrans" cxnId="{759E4356-0957-4EC5-AC12-0B4573C5D482}">
      <dgm:prSet/>
      <dgm:spPr/>
      <dgm:t>
        <a:bodyPr/>
        <a:lstStyle/>
        <a:p>
          <a:endParaRPr lang="en-US" sz="2400"/>
        </a:p>
      </dgm:t>
    </dgm:pt>
    <dgm:pt modelId="{9224ED3F-3E08-490F-83E0-590D70373255}">
      <dgm:prSet phldr="0" custT="1"/>
      <dgm:spPr/>
      <dgm:t>
        <a:bodyPr/>
        <a:lstStyle/>
        <a:p>
          <a:pPr rtl="0"/>
          <a:r>
            <a:rPr lang="en-US" sz="1400" dirty="0">
              <a:latin typeface="Tahoma"/>
              <a:ea typeface="Tahoma"/>
              <a:cs typeface="Tahoma"/>
            </a:rPr>
            <a:t>Academic journals</a:t>
          </a:r>
        </a:p>
      </dgm:t>
    </dgm:pt>
    <dgm:pt modelId="{C9DFFD57-1D62-4FF5-A70D-025FE4669B88}" type="parTrans" cxnId="{8156C989-8CB0-4967-B5FE-8052BF30E5C8}">
      <dgm:prSet/>
      <dgm:spPr/>
      <dgm:t>
        <a:bodyPr/>
        <a:lstStyle/>
        <a:p>
          <a:endParaRPr lang="en-US" sz="2400"/>
        </a:p>
      </dgm:t>
    </dgm:pt>
    <dgm:pt modelId="{4928F98F-5F48-480A-B737-9D5DEE73DA72}" type="sibTrans" cxnId="{8156C989-8CB0-4967-B5FE-8052BF30E5C8}">
      <dgm:prSet/>
      <dgm:spPr/>
      <dgm:t>
        <a:bodyPr/>
        <a:lstStyle/>
        <a:p>
          <a:endParaRPr lang="en-US" sz="2400"/>
        </a:p>
      </dgm:t>
    </dgm:pt>
    <dgm:pt modelId="{B764BFC8-EC4C-42C9-A7BF-4D427F23CDF3}">
      <dgm:prSet phldr="0" custT="1"/>
      <dgm:spPr/>
      <dgm:t>
        <a:bodyPr/>
        <a:lstStyle/>
        <a:p>
          <a:r>
            <a:rPr lang="en-US" sz="1400" dirty="0">
              <a:latin typeface="Tahoma"/>
              <a:ea typeface="Tahoma"/>
              <a:cs typeface="Tahoma"/>
            </a:rPr>
            <a:t>Trade publications</a:t>
          </a:r>
        </a:p>
      </dgm:t>
    </dgm:pt>
    <dgm:pt modelId="{324F6D6B-8096-4970-AD85-D19E195554DE}" type="parTrans" cxnId="{6C984AC0-75EA-43BC-9B1F-F4AE09EDBFD7}">
      <dgm:prSet/>
      <dgm:spPr/>
      <dgm:t>
        <a:bodyPr/>
        <a:lstStyle/>
        <a:p>
          <a:endParaRPr lang="en-US" sz="2400"/>
        </a:p>
      </dgm:t>
    </dgm:pt>
    <dgm:pt modelId="{D0E6B3EC-0000-4F2F-90D2-E4A83DD17C29}" type="sibTrans" cxnId="{6C984AC0-75EA-43BC-9B1F-F4AE09EDBFD7}">
      <dgm:prSet/>
      <dgm:spPr/>
      <dgm:t>
        <a:bodyPr/>
        <a:lstStyle/>
        <a:p>
          <a:endParaRPr lang="en-US" sz="2400"/>
        </a:p>
      </dgm:t>
    </dgm:pt>
    <dgm:pt modelId="{9F843335-18D9-4ED9-B3C8-778E0825A4DA}">
      <dgm:prSet phldr="0" custT="1"/>
      <dgm:spPr/>
      <dgm:t>
        <a:bodyPr/>
        <a:lstStyle/>
        <a:p>
          <a:pPr rtl="0"/>
          <a:r>
            <a:rPr lang="en-US" sz="1400" dirty="0">
              <a:latin typeface="Tahoma"/>
              <a:ea typeface="Tahoma"/>
              <a:cs typeface="Tahoma"/>
            </a:rPr>
            <a:t>Books</a:t>
          </a:r>
        </a:p>
      </dgm:t>
    </dgm:pt>
    <dgm:pt modelId="{A6355380-D082-452C-B152-069DF266BFD7}" type="parTrans" cxnId="{D93C1307-F6E6-4E5E-B19C-DCD2B4198B0D}">
      <dgm:prSet/>
      <dgm:spPr/>
      <dgm:t>
        <a:bodyPr/>
        <a:lstStyle/>
        <a:p>
          <a:endParaRPr lang="en-US" sz="2400"/>
        </a:p>
      </dgm:t>
    </dgm:pt>
    <dgm:pt modelId="{7CDC949E-F96B-4325-B5E8-0769C96BC171}" type="sibTrans" cxnId="{D93C1307-F6E6-4E5E-B19C-DCD2B4198B0D}">
      <dgm:prSet/>
      <dgm:spPr/>
      <dgm:t>
        <a:bodyPr/>
        <a:lstStyle/>
        <a:p>
          <a:endParaRPr lang="en-US" sz="2400"/>
        </a:p>
      </dgm:t>
    </dgm:pt>
    <dgm:pt modelId="{99FFF6D7-3E17-40A4-97E5-B9C5AD1FA55E}">
      <dgm:prSet phldr="0" custT="1"/>
      <dgm:spPr/>
      <dgm:t>
        <a:bodyPr/>
        <a:lstStyle/>
        <a:p>
          <a:r>
            <a:rPr lang="en-US" sz="1400" dirty="0">
              <a:latin typeface="Tahoma"/>
              <a:ea typeface="Tahoma"/>
              <a:cs typeface="Tahoma"/>
            </a:rPr>
            <a:t>Government reports</a:t>
          </a:r>
        </a:p>
      </dgm:t>
    </dgm:pt>
    <dgm:pt modelId="{1523D3EA-A0AE-4015-9F18-60970CBF44A1}" type="parTrans" cxnId="{86D06482-6DC3-4877-84C2-69BFB8860A62}">
      <dgm:prSet/>
      <dgm:spPr/>
      <dgm:t>
        <a:bodyPr/>
        <a:lstStyle/>
        <a:p>
          <a:endParaRPr lang="en-US" sz="2400"/>
        </a:p>
      </dgm:t>
    </dgm:pt>
    <dgm:pt modelId="{78F4998F-CB38-4B0A-BF4C-F8F3C996B06F}" type="sibTrans" cxnId="{86D06482-6DC3-4877-84C2-69BFB8860A62}">
      <dgm:prSet/>
      <dgm:spPr/>
      <dgm:t>
        <a:bodyPr/>
        <a:lstStyle/>
        <a:p>
          <a:endParaRPr lang="en-US" sz="2400"/>
        </a:p>
      </dgm:t>
    </dgm:pt>
    <dgm:pt modelId="{311A3565-167A-44B2-96DA-D6D6D220DA65}">
      <dgm:prSet phldr="0" custT="1"/>
      <dgm:spPr/>
      <dgm:t>
        <a:bodyPr/>
        <a:lstStyle/>
        <a:p>
          <a:r>
            <a:rPr lang="en-US" sz="1400" dirty="0">
              <a:latin typeface="Tahoma"/>
              <a:ea typeface="Tahoma"/>
              <a:cs typeface="Tahoma"/>
            </a:rPr>
            <a:t>Academic journals</a:t>
          </a:r>
        </a:p>
      </dgm:t>
    </dgm:pt>
    <dgm:pt modelId="{D7959464-21C7-4EA4-94B4-F6CDE75149B6}" type="parTrans" cxnId="{E1347FF5-3DF3-421C-8E50-34871462F912}">
      <dgm:prSet/>
      <dgm:spPr/>
      <dgm:t>
        <a:bodyPr/>
        <a:lstStyle/>
        <a:p>
          <a:endParaRPr lang="en-US" sz="2400"/>
        </a:p>
      </dgm:t>
    </dgm:pt>
    <dgm:pt modelId="{98F50271-F66B-4428-8696-5B8CC0DA8EB0}" type="sibTrans" cxnId="{E1347FF5-3DF3-421C-8E50-34871462F912}">
      <dgm:prSet/>
      <dgm:spPr/>
      <dgm:t>
        <a:bodyPr/>
        <a:lstStyle/>
        <a:p>
          <a:endParaRPr lang="en-US" sz="2400"/>
        </a:p>
      </dgm:t>
    </dgm:pt>
    <dgm:pt modelId="{73F5411B-7D11-46CE-94A3-F4EF842995F0}">
      <dgm:prSet phldr="0"/>
      <dgm:spPr/>
      <dgm:t>
        <a:bodyPr/>
        <a:lstStyle/>
        <a:p>
          <a:endParaRPr lang="en-US" sz="2400"/>
        </a:p>
      </dgm:t>
    </dgm:pt>
    <dgm:pt modelId="{13575956-D067-4F01-8929-3D4B963EBBE1}" type="parTrans" cxnId="{43A10633-5ABB-4C8E-BF38-FA3110EC8033}">
      <dgm:prSet/>
      <dgm:spPr/>
      <dgm:t>
        <a:bodyPr/>
        <a:lstStyle/>
        <a:p>
          <a:endParaRPr lang="en-US" sz="2400"/>
        </a:p>
      </dgm:t>
    </dgm:pt>
    <dgm:pt modelId="{4C35FFFC-FD5E-426D-A132-DF04A462AD5E}" type="sibTrans" cxnId="{43A10633-5ABB-4C8E-BF38-FA3110EC8033}">
      <dgm:prSet/>
      <dgm:spPr/>
      <dgm:t>
        <a:bodyPr/>
        <a:lstStyle/>
        <a:p>
          <a:endParaRPr lang="en-US" sz="2400"/>
        </a:p>
      </dgm:t>
    </dgm:pt>
    <dgm:pt modelId="{CFC9F958-F80F-49F2-88EC-F63F18AFA380}">
      <dgm:prSet phldr="0"/>
      <dgm:spPr/>
      <dgm:t>
        <a:bodyPr/>
        <a:lstStyle/>
        <a:p>
          <a:endParaRPr lang="en-US" sz="2400"/>
        </a:p>
      </dgm:t>
    </dgm:pt>
    <dgm:pt modelId="{ED2F5660-9EC9-42A0-B4C4-84DFC4AC9381}" type="parTrans" cxnId="{CF7DF9BD-B191-44DC-83D1-EE7E5729DCFF}">
      <dgm:prSet/>
      <dgm:spPr/>
      <dgm:t>
        <a:bodyPr/>
        <a:lstStyle/>
        <a:p>
          <a:endParaRPr lang="en-US" sz="2400"/>
        </a:p>
      </dgm:t>
    </dgm:pt>
    <dgm:pt modelId="{18ACA126-3D68-4DB4-9F65-7275539EB9D1}" type="sibTrans" cxnId="{CF7DF9BD-B191-44DC-83D1-EE7E5729DCFF}">
      <dgm:prSet/>
      <dgm:spPr/>
      <dgm:t>
        <a:bodyPr/>
        <a:lstStyle/>
        <a:p>
          <a:endParaRPr lang="en-US" sz="2400"/>
        </a:p>
      </dgm:t>
    </dgm:pt>
    <dgm:pt modelId="{07FEA5B0-4250-438C-B914-22F74F02CB28}" type="pres">
      <dgm:prSet presAssocID="{26661F81-6383-4D87-94DE-96DDB21EC11C}" presName="arrowDiagram" presStyleCnt="0">
        <dgm:presLayoutVars>
          <dgm:chMax val="5"/>
          <dgm:dir/>
          <dgm:resizeHandles val="exact"/>
        </dgm:presLayoutVars>
      </dgm:prSet>
      <dgm:spPr/>
    </dgm:pt>
    <dgm:pt modelId="{C40D36AA-9D3F-4CDC-A92B-4B7253557BC8}" type="pres">
      <dgm:prSet presAssocID="{26661F81-6383-4D87-94DE-96DDB21EC11C}" presName="arrow" presStyleLbl="bgShp" presStyleIdx="0" presStyleCnt="1" custLinFactNeighborX="-8163" custLinFactNeighborY="2640"/>
      <dgm:spPr/>
    </dgm:pt>
    <dgm:pt modelId="{9AA865D9-1073-4E54-977D-2A3CC8254B09}" type="pres">
      <dgm:prSet presAssocID="{26661F81-6383-4D87-94DE-96DDB21EC11C}" presName="arrowDiagram5" presStyleCnt="0"/>
      <dgm:spPr/>
    </dgm:pt>
    <dgm:pt modelId="{FE853875-FD8A-4FD9-A9B3-F13E5977F463}" type="pres">
      <dgm:prSet presAssocID="{0451A835-EC1F-49D2-9772-ED093A5F1DB7}" presName="bullet5a" presStyleLbl="node1" presStyleIdx="0" presStyleCnt="5"/>
      <dgm:spPr/>
    </dgm:pt>
    <dgm:pt modelId="{8598E048-8C55-4AD8-9D66-6468F4C6B259}" type="pres">
      <dgm:prSet presAssocID="{0451A835-EC1F-49D2-9772-ED093A5F1DB7}" presName="textBox5a" presStyleLbl="revTx" presStyleIdx="0" presStyleCnt="5">
        <dgm:presLayoutVars>
          <dgm:bulletEnabled val="1"/>
        </dgm:presLayoutVars>
      </dgm:prSet>
      <dgm:spPr/>
    </dgm:pt>
    <dgm:pt modelId="{46058EFC-68FC-422E-A690-9E31907220D9}" type="pres">
      <dgm:prSet presAssocID="{127732A9-6CC3-491C-A086-EBF9B79ADF33}" presName="bullet5b" presStyleLbl="node1" presStyleIdx="1" presStyleCnt="5"/>
      <dgm:spPr/>
    </dgm:pt>
    <dgm:pt modelId="{21C1BFCB-6952-4414-A185-9E71D0E5F62C}" type="pres">
      <dgm:prSet presAssocID="{127732A9-6CC3-491C-A086-EBF9B79ADF33}" presName="textBox5b" presStyleLbl="revTx" presStyleIdx="1" presStyleCnt="5">
        <dgm:presLayoutVars>
          <dgm:bulletEnabled val="1"/>
        </dgm:presLayoutVars>
      </dgm:prSet>
      <dgm:spPr/>
    </dgm:pt>
    <dgm:pt modelId="{402F76BE-B6AF-4970-B25D-33CD24B8011E}" type="pres">
      <dgm:prSet presAssocID="{A7632F69-BA1D-46F3-986B-8BCD272F117A}" presName="bullet5c" presStyleLbl="node1" presStyleIdx="2" presStyleCnt="5"/>
      <dgm:spPr/>
    </dgm:pt>
    <dgm:pt modelId="{20795421-11A6-4F4D-B060-FEA62246C8D5}" type="pres">
      <dgm:prSet presAssocID="{A7632F69-BA1D-46F3-986B-8BCD272F117A}" presName="textBox5c" presStyleLbl="revTx" presStyleIdx="2" presStyleCnt="5">
        <dgm:presLayoutVars>
          <dgm:bulletEnabled val="1"/>
        </dgm:presLayoutVars>
      </dgm:prSet>
      <dgm:spPr/>
    </dgm:pt>
    <dgm:pt modelId="{DA1020F4-DD2D-483B-B000-308E4C7595AF}" type="pres">
      <dgm:prSet presAssocID="{3FB2931D-554F-40E5-9A79-CCCD6AA097A8}" presName="bullet5d" presStyleLbl="node1" presStyleIdx="3" presStyleCnt="5"/>
      <dgm:spPr/>
    </dgm:pt>
    <dgm:pt modelId="{AE34E6FA-191A-4CA9-A30E-BA6AA306A0D9}" type="pres">
      <dgm:prSet presAssocID="{3FB2931D-554F-40E5-9A79-CCCD6AA097A8}" presName="textBox5d" presStyleLbl="revTx" presStyleIdx="3" presStyleCnt="5">
        <dgm:presLayoutVars>
          <dgm:bulletEnabled val="1"/>
        </dgm:presLayoutVars>
      </dgm:prSet>
      <dgm:spPr/>
    </dgm:pt>
    <dgm:pt modelId="{B0D84EDE-B680-41C1-BE25-0D639AFEE915}" type="pres">
      <dgm:prSet presAssocID="{B0D3ED29-FEAD-4420-AB32-9705F3F85773}" presName="bullet5e" presStyleLbl="node1" presStyleIdx="4" presStyleCnt="5"/>
      <dgm:spPr/>
    </dgm:pt>
    <dgm:pt modelId="{EB3F80E5-D63F-4FA2-8380-76F43F8D2B3A}" type="pres">
      <dgm:prSet presAssocID="{B0D3ED29-FEAD-4420-AB32-9705F3F85773}" presName="textBox5e" presStyleLbl="revTx" presStyleIdx="4" presStyleCnt="5">
        <dgm:presLayoutVars>
          <dgm:bulletEnabled val="1"/>
        </dgm:presLayoutVars>
      </dgm:prSet>
      <dgm:spPr/>
    </dgm:pt>
  </dgm:ptLst>
  <dgm:cxnLst>
    <dgm:cxn modelId="{76260907-7B6E-4DA3-864F-D7CFCA7F8FC3}" type="presOf" srcId="{9DCEA6CF-CA07-4CF0-9E74-D7A1701528AB}" destId="{21C1BFCB-6952-4414-A185-9E71D0E5F62C}" srcOrd="0" destOrd="4" presId="urn:microsoft.com/office/officeart/2005/8/layout/arrow2"/>
    <dgm:cxn modelId="{D93C1307-F6E6-4E5E-B19C-DCD2B4198B0D}" srcId="{B0D3ED29-FEAD-4420-AB32-9705F3F85773}" destId="{9F843335-18D9-4ED9-B3C8-778E0825A4DA}" srcOrd="0" destOrd="0" parTransId="{A6355380-D082-452C-B152-069DF266BFD7}" sibTransId="{7CDC949E-F96B-4325-B5E8-0769C96BC171}"/>
    <dgm:cxn modelId="{97F0B60F-EBAC-433D-9C55-62EB57BCD19A}" srcId="{26661F81-6383-4D87-94DE-96DDB21EC11C}" destId="{0451A835-EC1F-49D2-9772-ED093A5F1DB7}" srcOrd="0" destOrd="0" parTransId="{82F05430-5658-472D-A942-1348C522E333}" sibTransId="{59ADC5AD-00DD-4A87-9855-CD0550B980C8}"/>
    <dgm:cxn modelId="{9D44EA11-F30B-4B82-A1C0-F423D5C55D3A}" srcId="{26661F81-6383-4D87-94DE-96DDB21EC11C}" destId="{3FB2931D-554F-40E5-9A79-CCCD6AA097A8}" srcOrd="3" destOrd="0" parTransId="{DE934E1A-7BE1-43A0-AD84-31D68A0CD568}" sibTransId="{22EFB91D-5C33-4F9B-A770-A4D08D2B995C}"/>
    <dgm:cxn modelId="{85BBF21C-1BB0-43FA-9A29-E2FA948CC493}" type="presOf" srcId="{3FB2931D-554F-40E5-9A79-CCCD6AA097A8}" destId="{AE34E6FA-191A-4CA9-A30E-BA6AA306A0D9}" srcOrd="0" destOrd="0" presId="urn:microsoft.com/office/officeart/2005/8/layout/arrow2"/>
    <dgm:cxn modelId="{4BA21D29-1E99-4FA6-8371-2A64C6524DCA}" type="presOf" srcId="{B0D3ED29-FEAD-4420-AB32-9705F3F85773}" destId="{EB3F80E5-D63F-4FA2-8380-76F43F8D2B3A}" srcOrd="0" destOrd="0" presId="urn:microsoft.com/office/officeart/2005/8/layout/arrow2"/>
    <dgm:cxn modelId="{B84F502B-7FB9-4482-ADF6-B5CF2495F467}" type="presOf" srcId="{A7632F69-BA1D-46F3-986B-8BCD272F117A}" destId="{20795421-11A6-4F4D-B060-FEA62246C8D5}" srcOrd="0" destOrd="0" presId="urn:microsoft.com/office/officeart/2005/8/layout/arrow2"/>
    <dgm:cxn modelId="{4BB49C30-338C-4E8B-95A9-EE60B16547A6}" srcId="{26661F81-6383-4D87-94DE-96DDB21EC11C}" destId="{A7632F69-BA1D-46F3-986B-8BCD272F117A}" srcOrd="2" destOrd="0" parTransId="{CC872AB3-41DA-46B1-8410-F3304ED2223B}" sibTransId="{02A49005-8B91-417C-B3B6-3A4B0C5164F4}"/>
    <dgm:cxn modelId="{43A10633-5ABB-4C8E-BF38-FA3110EC8033}" srcId="{48FD4236-60DE-49A7-A27C-69C9C1FFC3F0}" destId="{73F5411B-7D11-46CE-94A3-F4EF842995F0}" srcOrd="0" destOrd="0" parTransId="{13575956-D067-4F01-8929-3D4B963EBBE1}" sibTransId="{4C35FFFC-FD5E-426D-A132-DF04A462AD5E}"/>
    <dgm:cxn modelId="{F1032247-AE4D-4F73-9BC0-106076B61EA9}" type="presOf" srcId="{6D6CAC68-01E8-4D1A-8B17-D7D61DCE66E6}" destId="{8598E048-8C55-4AD8-9D66-6468F4C6B259}" srcOrd="0" destOrd="1" presId="urn:microsoft.com/office/officeart/2005/8/layout/arrow2"/>
    <dgm:cxn modelId="{759E4356-0957-4EC5-AC12-0B4573C5D482}" srcId="{A7632F69-BA1D-46F3-986B-8BCD272F117A}" destId="{8D192228-2BC8-492D-9009-CBCB176874FA}" srcOrd="1" destOrd="0" parTransId="{68504299-0151-438F-9026-F1E2B746477F}" sibTransId="{643730CD-A49E-4BE2-80C2-F39B8ECAFCF6}"/>
    <dgm:cxn modelId="{563FD45F-E7A1-4148-AE0F-1B4E9BB6FF1B}" srcId="{26661F81-6383-4D87-94DE-96DDB21EC11C}" destId="{48FD4236-60DE-49A7-A27C-69C9C1FFC3F0}" srcOrd="5" destOrd="0" parTransId="{04FE1F54-9E03-4ED9-91C8-B867A594533D}" sibTransId="{9C9F8C67-DEA6-4E2F-91EC-FBCF71A0415B}"/>
    <dgm:cxn modelId="{4D649261-9A14-4155-BEDE-A1781B24D744}" type="presOf" srcId="{93A56EF0-8CA0-4859-9873-4BA65B6EDC3C}" destId="{21C1BFCB-6952-4414-A185-9E71D0E5F62C}" srcOrd="0" destOrd="3" presId="urn:microsoft.com/office/officeart/2005/8/layout/arrow2"/>
    <dgm:cxn modelId="{0377F862-857C-43E9-9CA1-39B767052288}" type="presOf" srcId="{9224ED3F-3E08-490F-83E0-590D70373255}" destId="{AE34E6FA-191A-4CA9-A30E-BA6AA306A0D9}" srcOrd="0" destOrd="1" presId="urn:microsoft.com/office/officeart/2005/8/layout/arrow2"/>
    <dgm:cxn modelId="{448D546B-05FD-4BA6-9636-6B580928FD9B}" srcId="{127732A9-6CC3-491C-A086-EBF9B79ADF33}" destId="{B8910D5A-60E2-4A81-B603-060CA4348D1B}" srcOrd="1" destOrd="0" parTransId="{826A9936-C1E1-4C92-B57A-DBB184A7E033}" sibTransId="{96E65AD6-9517-4B96-B7EE-A75FD6F902B2}"/>
    <dgm:cxn modelId="{1AAD6A6F-4E35-42C6-8E19-C7FA6B27F9A8}" srcId="{127732A9-6CC3-491C-A086-EBF9B79ADF33}" destId="{93A56EF0-8CA0-4859-9873-4BA65B6EDC3C}" srcOrd="2" destOrd="0" parTransId="{9C6485C8-00F1-48D3-A989-8E8481758800}" sibTransId="{2C6E730E-D36B-422E-B0B3-398947DBFF62}"/>
    <dgm:cxn modelId="{28422770-E827-443C-8FE2-D290A54CC6AB}" type="presOf" srcId="{127732A9-6CC3-491C-A086-EBF9B79ADF33}" destId="{21C1BFCB-6952-4414-A185-9E71D0E5F62C}" srcOrd="0" destOrd="0" presId="urn:microsoft.com/office/officeart/2005/8/layout/arrow2"/>
    <dgm:cxn modelId="{884C7E73-4072-4AA9-8D23-3F9F9A6C46B0}" type="presOf" srcId="{B8910D5A-60E2-4A81-B603-060CA4348D1B}" destId="{21C1BFCB-6952-4414-A185-9E71D0E5F62C}" srcOrd="0" destOrd="2" presId="urn:microsoft.com/office/officeart/2005/8/layout/arrow2"/>
    <dgm:cxn modelId="{B018A677-A024-49B7-8BBC-9CB3AB0A673B}" type="presOf" srcId="{311A3565-167A-44B2-96DA-D6D6D220DA65}" destId="{EB3F80E5-D63F-4FA2-8380-76F43F8D2B3A}" srcOrd="0" destOrd="3" presId="urn:microsoft.com/office/officeart/2005/8/layout/arrow2"/>
    <dgm:cxn modelId="{7E832E7D-CD07-4409-8271-7605B7EF8BAF}" type="presOf" srcId="{0451A835-EC1F-49D2-9772-ED093A5F1DB7}" destId="{8598E048-8C55-4AD8-9D66-6468F4C6B259}" srcOrd="0" destOrd="0" presId="urn:microsoft.com/office/officeart/2005/8/layout/arrow2"/>
    <dgm:cxn modelId="{D0822181-08BB-4BC6-B32A-94CDB9C4C1D1}" type="presOf" srcId="{B764BFC8-EC4C-42C9-A7BF-4D427F23CDF3}" destId="{AE34E6FA-191A-4CA9-A30E-BA6AA306A0D9}" srcOrd="0" destOrd="2" presId="urn:microsoft.com/office/officeart/2005/8/layout/arrow2"/>
    <dgm:cxn modelId="{86D06482-6DC3-4877-84C2-69BFB8860A62}" srcId="{B0D3ED29-FEAD-4420-AB32-9705F3F85773}" destId="{99FFF6D7-3E17-40A4-97E5-B9C5AD1FA55E}" srcOrd="1" destOrd="0" parTransId="{1523D3EA-A0AE-4015-9F18-60970CBF44A1}" sibTransId="{78F4998F-CB38-4B0A-BF4C-F8F3C996B06F}"/>
    <dgm:cxn modelId="{2F1DA989-D356-4D72-89E4-FCEC905F4A47}" srcId="{26661F81-6383-4D87-94DE-96DDB21EC11C}" destId="{B0D3ED29-FEAD-4420-AB32-9705F3F85773}" srcOrd="4" destOrd="0" parTransId="{4ADC4FDF-F609-456D-A886-16C85B369E5D}" sibTransId="{65AD0890-38C7-4EE1-BB96-A1D92AB0A54A}"/>
    <dgm:cxn modelId="{8156C989-8CB0-4967-B5FE-8052BF30E5C8}" srcId="{3FB2931D-554F-40E5-9A79-CCCD6AA097A8}" destId="{9224ED3F-3E08-490F-83E0-590D70373255}" srcOrd="0" destOrd="0" parTransId="{C9DFFD57-1D62-4FF5-A70D-025FE4669B88}" sibTransId="{4928F98F-5F48-480A-B737-9D5DEE73DA72}"/>
    <dgm:cxn modelId="{B1CA7291-941E-4041-B3CB-93201D5B7F3F}" type="presOf" srcId="{62DAFCFE-AF5A-47D5-BB92-DA6BF6DD904E}" destId="{20795421-11A6-4F4D-B060-FEA62246C8D5}" srcOrd="0" destOrd="1" presId="urn:microsoft.com/office/officeart/2005/8/layout/arrow2"/>
    <dgm:cxn modelId="{C8A2F99A-9884-4AAC-8861-ACB7C9AC12F6}" srcId="{26661F81-6383-4D87-94DE-96DDB21EC11C}" destId="{127732A9-6CC3-491C-A086-EBF9B79ADF33}" srcOrd="1" destOrd="0" parTransId="{DF224021-FF87-416F-9709-FA5E060500A3}" sibTransId="{A0AE577C-FE6E-44F6-AE4D-45A0C74D5E98}"/>
    <dgm:cxn modelId="{6E9D5DA4-56F1-412F-815E-C16AF0A63AAC}" type="presOf" srcId="{26661F81-6383-4D87-94DE-96DDB21EC11C}" destId="{07FEA5B0-4250-438C-B914-22F74F02CB28}" srcOrd="0" destOrd="0" presId="urn:microsoft.com/office/officeart/2005/8/layout/arrow2"/>
    <dgm:cxn modelId="{FD2FCCB3-144F-4ECB-9EFA-E9395080F9B4}" type="presOf" srcId="{90D291CB-7C97-47D1-A4F4-92AE0807BA39}" destId="{8598E048-8C55-4AD8-9D66-6468F4C6B259}" srcOrd="0" destOrd="2" presId="urn:microsoft.com/office/officeart/2005/8/layout/arrow2"/>
    <dgm:cxn modelId="{CF7DF9BD-B191-44DC-83D1-EE7E5729DCFF}" srcId="{48FD4236-60DE-49A7-A27C-69C9C1FFC3F0}" destId="{CFC9F958-F80F-49F2-88EC-F63F18AFA380}" srcOrd="1" destOrd="0" parTransId="{ED2F5660-9EC9-42A0-B4C4-84DFC4AC9381}" sibTransId="{18ACA126-3D68-4DB4-9F65-7275539EB9D1}"/>
    <dgm:cxn modelId="{6C984AC0-75EA-43BC-9B1F-F4AE09EDBFD7}" srcId="{3FB2931D-554F-40E5-9A79-CCCD6AA097A8}" destId="{B764BFC8-EC4C-42C9-A7BF-4D427F23CDF3}" srcOrd="1" destOrd="0" parTransId="{324F6D6B-8096-4970-AD85-D19E195554DE}" sibTransId="{D0E6B3EC-0000-4F2F-90D2-E4A83DD17C29}"/>
    <dgm:cxn modelId="{8AB50FC6-9F3C-4B1C-AB44-D9D51BE1DEE3}" srcId="{0451A835-EC1F-49D2-9772-ED093A5F1DB7}" destId="{6D6CAC68-01E8-4D1A-8B17-D7D61DCE66E6}" srcOrd="0" destOrd="0" parTransId="{55D9205A-4FF2-4696-822B-F8EE860A30B1}" sibTransId="{F707ACB1-22B8-428E-98A1-7229A26BC503}"/>
    <dgm:cxn modelId="{22A399CB-3677-4BA5-B33A-DEBCF3E0E65E}" type="presOf" srcId="{9F843335-18D9-4ED9-B3C8-778E0825A4DA}" destId="{EB3F80E5-D63F-4FA2-8380-76F43F8D2B3A}" srcOrd="0" destOrd="1" presId="urn:microsoft.com/office/officeart/2005/8/layout/arrow2"/>
    <dgm:cxn modelId="{E50D2DDA-EE31-4306-872A-A4EC1A6420AD}" type="presOf" srcId="{CF7F2E69-93C2-4923-8D68-76610D1AAAD4}" destId="{21C1BFCB-6952-4414-A185-9E71D0E5F62C}" srcOrd="0" destOrd="5" presId="urn:microsoft.com/office/officeart/2005/8/layout/arrow2"/>
    <dgm:cxn modelId="{20A6A2DE-59F4-4A57-9F8A-FF89E5283690}" srcId="{127732A9-6CC3-491C-A086-EBF9B79ADF33}" destId="{9DCEA6CF-CA07-4CF0-9E74-D7A1701528AB}" srcOrd="3" destOrd="0" parTransId="{BE75E096-F4ED-44CE-8685-39CA01D2611E}" sibTransId="{4A31D7E2-AF5D-4E11-A708-B4991C4488DE}"/>
    <dgm:cxn modelId="{3FFFA4E2-A94E-4669-92CD-DC1B88B6744F}" srcId="{127732A9-6CC3-491C-A086-EBF9B79ADF33}" destId="{608200FA-7F8F-4EC7-977B-771C3BD68626}" srcOrd="0" destOrd="0" parTransId="{C2C00B37-8954-4D15-951C-7F8563297A5E}" sibTransId="{0F60FDA7-6985-4B37-9154-85E79DF7DAAB}"/>
    <dgm:cxn modelId="{8FBF5CF1-17D8-4973-A922-EDECE94938D4}" srcId="{127732A9-6CC3-491C-A086-EBF9B79ADF33}" destId="{CF7F2E69-93C2-4923-8D68-76610D1AAAD4}" srcOrd="4" destOrd="0" parTransId="{BBBF243B-D944-478F-83A6-4460741D15F2}" sibTransId="{48BB4169-EA0C-494B-B3BD-D44B7E185471}"/>
    <dgm:cxn modelId="{E24012F2-3E6D-4257-94AF-480DA0B75A55}" type="presOf" srcId="{608200FA-7F8F-4EC7-977B-771C3BD68626}" destId="{21C1BFCB-6952-4414-A185-9E71D0E5F62C}" srcOrd="0" destOrd="1" presId="urn:microsoft.com/office/officeart/2005/8/layout/arrow2"/>
    <dgm:cxn modelId="{5B3855F2-E324-4DFD-ADE1-ACD833FC42C3}" type="presOf" srcId="{99FFF6D7-3E17-40A4-97E5-B9C5AD1FA55E}" destId="{EB3F80E5-D63F-4FA2-8380-76F43F8D2B3A}" srcOrd="0" destOrd="2" presId="urn:microsoft.com/office/officeart/2005/8/layout/arrow2"/>
    <dgm:cxn modelId="{E1347FF5-3DF3-421C-8E50-34871462F912}" srcId="{B0D3ED29-FEAD-4420-AB32-9705F3F85773}" destId="{311A3565-167A-44B2-96DA-D6D6D220DA65}" srcOrd="2" destOrd="0" parTransId="{D7959464-21C7-4EA4-94B4-F6CDE75149B6}" sibTransId="{98F50271-F66B-4428-8696-5B8CC0DA8EB0}"/>
    <dgm:cxn modelId="{5D367DFA-48A2-4999-B3D0-261990BA2FDB}" srcId="{A7632F69-BA1D-46F3-986B-8BCD272F117A}" destId="{62DAFCFE-AF5A-47D5-BB92-DA6BF6DD904E}" srcOrd="0" destOrd="0" parTransId="{61857D11-1D77-4A23-8C8C-38843AF3F2BC}" sibTransId="{13DB3177-91CC-4460-BC60-CBD2C2922C7A}"/>
    <dgm:cxn modelId="{61FACDFA-9FE0-4067-B2F5-7C0DD40C42DB}" type="presOf" srcId="{8D192228-2BC8-492D-9009-CBCB176874FA}" destId="{20795421-11A6-4F4D-B060-FEA62246C8D5}" srcOrd="0" destOrd="2" presId="urn:microsoft.com/office/officeart/2005/8/layout/arrow2"/>
    <dgm:cxn modelId="{0C42E7FB-1AC9-44FF-ADA7-0449D8938603}" srcId="{0451A835-EC1F-49D2-9772-ED093A5F1DB7}" destId="{90D291CB-7C97-47D1-A4F4-92AE0807BA39}" srcOrd="1" destOrd="0" parTransId="{22CB0F9F-51E2-465F-9FF2-AB0513F9E152}" sibTransId="{CB5BDDDC-7090-4E75-B05A-86F9B7FEA7BA}"/>
    <dgm:cxn modelId="{BFF0E1C7-AD0B-4C6D-9403-B63328E3C953}" type="presParOf" srcId="{07FEA5B0-4250-438C-B914-22F74F02CB28}" destId="{C40D36AA-9D3F-4CDC-A92B-4B7253557BC8}" srcOrd="0" destOrd="0" presId="urn:microsoft.com/office/officeart/2005/8/layout/arrow2"/>
    <dgm:cxn modelId="{6AD99E20-F8BF-4992-9FD7-F7D1369E9D42}" type="presParOf" srcId="{07FEA5B0-4250-438C-B914-22F74F02CB28}" destId="{9AA865D9-1073-4E54-977D-2A3CC8254B09}" srcOrd="1" destOrd="0" presId="urn:microsoft.com/office/officeart/2005/8/layout/arrow2"/>
    <dgm:cxn modelId="{BA531112-5C72-4E5B-82D8-FC04310DF940}" type="presParOf" srcId="{9AA865D9-1073-4E54-977D-2A3CC8254B09}" destId="{FE853875-FD8A-4FD9-A9B3-F13E5977F463}" srcOrd="0" destOrd="0" presId="urn:microsoft.com/office/officeart/2005/8/layout/arrow2"/>
    <dgm:cxn modelId="{FD0BB972-AA8C-4DE7-A1D9-3CDFFA2B6B02}" type="presParOf" srcId="{9AA865D9-1073-4E54-977D-2A3CC8254B09}" destId="{8598E048-8C55-4AD8-9D66-6468F4C6B259}" srcOrd="1" destOrd="0" presId="urn:microsoft.com/office/officeart/2005/8/layout/arrow2"/>
    <dgm:cxn modelId="{C93D6AE5-A8FE-44D6-B890-B5D6C651C04C}" type="presParOf" srcId="{9AA865D9-1073-4E54-977D-2A3CC8254B09}" destId="{46058EFC-68FC-422E-A690-9E31907220D9}" srcOrd="2" destOrd="0" presId="urn:microsoft.com/office/officeart/2005/8/layout/arrow2"/>
    <dgm:cxn modelId="{78281E8C-FB0F-46A5-9FB8-CFC78E096C69}" type="presParOf" srcId="{9AA865D9-1073-4E54-977D-2A3CC8254B09}" destId="{21C1BFCB-6952-4414-A185-9E71D0E5F62C}" srcOrd="3" destOrd="0" presId="urn:microsoft.com/office/officeart/2005/8/layout/arrow2"/>
    <dgm:cxn modelId="{099D5FB0-A3D8-4AA5-872B-DF5378ED5340}" type="presParOf" srcId="{9AA865D9-1073-4E54-977D-2A3CC8254B09}" destId="{402F76BE-B6AF-4970-B25D-33CD24B8011E}" srcOrd="4" destOrd="0" presId="urn:microsoft.com/office/officeart/2005/8/layout/arrow2"/>
    <dgm:cxn modelId="{6AA7D0AE-ABE6-48CC-97ED-30036BFCB72C}" type="presParOf" srcId="{9AA865D9-1073-4E54-977D-2A3CC8254B09}" destId="{20795421-11A6-4F4D-B060-FEA62246C8D5}" srcOrd="5" destOrd="0" presId="urn:microsoft.com/office/officeart/2005/8/layout/arrow2"/>
    <dgm:cxn modelId="{B951718D-2E02-44D9-8362-96A6BBAB2126}" type="presParOf" srcId="{9AA865D9-1073-4E54-977D-2A3CC8254B09}" destId="{DA1020F4-DD2D-483B-B000-308E4C7595AF}" srcOrd="6" destOrd="0" presId="urn:microsoft.com/office/officeart/2005/8/layout/arrow2"/>
    <dgm:cxn modelId="{49A9FEEA-B12C-4EC5-B180-AF565D1F6031}" type="presParOf" srcId="{9AA865D9-1073-4E54-977D-2A3CC8254B09}" destId="{AE34E6FA-191A-4CA9-A30E-BA6AA306A0D9}" srcOrd="7" destOrd="0" presId="urn:microsoft.com/office/officeart/2005/8/layout/arrow2"/>
    <dgm:cxn modelId="{2EAEA50B-4A2E-4D4A-A62D-09B26298F05D}" type="presParOf" srcId="{9AA865D9-1073-4E54-977D-2A3CC8254B09}" destId="{B0D84EDE-B680-41C1-BE25-0D639AFEE915}" srcOrd="8" destOrd="0" presId="urn:microsoft.com/office/officeart/2005/8/layout/arrow2"/>
    <dgm:cxn modelId="{68DA76A0-A985-43BD-A466-69BCB003F8E6}" type="presParOf" srcId="{9AA865D9-1073-4E54-977D-2A3CC8254B09}" destId="{EB3F80E5-D63F-4FA2-8380-76F43F8D2B3A}" srcOrd="9"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D36AA-9D3F-4CDC-A92B-4B7253557BC8}">
      <dsp:nvSpPr>
        <dsp:cNvPr id="0" name=""/>
        <dsp:cNvSpPr/>
      </dsp:nvSpPr>
      <dsp:spPr>
        <a:xfrm>
          <a:off x="830421" y="0"/>
          <a:ext cx="7987216" cy="4992009"/>
        </a:xfrm>
        <a:prstGeom prst="swooshArrow">
          <a:avLst>
            <a:gd name="adj1" fmla="val 25000"/>
            <a:gd name="adj2" fmla="val 2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853875-FD8A-4FD9-A9B3-F13E5977F463}">
      <dsp:nvSpPr>
        <dsp:cNvPr id="0" name=""/>
        <dsp:cNvSpPr/>
      </dsp:nvSpPr>
      <dsp:spPr>
        <a:xfrm>
          <a:off x="2269158" y="3712058"/>
          <a:ext cx="183705" cy="183705"/>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98E048-8C55-4AD8-9D66-6468F4C6B259}">
      <dsp:nvSpPr>
        <dsp:cNvPr id="0" name=""/>
        <dsp:cNvSpPr/>
      </dsp:nvSpPr>
      <dsp:spPr>
        <a:xfrm>
          <a:off x="2361011" y="3803911"/>
          <a:ext cx="1046325" cy="118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342" tIns="0" rIns="0" bIns="0" numCol="1" spcCol="1270" anchor="t" anchorCtr="0">
          <a:noAutofit/>
        </a:bodyPr>
        <a:lstStyle/>
        <a:p>
          <a:pPr marL="0" lvl="0" indent="0" algn="l" defTabSz="800100" rtl="0">
            <a:lnSpc>
              <a:spcPct val="90000"/>
            </a:lnSpc>
            <a:spcBef>
              <a:spcPct val="0"/>
            </a:spcBef>
            <a:spcAft>
              <a:spcPct val="35000"/>
            </a:spcAft>
            <a:buNone/>
          </a:pPr>
          <a:r>
            <a:rPr lang="en-US" sz="1800" kern="1200" dirty="0">
              <a:latin typeface="Tahoma"/>
              <a:ea typeface="Tahoma"/>
              <a:cs typeface="Tahoma"/>
            </a:rPr>
            <a:t>Event Occurs</a:t>
          </a:r>
        </a:p>
        <a:p>
          <a:pPr marL="114300" lvl="1" indent="-114300" algn="l" defTabSz="622300" rtl="0">
            <a:lnSpc>
              <a:spcPct val="90000"/>
            </a:lnSpc>
            <a:spcBef>
              <a:spcPct val="0"/>
            </a:spcBef>
            <a:spcAft>
              <a:spcPct val="15000"/>
            </a:spcAft>
            <a:buChar char="•"/>
          </a:pPr>
          <a:r>
            <a:rPr lang="en-US" sz="1400" kern="1200" dirty="0">
              <a:latin typeface="Tahoma"/>
              <a:ea typeface="Tahoma"/>
              <a:cs typeface="Tahoma"/>
            </a:rPr>
            <a:t>Eyewitness accounts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Social media updates</a:t>
          </a:r>
        </a:p>
      </dsp:txBody>
      <dsp:txXfrm>
        <a:off x="2361011" y="3803911"/>
        <a:ext cx="1046325" cy="1188098"/>
      </dsp:txXfrm>
    </dsp:sp>
    <dsp:sp modelId="{46058EFC-68FC-422E-A690-9E31907220D9}">
      <dsp:nvSpPr>
        <dsp:cNvPr id="0" name=""/>
        <dsp:cNvSpPr/>
      </dsp:nvSpPr>
      <dsp:spPr>
        <a:xfrm>
          <a:off x="3263566" y="2756587"/>
          <a:ext cx="287539" cy="287539"/>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C1BFCB-6952-4414-A185-9E71D0E5F62C}">
      <dsp:nvSpPr>
        <dsp:cNvPr id="0" name=""/>
        <dsp:cNvSpPr/>
      </dsp:nvSpPr>
      <dsp:spPr>
        <a:xfrm>
          <a:off x="3407336" y="2900357"/>
          <a:ext cx="1325877" cy="2091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361" tIns="0" rIns="0" bIns="0" numCol="1" spcCol="1270" anchor="t" anchorCtr="0">
          <a:noAutofit/>
        </a:bodyPr>
        <a:lstStyle/>
        <a:p>
          <a:pPr marL="0" lvl="0" indent="0" algn="l" defTabSz="800100" rtl="0">
            <a:lnSpc>
              <a:spcPct val="90000"/>
            </a:lnSpc>
            <a:spcBef>
              <a:spcPct val="0"/>
            </a:spcBef>
            <a:spcAft>
              <a:spcPct val="35000"/>
            </a:spcAft>
            <a:buNone/>
          </a:pPr>
          <a:r>
            <a:rPr lang="en-US" sz="1800" kern="1200" dirty="0">
              <a:latin typeface="Tahoma"/>
              <a:ea typeface="Tahoma"/>
              <a:cs typeface="Tahoma"/>
            </a:rPr>
            <a:t>Same Day</a:t>
          </a:r>
        </a:p>
        <a:p>
          <a:pPr marL="114300" lvl="1" indent="-114300" algn="l" defTabSz="622300" rtl="0">
            <a:lnSpc>
              <a:spcPct val="90000"/>
            </a:lnSpc>
            <a:spcBef>
              <a:spcPct val="0"/>
            </a:spcBef>
            <a:spcAft>
              <a:spcPct val="15000"/>
            </a:spcAft>
            <a:buChar char="•"/>
          </a:pPr>
          <a:r>
            <a:rPr lang="en-US" sz="1400" kern="1200" dirty="0">
              <a:latin typeface="Tahoma"/>
              <a:ea typeface="Tahoma"/>
              <a:cs typeface="Tahoma"/>
            </a:rPr>
            <a:t>Television broadcasts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Radio broadcasts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Online newspapers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Online magazines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Online news sites</a:t>
          </a:r>
        </a:p>
      </dsp:txBody>
      <dsp:txXfrm>
        <a:off x="3407336" y="2900357"/>
        <a:ext cx="1325877" cy="2091652"/>
      </dsp:txXfrm>
    </dsp:sp>
    <dsp:sp modelId="{402F76BE-B6AF-4970-B25D-33CD24B8011E}">
      <dsp:nvSpPr>
        <dsp:cNvPr id="0" name=""/>
        <dsp:cNvSpPr/>
      </dsp:nvSpPr>
      <dsp:spPr>
        <a:xfrm>
          <a:off x="4541521" y="1994807"/>
          <a:ext cx="383386" cy="383386"/>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795421-11A6-4F4D-B060-FEA62246C8D5}">
      <dsp:nvSpPr>
        <dsp:cNvPr id="0" name=""/>
        <dsp:cNvSpPr/>
      </dsp:nvSpPr>
      <dsp:spPr>
        <a:xfrm>
          <a:off x="4733214" y="2186500"/>
          <a:ext cx="1541532" cy="2805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148" tIns="0" rIns="0" bIns="0" numCol="1" spcCol="1270" anchor="t" anchorCtr="0">
          <a:noAutofit/>
        </a:bodyPr>
        <a:lstStyle/>
        <a:p>
          <a:pPr marL="0" lvl="0" indent="0" algn="l" defTabSz="800100" rtl="0">
            <a:lnSpc>
              <a:spcPct val="90000"/>
            </a:lnSpc>
            <a:spcBef>
              <a:spcPct val="0"/>
            </a:spcBef>
            <a:spcAft>
              <a:spcPct val="35000"/>
            </a:spcAft>
            <a:buNone/>
          </a:pPr>
          <a:r>
            <a:rPr lang="en-US" sz="1800" kern="1200" dirty="0">
              <a:latin typeface="Tahoma"/>
              <a:ea typeface="Tahoma"/>
              <a:cs typeface="Tahoma"/>
            </a:rPr>
            <a:t>Weeks After</a:t>
          </a:r>
        </a:p>
        <a:p>
          <a:pPr marL="114300" lvl="1" indent="-114300" algn="l" defTabSz="622300" rtl="0">
            <a:lnSpc>
              <a:spcPct val="90000"/>
            </a:lnSpc>
            <a:spcBef>
              <a:spcPct val="0"/>
            </a:spcBef>
            <a:spcAft>
              <a:spcPct val="15000"/>
            </a:spcAft>
            <a:buChar char="•"/>
          </a:pPr>
          <a:r>
            <a:rPr lang="en-US" sz="1400" kern="1200" dirty="0">
              <a:latin typeface="Tahoma"/>
              <a:ea typeface="Tahoma"/>
              <a:cs typeface="Tahoma"/>
            </a:rPr>
            <a:t>Print magazines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Print newspapers</a:t>
          </a:r>
        </a:p>
      </dsp:txBody>
      <dsp:txXfrm>
        <a:off x="4733214" y="2186500"/>
        <a:ext cx="1541532" cy="2805509"/>
      </dsp:txXfrm>
    </dsp:sp>
    <dsp:sp modelId="{DA1020F4-DD2D-483B-B000-308E4C7595AF}">
      <dsp:nvSpPr>
        <dsp:cNvPr id="0" name=""/>
        <dsp:cNvSpPr/>
      </dsp:nvSpPr>
      <dsp:spPr>
        <a:xfrm>
          <a:off x="6027143" y="1399759"/>
          <a:ext cx="495207" cy="495207"/>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34E6FA-191A-4CA9-A30E-BA6AA306A0D9}">
      <dsp:nvSpPr>
        <dsp:cNvPr id="0" name=""/>
        <dsp:cNvSpPr/>
      </dsp:nvSpPr>
      <dsp:spPr>
        <a:xfrm>
          <a:off x="6274747" y="1647363"/>
          <a:ext cx="1597443" cy="3344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400" tIns="0" rIns="0" bIns="0" numCol="1" spcCol="1270" anchor="t" anchorCtr="0">
          <a:noAutofit/>
        </a:bodyPr>
        <a:lstStyle/>
        <a:p>
          <a:pPr marL="0" lvl="0" indent="0" algn="l" defTabSz="800100" rtl="0">
            <a:lnSpc>
              <a:spcPct val="90000"/>
            </a:lnSpc>
            <a:spcBef>
              <a:spcPct val="0"/>
            </a:spcBef>
            <a:spcAft>
              <a:spcPct val="35000"/>
            </a:spcAft>
            <a:buNone/>
          </a:pPr>
          <a:r>
            <a:rPr lang="en-US" sz="1800" kern="1200" dirty="0">
              <a:latin typeface="Tahoma"/>
              <a:ea typeface="Tahoma"/>
              <a:cs typeface="Tahoma"/>
            </a:rPr>
            <a:t>Months After</a:t>
          </a:r>
        </a:p>
        <a:p>
          <a:pPr marL="114300" lvl="1" indent="-114300" algn="l" defTabSz="622300" rtl="0">
            <a:lnSpc>
              <a:spcPct val="90000"/>
            </a:lnSpc>
            <a:spcBef>
              <a:spcPct val="0"/>
            </a:spcBef>
            <a:spcAft>
              <a:spcPct val="15000"/>
            </a:spcAft>
            <a:buChar char="•"/>
          </a:pPr>
          <a:r>
            <a:rPr lang="en-US" sz="1400" kern="1200" dirty="0">
              <a:latin typeface="Tahoma"/>
              <a:ea typeface="Tahoma"/>
              <a:cs typeface="Tahoma"/>
            </a:rPr>
            <a:t>Academic journals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Trade publications</a:t>
          </a:r>
        </a:p>
      </dsp:txBody>
      <dsp:txXfrm>
        <a:off x="6274747" y="1647363"/>
        <a:ext cx="1597443" cy="3344646"/>
      </dsp:txXfrm>
    </dsp:sp>
    <dsp:sp modelId="{B0D84EDE-B680-41C1-BE25-0D639AFEE915}">
      <dsp:nvSpPr>
        <dsp:cNvPr id="0" name=""/>
        <dsp:cNvSpPr/>
      </dsp:nvSpPr>
      <dsp:spPr>
        <a:xfrm>
          <a:off x="7556695" y="1002395"/>
          <a:ext cx="630990" cy="630990"/>
        </a:xfrm>
        <a:prstGeom prst="ellips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3F80E5-D63F-4FA2-8380-76F43F8D2B3A}">
      <dsp:nvSpPr>
        <dsp:cNvPr id="0" name=""/>
        <dsp:cNvSpPr/>
      </dsp:nvSpPr>
      <dsp:spPr>
        <a:xfrm>
          <a:off x="7872190" y="1317890"/>
          <a:ext cx="1597443" cy="3674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4349" tIns="0" rIns="0" bIns="0" numCol="1" spcCol="1270" anchor="t" anchorCtr="0">
          <a:noAutofit/>
        </a:bodyPr>
        <a:lstStyle/>
        <a:p>
          <a:pPr marL="0" lvl="0" indent="0" algn="l" defTabSz="800100" rtl="0">
            <a:lnSpc>
              <a:spcPct val="90000"/>
            </a:lnSpc>
            <a:spcBef>
              <a:spcPct val="0"/>
            </a:spcBef>
            <a:spcAft>
              <a:spcPct val="35000"/>
            </a:spcAft>
            <a:buNone/>
          </a:pPr>
          <a:r>
            <a:rPr lang="en-US" sz="1800" kern="1200" dirty="0">
              <a:latin typeface="Tahoma"/>
              <a:ea typeface="Tahoma"/>
              <a:cs typeface="Tahoma"/>
            </a:rPr>
            <a:t>One Year After</a:t>
          </a:r>
        </a:p>
        <a:p>
          <a:pPr marL="114300" lvl="1" indent="-114300" algn="l" defTabSz="622300" rtl="0">
            <a:lnSpc>
              <a:spcPct val="90000"/>
            </a:lnSpc>
            <a:spcBef>
              <a:spcPct val="0"/>
            </a:spcBef>
            <a:spcAft>
              <a:spcPct val="15000"/>
            </a:spcAft>
            <a:buChar char="•"/>
          </a:pPr>
          <a:r>
            <a:rPr lang="en-US" sz="1400" kern="1200" dirty="0">
              <a:latin typeface="Tahoma"/>
              <a:ea typeface="Tahoma"/>
              <a:cs typeface="Tahoma"/>
            </a:rPr>
            <a:t>Books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Government reports</a:t>
          </a:r>
        </a:p>
        <a:p>
          <a:pPr marL="114300" lvl="1" indent="-114300" algn="l" defTabSz="622300">
            <a:lnSpc>
              <a:spcPct val="90000"/>
            </a:lnSpc>
            <a:spcBef>
              <a:spcPct val="0"/>
            </a:spcBef>
            <a:spcAft>
              <a:spcPct val="15000"/>
            </a:spcAft>
            <a:buChar char="•"/>
          </a:pPr>
          <a:r>
            <a:rPr lang="en-US" sz="1400" kern="1200" dirty="0">
              <a:latin typeface="Tahoma"/>
              <a:ea typeface="Tahoma"/>
              <a:cs typeface="Tahoma"/>
            </a:rPr>
            <a:t>Academic journals</a:t>
          </a:r>
        </a:p>
      </dsp:txBody>
      <dsp:txXfrm>
        <a:off x="7872190" y="1317890"/>
        <a:ext cx="1597443" cy="3674119"/>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45F0A-A136-48F8-85F5-E5C294EF0DEC}" type="datetimeFigureOut">
              <a:rPr lang="en-AE" smtClean="0"/>
              <a:t>19/07/2025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D9B294-709A-41FC-AE2C-11DEA95646C4}" type="slidenum">
              <a:rPr lang="en-AE" smtClean="0"/>
              <a:t>‹#›</a:t>
            </a:fld>
            <a:endParaRPr lang="en-AE"/>
          </a:p>
        </p:txBody>
      </p:sp>
    </p:spTree>
    <p:extLst>
      <p:ext uri="{BB962C8B-B14F-4D97-AF65-F5344CB8AC3E}">
        <p14:creationId xmlns:p14="http://schemas.microsoft.com/office/powerpoint/2010/main" val="11469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5" name="Google Shape;325;p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6" name="Google Shape;33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1"/>
        <p:cNvGrpSpPr/>
        <p:nvPr/>
      </p:nvGrpSpPr>
      <p:grpSpPr>
        <a:xfrm>
          <a:off x="0" y="0"/>
          <a:ext cx="0" cy="0"/>
          <a:chOff x="0" y="0"/>
          <a:chExt cx="0" cy="0"/>
        </a:xfrm>
      </p:grpSpPr>
      <p:sp>
        <p:nvSpPr>
          <p:cNvPr id="12" name="Google Shape;1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78487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17"/>
        <p:cNvGrpSpPr/>
        <p:nvPr/>
      </p:nvGrpSpPr>
      <p:grpSpPr>
        <a:xfrm>
          <a:off x="0" y="0"/>
          <a:ext cx="0" cy="0"/>
          <a:chOff x="0" y="0"/>
          <a:chExt cx="0" cy="0"/>
        </a:xfrm>
      </p:grpSpPr>
      <p:grpSp>
        <p:nvGrpSpPr>
          <p:cNvPr id="2" name="Group 1">
            <a:extLst>
              <a:ext uri="{FF2B5EF4-FFF2-40B4-BE49-F238E27FC236}">
                <a16:creationId xmlns:a16="http://schemas.microsoft.com/office/drawing/2014/main" id="{2DC1DB1A-6DF5-E3FD-C3F4-462684941A42}"/>
              </a:ext>
            </a:extLst>
          </p:cNvPr>
          <p:cNvGrpSpPr/>
          <p:nvPr userDrawn="1"/>
        </p:nvGrpSpPr>
        <p:grpSpPr>
          <a:xfrm>
            <a:off x="0" y="0"/>
            <a:ext cx="12109775" cy="6858000"/>
            <a:chOff x="0" y="0"/>
            <a:chExt cx="12109775" cy="6858000"/>
          </a:xfrm>
        </p:grpSpPr>
        <p:sp>
          <p:nvSpPr>
            <p:cNvPr id="3" name="Google Shape;95;p3">
              <a:extLst>
                <a:ext uri="{FF2B5EF4-FFF2-40B4-BE49-F238E27FC236}">
                  <a16:creationId xmlns:a16="http://schemas.microsoft.com/office/drawing/2014/main" id="{4E6C7639-7156-7EB6-6A1C-CD24A25A033B}"/>
                </a:ext>
              </a:extLst>
            </p:cNvPr>
            <p:cNvSpPr/>
            <p:nvPr/>
          </p:nvSpPr>
          <p:spPr>
            <a:xfrm>
              <a:off x="11395875" y="6461913"/>
              <a:ext cx="713900" cy="396087"/>
            </a:xfrm>
            <a:custGeom>
              <a:avLst/>
              <a:gdLst/>
              <a:ahLst/>
              <a:cxnLst/>
              <a:rect l="l" t="t" r="r" b="b"/>
              <a:pathLst>
                <a:path w="713899" h="579120" extrusionOk="0">
                  <a:moveTo>
                    <a:pt x="112415" y="14855"/>
                  </a:moveTo>
                  <a:lnTo>
                    <a:pt x="713899" y="0"/>
                  </a:lnTo>
                  <a:lnTo>
                    <a:pt x="713899" y="579120"/>
                  </a:lnTo>
                  <a:lnTo>
                    <a:pt x="0" y="579120"/>
                  </a:lnTo>
                  <a:lnTo>
                    <a:pt x="112415" y="14855"/>
                  </a:lnTo>
                  <a:close/>
                </a:path>
              </a:pathLst>
            </a:cu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 name="Google Shape;96;p3">
              <a:extLst>
                <a:ext uri="{FF2B5EF4-FFF2-40B4-BE49-F238E27FC236}">
                  <a16:creationId xmlns:a16="http://schemas.microsoft.com/office/drawing/2014/main" id="{D6277BF8-393B-C46C-E811-4C97028C926C}"/>
                </a:ext>
              </a:extLst>
            </p:cNvPr>
            <p:cNvSpPr/>
            <p:nvPr/>
          </p:nvSpPr>
          <p:spPr>
            <a:xfrm>
              <a:off x="120396" y="0"/>
              <a:ext cx="9458960" cy="1320800"/>
            </a:xfrm>
            <a:custGeom>
              <a:avLst/>
              <a:gdLst/>
              <a:ahLst/>
              <a:cxnLst/>
              <a:rect l="l" t="t" r="r" b="b"/>
              <a:pathLst>
                <a:path w="8422640" h="1320800" extrusionOk="0">
                  <a:moveTo>
                    <a:pt x="0" y="0"/>
                  </a:moveTo>
                  <a:lnTo>
                    <a:pt x="8422640" y="0"/>
                  </a:lnTo>
                  <a:lnTo>
                    <a:pt x="8092663" y="812800"/>
                  </a:lnTo>
                  <a:lnTo>
                    <a:pt x="0" y="1320800"/>
                  </a:lnTo>
                  <a:lnTo>
                    <a:pt x="0" y="0"/>
                  </a:lnTo>
                  <a:close/>
                </a:path>
              </a:pathLst>
            </a:cu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5" name="Google Shape;97;p3">
              <a:extLst>
                <a:ext uri="{FF2B5EF4-FFF2-40B4-BE49-F238E27FC236}">
                  <a16:creationId xmlns:a16="http://schemas.microsoft.com/office/drawing/2014/main" id="{449684F7-FD94-EA49-C5EE-97D4B00550CB}"/>
                </a:ext>
              </a:extLst>
            </p:cNvPr>
            <p:cNvSpPr/>
            <p:nvPr/>
          </p:nvSpPr>
          <p:spPr>
            <a:xfrm>
              <a:off x="0" y="0"/>
              <a:ext cx="9377916" cy="1320800"/>
            </a:xfrm>
            <a:custGeom>
              <a:avLst/>
              <a:gdLst/>
              <a:ahLst/>
              <a:cxnLst/>
              <a:rect l="l" t="t" r="r" b="b"/>
              <a:pathLst>
                <a:path w="8422640" h="1320800" extrusionOk="0">
                  <a:moveTo>
                    <a:pt x="0" y="0"/>
                  </a:moveTo>
                  <a:lnTo>
                    <a:pt x="8422640" y="0"/>
                  </a:lnTo>
                  <a:lnTo>
                    <a:pt x="7884585" y="1320800"/>
                  </a:lnTo>
                  <a:lnTo>
                    <a:pt x="0" y="1320800"/>
                  </a:lnTo>
                  <a:lnTo>
                    <a:pt x="0" y="0"/>
                  </a:lnTo>
                  <a:close/>
                </a:path>
              </a:pathLst>
            </a:custGeom>
            <a:solidFill>
              <a:srgbClr val="2993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4000" b="1" i="0" u="none" strike="noStrike" cap="none" dirty="0">
                <a:solidFill>
                  <a:schemeClr val="lt1"/>
                </a:solidFill>
                <a:latin typeface="Calibri"/>
                <a:ea typeface="Calibri"/>
                <a:cs typeface="Calibri"/>
                <a:sym typeface="Calibri"/>
              </a:endParaRPr>
            </a:p>
          </p:txBody>
        </p:sp>
        <p:pic>
          <p:nvPicPr>
            <p:cNvPr id="6" name="Google Shape;98;p3">
              <a:extLst>
                <a:ext uri="{FF2B5EF4-FFF2-40B4-BE49-F238E27FC236}">
                  <a16:creationId xmlns:a16="http://schemas.microsoft.com/office/drawing/2014/main" id="{C2BF8F9E-6B59-2A02-29E2-A67C82EB5FB5}"/>
                </a:ext>
              </a:extLst>
            </p:cNvPr>
            <p:cNvPicPr preferRelativeResize="0"/>
            <p:nvPr/>
          </p:nvPicPr>
          <p:blipFill rotWithShape="1">
            <a:blip r:embed="rId2">
              <a:alphaModFix/>
            </a:blip>
            <a:srcRect l="19607" t="41007" r="19528" b="41003"/>
            <a:stretch/>
          </p:blipFill>
          <p:spPr>
            <a:xfrm>
              <a:off x="9699752" y="471293"/>
              <a:ext cx="2061131" cy="542310"/>
            </a:xfrm>
            <a:prstGeom prst="rect">
              <a:avLst/>
            </a:prstGeom>
            <a:noFill/>
            <a:ln>
              <a:noFill/>
            </a:ln>
          </p:spPr>
        </p:pic>
        <p:sp>
          <p:nvSpPr>
            <p:cNvPr id="7" name="Google Shape;100;p3">
              <a:extLst>
                <a:ext uri="{FF2B5EF4-FFF2-40B4-BE49-F238E27FC236}">
                  <a16:creationId xmlns:a16="http://schemas.microsoft.com/office/drawing/2014/main" id="{24D33C97-6AF3-5DA1-1830-B520C558E4D4}"/>
                </a:ext>
              </a:extLst>
            </p:cNvPr>
            <p:cNvSpPr txBox="1"/>
            <p:nvPr/>
          </p:nvSpPr>
          <p:spPr>
            <a:xfrm>
              <a:off x="11656179" y="6436318"/>
              <a:ext cx="418704"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grpSp>
      <p:sp>
        <p:nvSpPr>
          <p:cNvPr id="9" name="Google Shape;100;p2">
            <a:extLst>
              <a:ext uri="{FF2B5EF4-FFF2-40B4-BE49-F238E27FC236}">
                <a16:creationId xmlns:a16="http://schemas.microsoft.com/office/drawing/2014/main" id="{EE72E23D-5BBC-42C7-F1F9-2368CFD03020}"/>
              </a:ext>
            </a:extLst>
          </p:cNvPr>
          <p:cNvSpPr/>
          <p:nvPr userDrawn="1"/>
        </p:nvSpPr>
        <p:spPr>
          <a:xfrm>
            <a:off x="11478101" y="6363649"/>
            <a:ext cx="713900" cy="494350"/>
          </a:xfrm>
          <a:custGeom>
            <a:avLst/>
            <a:gdLst/>
            <a:ahLst/>
            <a:cxnLst/>
            <a:rect l="l" t="t" r="r" b="b"/>
            <a:pathLst>
              <a:path w="713899" h="579120" extrusionOk="0">
                <a:moveTo>
                  <a:pt x="132735" y="0"/>
                </a:moveTo>
                <a:lnTo>
                  <a:pt x="713899" y="0"/>
                </a:lnTo>
                <a:lnTo>
                  <a:pt x="713899" y="579120"/>
                </a:lnTo>
                <a:lnTo>
                  <a:pt x="0" y="579120"/>
                </a:lnTo>
                <a:lnTo>
                  <a:pt x="132735" y="0"/>
                </a:lnTo>
                <a:close/>
              </a:path>
            </a:pathLst>
          </a:custGeom>
          <a:solidFill>
            <a:srgbClr val="2993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322241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E913-3A4F-5D69-59E5-86E53E2DEDCF}"/>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2A315E88-9F53-6302-3D37-597DA69A8FCB}"/>
              </a:ext>
            </a:extLst>
          </p:cNvPr>
          <p:cNvSpPr>
            <a:spLocks noGrp="1"/>
          </p:cNvSpPr>
          <p:nvPr>
            <p:ph type="dt" idx="10"/>
          </p:nvPr>
        </p:nvSpPr>
        <p:spPr/>
        <p:txBody>
          <a:bodyPr/>
          <a:lstStyle/>
          <a:p>
            <a:endParaRPr lang="en-AE"/>
          </a:p>
        </p:txBody>
      </p:sp>
      <p:sp>
        <p:nvSpPr>
          <p:cNvPr id="4" name="Footer Placeholder 3">
            <a:extLst>
              <a:ext uri="{FF2B5EF4-FFF2-40B4-BE49-F238E27FC236}">
                <a16:creationId xmlns:a16="http://schemas.microsoft.com/office/drawing/2014/main" id="{8C75A6A1-B3B5-F717-2BDE-34251902E607}"/>
              </a:ext>
            </a:extLst>
          </p:cNvPr>
          <p:cNvSpPr>
            <a:spLocks noGrp="1"/>
          </p:cNvSpPr>
          <p:nvPr>
            <p:ph type="ftr" idx="11"/>
          </p:nvPr>
        </p:nvSpPr>
        <p:spPr/>
        <p:txBody>
          <a:bodyPr/>
          <a:lstStyle/>
          <a:p>
            <a:endParaRPr lang="en-AE"/>
          </a:p>
        </p:txBody>
      </p:sp>
      <p:sp>
        <p:nvSpPr>
          <p:cNvPr id="5" name="Slide Number Placeholder 4">
            <a:extLst>
              <a:ext uri="{FF2B5EF4-FFF2-40B4-BE49-F238E27FC236}">
                <a16:creationId xmlns:a16="http://schemas.microsoft.com/office/drawing/2014/main" id="{02FBA35F-4636-09FA-C76D-D4F652A454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595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2825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1542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3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3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09218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9060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59372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36528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a:spLocks noGrp="1"/>
          </p:cNvSpPr>
          <p:nvPr>
            <p:ph type="pic" idx="2"/>
          </p:nvPr>
        </p:nvSpPr>
        <p:spPr>
          <a:xfrm>
            <a:off x="5183188" y="987425"/>
            <a:ext cx="6172200" cy="4873625"/>
          </a:xfrm>
          <a:prstGeom prst="rect">
            <a:avLst/>
          </a:prstGeom>
          <a:noFill/>
          <a:ln>
            <a:noFill/>
          </a:ln>
        </p:spPr>
      </p:sp>
      <p:sp>
        <p:nvSpPr>
          <p:cNvPr id="64" name="Google Shape;64;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80217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50460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33216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ABCA-5252-B4DC-C719-3861A4A58A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3A0E9758-A15D-05C3-9DEC-A1A21B094E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E83D788C-D70C-7459-6E48-11D6F3016DC6}"/>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5" name="Footer Placeholder 4">
            <a:extLst>
              <a:ext uri="{FF2B5EF4-FFF2-40B4-BE49-F238E27FC236}">
                <a16:creationId xmlns:a16="http://schemas.microsoft.com/office/drawing/2014/main" id="{379237B1-0DFA-8912-4B0F-C5B351372F76}"/>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C4E0307-6763-2738-6884-814BE7352EDC}"/>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1933828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D7F44-28BE-1F5D-9053-5333FB4052E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8F460DBA-E417-A789-209E-F6790F2FF7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1E5B76CB-1640-0200-77AF-50003CEEC44F}"/>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5" name="Footer Placeholder 4">
            <a:extLst>
              <a:ext uri="{FF2B5EF4-FFF2-40B4-BE49-F238E27FC236}">
                <a16:creationId xmlns:a16="http://schemas.microsoft.com/office/drawing/2014/main" id="{5D005935-4410-1DD9-B38F-778D7A55AA76}"/>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44571E50-3FD5-8A08-C6BD-6B47A22D5C61}"/>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7659459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4268-9476-93D7-3513-8B31B3AC46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E2E57180-DAF5-3360-D784-20A90B38B3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75B07C-5F21-AFF5-FCC8-66B4D3A9A40C}"/>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5" name="Footer Placeholder 4">
            <a:extLst>
              <a:ext uri="{FF2B5EF4-FFF2-40B4-BE49-F238E27FC236}">
                <a16:creationId xmlns:a16="http://schemas.microsoft.com/office/drawing/2014/main" id="{4752C2E7-628A-037D-2CD8-C958A2522A3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00498011-0FF0-E680-E121-44AD466DA251}"/>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2999533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44137-184F-01C3-6073-A4BCAE857E3D}"/>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F231CA18-1BE3-1267-6AF9-32AAE3E9E3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AE6DC7C9-924C-EC99-DC84-E8FDB56664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BEB99A09-60AF-E5F3-AA23-E7CFCFEA0C89}"/>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6" name="Footer Placeholder 5">
            <a:extLst>
              <a:ext uri="{FF2B5EF4-FFF2-40B4-BE49-F238E27FC236}">
                <a16:creationId xmlns:a16="http://schemas.microsoft.com/office/drawing/2014/main" id="{CBEB305D-78CA-B1DF-3E88-19E2A65BA57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7309EE30-95AC-1D6B-97C5-1F36D26DF559}"/>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8283180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1EEE4-C06C-E02E-4240-90D56A1CF81D}"/>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EC00F71A-45CA-1F4D-5DCB-4A09043E27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67B527-F40F-09BE-5753-42DE707A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1EE365C3-9A22-FA59-ADD6-C5A59FE24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355512-9DCD-407B-18C6-F905ECCB69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FA7CBA15-609C-07EE-FC1D-20CF794AEA8C}"/>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8" name="Footer Placeholder 7">
            <a:extLst>
              <a:ext uri="{FF2B5EF4-FFF2-40B4-BE49-F238E27FC236}">
                <a16:creationId xmlns:a16="http://schemas.microsoft.com/office/drawing/2014/main" id="{299FB72F-914F-6641-DF99-9C776ECFA8BB}"/>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E1E7CFE8-3835-DB24-34CB-1B5B990EA53D}"/>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7356647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2B32-9B7A-D195-5202-CAE5DE639794}"/>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07FD5B10-A6E8-2673-CDBF-EB295C41216F}"/>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4" name="Footer Placeholder 3">
            <a:extLst>
              <a:ext uri="{FF2B5EF4-FFF2-40B4-BE49-F238E27FC236}">
                <a16:creationId xmlns:a16="http://schemas.microsoft.com/office/drawing/2014/main" id="{A2A1D3F1-49BA-18C0-D25F-BD1A28DCD7D0}"/>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48497C67-CAC0-80BC-2678-EDC7487EBCFB}"/>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3797121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287801-8F07-D431-0BEF-A17A84684B8A}"/>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3" name="Footer Placeholder 2">
            <a:extLst>
              <a:ext uri="{FF2B5EF4-FFF2-40B4-BE49-F238E27FC236}">
                <a16:creationId xmlns:a16="http://schemas.microsoft.com/office/drawing/2014/main" id="{665D07E1-38B6-BBAD-9598-58DD74C5FCCB}"/>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C682BDB7-B86E-E827-9067-D72149944CAF}"/>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855011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5C4EF-A73D-1475-9F5D-13DBED3253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EF603583-8A9D-6007-4157-FA76784F9F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A132C8B8-6EA7-D305-C9AC-776171631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CE6336-8270-7B9C-A237-CC5FC2C8D6A4}"/>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6" name="Footer Placeholder 5">
            <a:extLst>
              <a:ext uri="{FF2B5EF4-FFF2-40B4-BE49-F238E27FC236}">
                <a16:creationId xmlns:a16="http://schemas.microsoft.com/office/drawing/2014/main" id="{C2F8B2A8-890F-FA0E-AB3D-0E526985A659}"/>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4EE3F708-2D31-0BAF-B636-65F1BD8C8AA8}"/>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1482535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1DC91-7BC3-EC7A-34F0-FC2F01F0F6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22D535C8-2C8F-04F2-81A0-E5C7BAF2EA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D841A27D-1637-B2C0-6A0D-19244A7B24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0C5722-6777-2C86-055A-CF52DD7218D9}"/>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6" name="Footer Placeholder 5">
            <a:extLst>
              <a:ext uri="{FF2B5EF4-FFF2-40B4-BE49-F238E27FC236}">
                <a16:creationId xmlns:a16="http://schemas.microsoft.com/office/drawing/2014/main" id="{8A0E7570-91B2-B75D-15C2-03D4A98FA9C0}"/>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69494145-CD0F-1319-DB04-09B1384C8926}"/>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35425189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31DC-A274-1018-051B-D2D1AD7D9236}"/>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DC1FEC1E-715E-0F3B-8D20-765E7E2BDA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CA13FD01-5C14-E149-4EBC-4176E725A8BC}"/>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5" name="Footer Placeholder 4">
            <a:extLst>
              <a:ext uri="{FF2B5EF4-FFF2-40B4-BE49-F238E27FC236}">
                <a16:creationId xmlns:a16="http://schemas.microsoft.com/office/drawing/2014/main" id="{B1EAD5E3-E468-8AA7-A34A-C6FFC7B63CE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BEACED1F-9255-E7D6-13D1-F4B2D3E96A68}"/>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17741026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58454C-92C0-75B2-C5BF-0FFC34A836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35E7FCDA-FCA2-21DA-211C-EFFDE360BC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A27423B0-8E36-19D7-FA47-3FF4349609FD}"/>
              </a:ext>
            </a:extLst>
          </p:cNvPr>
          <p:cNvSpPr>
            <a:spLocks noGrp="1"/>
          </p:cNvSpPr>
          <p:nvPr>
            <p:ph type="dt" sz="half" idx="10"/>
          </p:nvPr>
        </p:nvSpPr>
        <p:spPr/>
        <p:txBody>
          <a:bodyPr/>
          <a:lstStyle/>
          <a:p>
            <a:fld id="{2B736CC5-BF4B-4767-8CD4-DBB58826A4AA}" type="datetimeFigureOut">
              <a:rPr lang="en-AE" smtClean="0"/>
              <a:t>19/07/2025</a:t>
            </a:fld>
            <a:endParaRPr lang="en-AE"/>
          </a:p>
        </p:txBody>
      </p:sp>
      <p:sp>
        <p:nvSpPr>
          <p:cNvPr id="5" name="Footer Placeholder 4">
            <a:extLst>
              <a:ext uri="{FF2B5EF4-FFF2-40B4-BE49-F238E27FC236}">
                <a16:creationId xmlns:a16="http://schemas.microsoft.com/office/drawing/2014/main" id="{35734A6D-56DB-7529-3B41-1151066BB726}"/>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752EDE68-7EC2-E5A3-1402-F5B2AF93D9C1}"/>
              </a:ext>
            </a:extLst>
          </p:cNvPr>
          <p:cNvSpPr>
            <a:spLocks noGrp="1"/>
          </p:cNvSpPr>
          <p:nvPr>
            <p:ph type="sldNum" sz="quarter" idx="12"/>
          </p:nvPr>
        </p:nvSpPr>
        <p:spPr/>
        <p:txBody>
          <a:bodyPr/>
          <a:lstStyle/>
          <a:p>
            <a:fld id="{75F80E20-3408-4241-8D35-6AF078DEF868}" type="slidenum">
              <a:rPr lang="en-AE" smtClean="0"/>
              <a:t>‹#›</a:t>
            </a:fld>
            <a:endParaRPr lang="en-AE"/>
          </a:p>
        </p:txBody>
      </p:sp>
    </p:spTree>
    <p:extLst>
      <p:ext uri="{BB962C8B-B14F-4D97-AF65-F5344CB8AC3E}">
        <p14:creationId xmlns:p14="http://schemas.microsoft.com/office/powerpoint/2010/main" val="2806342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98795760"/>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96"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4D022A-2834-9371-8A02-9618E4444C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1821A8C8-0D6A-772F-2E09-F0DD89C9E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9941D585-009F-A0B8-68CC-E665C0D0B9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736CC5-BF4B-4767-8CD4-DBB58826A4AA}" type="datetimeFigureOut">
              <a:rPr lang="en-AE" smtClean="0"/>
              <a:t>19/07/2025</a:t>
            </a:fld>
            <a:endParaRPr lang="en-AE"/>
          </a:p>
        </p:txBody>
      </p:sp>
      <p:sp>
        <p:nvSpPr>
          <p:cNvPr id="5" name="Footer Placeholder 4">
            <a:extLst>
              <a:ext uri="{FF2B5EF4-FFF2-40B4-BE49-F238E27FC236}">
                <a16:creationId xmlns:a16="http://schemas.microsoft.com/office/drawing/2014/main" id="{3C208708-EE25-57B4-B55A-B935D2B73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E"/>
          </a:p>
        </p:txBody>
      </p:sp>
      <p:sp>
        <p:nvSpPr>
          <p:cNvPr id="6" name="Slide Number Placeholder 5">
            <a:extLst>
              <a:ext uri="{FF2B5EF4-FFF2-40B4-BE49-F238E27FC236}">
                <a16:creationId xmlns:a16="http://schemas.microsoft.com/office/drawing/2014/main" id="{AA8C3CE7-D9AD-A1C1-7CB6-057D08B568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F80E20-3408-4241-8D35-6AF078DEF868}" type="slidenum">
              <a:rPr lang="en-AE" smtClean="0"/>
              <a:t>‹#›</a:t>
            </a:fld>
            <a:endParaRPr lang="en-AE"/>
          </a:p>
        </p:txBody>
      </p:sp>
    </p:spTree>
    <p:extLst>
      <p:ext uri="{BB962C8B-B14F-4D97-AF65-F5344CB8AC3E}">
        <p14:creationId xmlns:p14="http://schemas.microsoft.com/office/powerpoint/2010/main" val="121289027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80/02626667.2018.1560449"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bbc.com/travel/article/20230523-the-chinese-bbq-luring-million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mendeley.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apastyle.apa.org" TargetMode="External"/><Relationship Id="rId2" Type="http://schemas.openxmlformats.org/officeDocument/2006/relationships/hyperlink" Target="https://academicwriter.apa.org" TargetMode="External"/><Relationship Id="rId1" Type="http://schemas.openxmlformats.org/officeDocument/2006/relationships/slideLayout" Target="../slideLayouts/slideLayout2.xml"/><Relationship Id="rId6" Type="http://schemas.openxmlformats.org/officeDocument/2006/relationships/hyperlink" Target="https://www.easybib.com/guides/citation-guides/apa-format/" TargetMode="External"/><Relationship Id="rId5" Type="http://schemas.openxmlformats.org/officeDocument/2006/relationships/hyperlink" Target="https://phsc.edu/academics/academic-resources/learning/writing-center/apa" TargetMode="External"/><Relationship Id="rId4" Type="http://schemas.openxmlformats.org/officeDocument/2006/relationships/hyperlink" Target="https://apastyle.apa.org/style-grammar-guidelines/basic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scribbr.com/apa-examples/" TargetMode="External"/><Relationship Id="rId2" Type="http://schemas.openxmlformats.org/officeDocument/2006/relationships/hyperlink" Target="https://owl.excelsior.edu" TargetMode="External"/><Relationship Id="rId1" Type="http://schemas.openxmlformats.org/officeDocument/2006/relationships/slideLayout" Target="../slideLayouts/slideLayout2.xml"/><Relationship Id="rId5" Type="http://schemas.openxmlformats.org/officeDocument/2006/relationships/hyperlink" Target="https://www.bibme.org/citation-guide/apa/" TargetMode="External"/><Relationship Id="rId4" Type="http://schemas.openxmlformats.org/officeDocument/2006/relationships/hyperlink" Target="https://owl.purdue.edu/owl/research_and_citation/apa_style/apa_style_introduction.html"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mt="20000"/>
          </a:blip>
          <a:srcRect l="19607" t="41007" r="65973" b="41003"/>
          <a:stretch/>
        </p:blipFill>
        <p:spPr>
          <a:xfrm>
            <a:off x="6893098" y="1134012"/>
            <a:ext cx="4661304" cy="5176843"/>
          </a:xfrm>
          <a:prstGeom prst="rect">
            <a:avLst/>
          </a:prstGeom>
          <a:noFill/>
          <a:ln>
            <a:noFill/>
          </a:ln>
        </p:spPr>
      </p:pic>
      <p:sp>
        <p:nvSpPr>
          <p:cNvPr id="86" name="Google Shape;86;p1"/>
          <p:cNvSpPr/>
          <p:nvPr/>
        </p:nvSpPr>
        <p:spPr>
          <a:xfrm>
            <a:off x="900578" y="3014305"/>
            <a:ext cx="9859571" cy="156966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4800" b="1" i="0" u="none" strike="noStrike" kern="0" cap="none" spc="0" normalizeH="0" baseline="0" noProof="0">
                <a:ln>
                  <a:noFill/>
                </a:ln>
                <a:solidFill>
                  <a:srgbClr val="FFFFFF"/>
                </a:solidFill>
                <a:effectLst/>
                <a:uLnTx/>
                <a:uFillTx/>
                <a:latin typeface="Calibri"/>
                <a:ea typeface="Calibri"/>
                <a:cs typeface="Calibri"/>
                <a:sym typeface="Calibri"/>
              </a:rPr>
              <a:t>Business in a World Economy</a:t>
            </a:r>
            <a:endParaRPr kumimoji="0" sz="4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9" name="Google Shape;89;p1"/>
          <p:cNvSpPr txBox="1"/>
          <p:nvPr/>
        </p:nvSpPr>
        <p:spPr>
          <a:xfrm>
            <a:off x="900575" y="2631550"/>
            <a:ext cx="30867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BBA-BWE-GLB410-01</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2" name="Group 1">
            <a:extLst>
              <a:ext uri="{FF2B5EF4-FFF2-40B4-BE49-F238E27FC236}">
                <a16:creationId xmlns:a16="http://schemas.microsoft.com/office/drawing/2014/main" id="{8580890E-EFA5-9F74-83B0-EBC130BD5F3D}"/>
              </a:ext>
            </a:extLst>
          </p:cNvPr>
          <p:cNvGrpSpPr/>
          <p:nvPr/>
        </p:nvGrpSpPr>
        <p:grpSpPr>
          <a:xfrm>
            <a:off x="0" y="1038924"/>
            <a:ext cx="12192000" cy="5017671"/>
            <a:chOff x="0" y="1038924"/>
            <a:chExt cx="12192000" cy="5017671"/>
          </a:xfrm>
        </p:grpSpPr>
        <p:sp>
          <p:nvSpPr>
            <p:cNvPr id="85" name="Google Shape;85;p1"/>
            <p:cNvSpPr/>
            <p:nvPr/>
          </p:nvSpPr>
          <p:spPr>
            <a:xfrm>
              <a:off x="0" y="2222205"/>
              <a:ext cx="12192000" cy="2690037"/>
            </a:xfrm>
            <a:prstGeom prst="rect">
              <a:avLst/>
            </a:prstGeom>
            <a:solidFill>
              <a:srgbClr val="29934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lang="en-US" sz="4400" b="1" kern="0" dirty="0">
                  <a:solidFill>
                    <a:srgbClr val="FFFFFF"/>
                  </a:solidFill>
                  <a:latin typeface="Calibri"/>
                  <a:ea typeface="Calibri"/>
                  <a:cs typeface="Calibri"/>
                  <a:sym typeface="Calibri"/>
                </a:rPr>
                <a:t>Citation Management &amp; Research Tools</a:t>
              </a:r>
            </a:p>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lang="en-US" sz="4400" b="1" kern="0" dirty="0">
                  <a:solidFill>
                    <a:srgbClr val="FFFFFF"/>
                  </a:solidFill>
                  <a:latin typeface="Calibri"/>
                  <a:ea typeface="Calibri"/>
                  <a:cs typeface="Calibri"/>
                  <a:sym typeface="Calibri"/>
                </a:rPr>
                <a:t>APA Simplified</a:t>
              </a:r>
            </a:p>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lang="en-US" sz="4400" b="1" kern="0" dirty="0">
                <a:solidFill>
                  <a:srgbClr val="FFFFFF"/>
                </a:solidFill>
                <a:latin typeface="Calibri"/>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lang="en-US" sz="2000" b="1" kern="0" dirty="0">
                  <a:solidFill>
                    <a:srgbClr val="FFFFFF"/>
                  </a:solidFill>
                  <a:latin typeface="Calibri"/>
                  <a:ea typeface="Calibri"/>
                  <a:cs typeface="Calibri"/>
                  <a:sym typeface="Calibri"/>
                </a:rPr>
                <a:t>By Scolah Kazi, Research &amp; Reference Librarian</a:t>
              </a:r>
            </a:p>
          </p:txBody>
        </p:sp>
        <p:pic>
          <p:nvPicPr>
            <p:cNvPr id="87" name="Google Shape;87;p1"/>
            <p:cNvPicPr preferRelativeResize="0"/>
            <p:nvPr/>
          </p:nvPicPr>
          <p:blipFill rotWithShape="1">
            <a:blip r:embed="rId4">
              <a:alphaModFix/>
            </a:blip>
            <a:srcRect l="19607" t="41007" r="19528" b="41003"/>
            <a:stretch/>
          </p:blipFill>
          <p:spPr>
            <a:xfrm>
              <a:off x="995217" y="1038924"/>
              <a:ext cx="2991993" cy="787231"/>
            </a:xfrm>
            <a:prstGeom prst="rect">
              <a:avLst/>
            </a:prstGeom>
            <a:noFill/>
            <a:ln>
              <a:noFill/>
            </a:ln>
          </p:spPr>
        </p:pic>
        <p:sp>
          <p:nvSpPr>
            <p:cNvPr id="90" name="Google Shape;90;p1"/>
            <p:cNvSpPr txBox="1"/>
            <p:nvPr/>
          </p:nvSpPr>
          <p:spPr>
            <a:xfrm>
              <a:off x="946231" y="5718041"/>
              <a:ext cx="2061077" cy="3385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595959"/>
                  </a:solidFill>
                  <a:effectLst/>
                  <a:uLnTx/>
                  <a:uFillTx/>
                  <a:latin typeface="Calibri"/>
                  <a:ea typeface="Calibri"/>
                  <a:cs typeface="Calibri"/>
                  <a:sym typeface="Calibri"/>
                </a:rPr>
                <a:t>www.learnersuae.com</a:t>
              </a:r>
              <a:endParaRPr kumimoji="0" sz="1600" b="0" i="0" u="none" strike="noStrike" kern="0" cap="none" spc="0" normalizeH="0" baseline="0" noProof="0" dirty="0">
                <a:ln>
                  <a:noFill/>
                </a:ln>
                <a:solidFill>
                  <a:srgbClr val="595959"/>
                </a:solidFill>
                <a:effectLst/>
                <a:uLnTx/>
                <a:uFillTx/>
                <a:latin typeface="Calibri"/>
                <a:ea typeface="Calibri"/>
                <a:cs typeface="Calibri"/>
                <a:sym typeface="Calibri"/>
              </a:endParaRPr>
            </a:p>
          </p:txBody>
        </p:sp>
      </p:grpSp>
      <p:pic>
        <p:nvPicPr>
          <p:cNvPr id="4" name="Image 6" descr="A logo with white text&#10;&#10;Description automatically generated">
            <a:extLst>
              <a:ext uri="{FF2B5EF4-FFF2-40B4-BE49-F238E27FC236}">
                <a16:creationId xmlns:a16="http://schemas.microsoft.com/office/drawing/2014/main" id="{42AD187E-7B0A-B826-0E7F-3F38935554D4}"/>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9223750" y="1023082"/>
            <a:ext cx="1223645" cy="10077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11395875" y="6461913"/>
            <a:ext cx="713900" cy="396087"/>
          </a:xfrm>
          <a:custGeom>
            <a:avLst/>
            <a:gdLst/>
            <a:ahLst/>
            <a:cxnLst/>
            <a:rect l="l" t="t" r="r" b="b"/>
            <a:pathLst>
              <a:path w="713899" h="579120" extrusionOk="0">
                <a:moveTo>
                  <a:pt x="112415" y="14855"/>
                </a:moveTo>
                <a:lnTo>
                  <a:pt x="713899" y="0"/>
                </a:lnTo>
                <a:lnTo>
                  <a:pt x="713899" y="579120"/>
                </a:lnTo>
                <a:lnTo>
                  <a:pt x="0" y="579120"/>
                </a:lnTo>
                <a:lnTo>
                  <a:pt x="112415" y="14855"/>
                </a:lnTo>
                <a:close/>
              </a:path>
            </a:pathLst>
          </a:custGeom>
          <a:solidFill>
            <a:srgbClr val="3F3F3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FFFFFF"/>
                </a:solidFill>
                <a:effectLst/>
                <a:uLnTx/>
                <a:uFillTx/>
                <a:latin typeface="Calibri"/>
                <a:ea typeface="Calibri"/>
                <a:cs typeface="Calibri"/>
                <a:sym typeface="Calibri"/>
              </a:rPr>
              <a:t>aa</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6" name="Google Shape;96;p2"/>
          <p:cNvSpPr/>
          <p:nvPr/>
        </p:nvSpPr>
        <p:spPr>
          <a:xfrm>
            <a:off x="120396" y="0"/>
            <a:ext cx="9458960" cy="1320800"/>
          </a:xfrm>
          <a:custGeom>
            <a:avLst/>
            <a:gdLst/>
            <a:ahLst/>
            <a:cxnLst/>
            <a:rect l="l" t="t" r="r" b="b"/>
            <a:pathLst>
              <a:path w="8422640" h="1320800" extrusionOk="0">
                <a:moveTo>
                  <a:pt x="0" y="0"/>
                </a:moveTo>
                <a:lnTo>
                  <a:pt x="8422640" y="0"/>
                </a:lnTo>
                <a:lnTo>
                  <a:pt x="8092663" y="812800"/>
                </a:lnTo>
                <a:lnTo>
                  <a:pt x="0" y="1320800"/>
                </a:lnTo>
                <a:lnTo>
                  <a:pt x="0" y="0"/>
                </a:lnTo>
                <a:close/>
              </a:path>
            </a:pathLst>
          </a:custGeom>
          <a:solidFill>
            <a:srgbClr val="3F3F3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7" name="Google Shape;97;p2"/>
          <p:cNvSpPr/>
          <p:nvPr/>
        </p:nvSpPr>
        <p:spPr>
          <a:xfrm>
            <a:off x="0" y="0"/>
            <a:ext cx="9377916" cy="1320800"/>
          </a:xfrm>
          <a:custGeom>
            <a:avLst/>
            <a:gdLst/>
            <a:ahLst/>
            <a:cxnLst/>
            <a:rect l="l" t="t" r="r" b="b"/>
            <a:pathLst>
              <a:path w="8422640" h="1320800" extrusionOk="0">
                <a:moveTo>
                  <a:pt x="0" y="0"/>
                </a:moveTo>
                <a:lnTo>
                  <a:pt x="8422640" y="0"/>
                </a:lnTo>
                <a:lnTo>
                  <a:pt x="7884585" y="1320800"/>
                </a:lnTo>
                <a:lnTo>
                  <a:pt x="0" y="1320800"/>
                </a:lnTo>
                <a:lnTo>
                  <a:pt x="0" y="0"/>
                </a:lnTo>
                <a:close/>
              </a:path>
            </a:pathLst>
          </a:custGeom>
          <a:solidFill>
            <a:srgbClr val="29934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99" name="Google Shape;99;p2"/>
          <p:cNvPicPr preferRelativeResize="0"/>
          <p:nvPr/>
        </p:nvPicPr>
        <p:blipFill rotWithShape="1">
          <a:blip r:embed="rId3">
            <a:alphaModFix/>
          </a:blip>
          <a:srcRect l="19607" t="41007" r="19528" b="41003"/>
          <a:stretch/>
        </p:blipFill>
        <p:spPr>
          <a:xfrm>
            <a:off x="9699752" y="471293"/>
            <a:ext cx="2061131" cy="542310"/>
          </a:xfrm>
          <a:prstGeom prst="rect">
            <a:avLst/>
          </a:prstGeom>
          <a:noFill/>
          <a:ln>
            <a:noFill/>
          </a:ln>
        </p:spPr>
      </p:pic>
      <p:sp>
        <p:nvSpPr>
          <p:cNvPr id="100" name="Google Shape;100;p2"/>
          <p:cNvSpPr/>
          <p:nvPr/>
        </p:nvSpPr>
        <p:spPr>
          <a:xfrm>
            <a:off x="11478101" y="6363649"/>
            <a:ext cx="713900" cy="494350"/>
          </a:xfrm>
          <a:custGeom>
            <a:avLst/>
            <a:gdLst/>
            <a:ahLst/>
            <a:cxnLst/>
            <a:rect l="l" t="t" r="r" b="b"/>
            <a:pathLst>
              <a:path w="713899" h="579120" extrusionOk="0">
                <a:moveTo>
                  <a:pt x="132735" y="0"/>
                </a:moveTo>
                <a:lnTo>
                  <a:pt x="713899" y="0"/>
                </a:lnTo>
                <a:lnTo>
                  <a:pt x="713899" y="579120"/>
                </a:lnTo>
                <a:lnTo>
                  <a:pt x="0" y="579120"/>
                </a:lnTo>
                <a:lnTo>
                  <a:pt x="132735" y="0"/>
                </a:lnTo>
                <a:close/>
              </a:path>
            </a:pathLst>
          </a:custGeom>
          <a:solidFill>
            <a:srgbClr val="29934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2" name="Google Shape;102;p2"/>
          <p:cNvSpPr txBox="1"/>
          <p:nvPr/>
        </p:nvSpPr>
        <p:spPr>
          <a:xfrm>
            <a:off x="8912172" y="6513700"/>
            <a:ext cx="2483700" cy="292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sz="1300" b="0" i="0" u="none" strike="noStrike" kern="0" cap="none" spc="0" normalizeH="0" baseline="0" noProof="0">
                <a:ln>
                  <a:noFill/>
                </a:ln>
                <a:solidFill>
                  <a:srgbClr val="595959"/>
                </a:solidFill>
                <a:effectLst/>
                <a:uLnTx/>
                <a:uFillTx/>
                <a:latin typeface="Calibri"/>
                <a:ea typeface="Calibri"/>
                <a:cs typeface="Calibri"/>
                <a:sym typeface="Calibri"/>
              </a:rPr>
              <a:t>Business in a World Economy</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03" name="Google Shape;103;p2"/>
          <p:cNvSpPr txBox="1"/>
          <p:nvPr/>
        </p:nvSpPr>
        <p:spPr>
          <a:xfrm>
            <a:off x="724058" y="305680"/>
            <a:ext cx="6096000" cy="76944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a:buNone/>
              <a:tabLst/>
              <a:defRPr/>
            </a:pPr>
            <a:r>
              <a:rPr kumimoji="0" lang="en-US" sz="4400" b="1" i="0" u="none" strike="noStrike" kern="0" cap="none" spc="0" normalizeH="0" baseline="0" noProof="0">
                <a:ln>
                  <a:noFill/>
                </a:ln>
                <a:solidFill>
                  <a:srgbClr val="FFFFFF"/>
                </a:solidFill>
                <a:effectLst/>
                <a:uLnTx/>
                <a:uFillTx/>
                <a:latin typeface="Calibri"/>
                <a:ea typeface="Calibri"/>
                <a:cs typeface="Calibri"/>
                <a:sym typeface="Calibri"/>
              </a:rPr>
              <a:t>Learning Objectives: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04" name="Google Shape;104;p2"/>
          <p:cNvSpPr/>
          <p:nvPr/>
        </p:nvSpPr>
        <p:spPr>
          <a:xfrm>
            <a:off x="563821" y="1762834"/>
            <a:ext cx="10832051" cy="5232161"/>
          </a:xfrm>
          <a:prstGeom prst="rect">
            <a:avLst/>
          </a:prstGeom>
          <a:noFill/>
          <a:ln>
            <a:noFill/>
          </a:ln>
        </p:spPr>
        <p:txBody>
          <a:bodyPr spcFirstLastPara="1" wrap="square" lIns="91425" tIns="45700" rIns="91425" bIns="45700" anchor="t" anchorCtr="0">
            <a:spAutoFit/>
          </a:bodyPr>
          <a:lstStyle/>
          <a:p>
            <a:pPr>
              <a:buClr>
                <a:srgbClr val="000000"/>
              </a:buClr>
              <a:buSzPts val="1800"/>
              <a:defRPr/>
            </a:pPr>
            <a:endParaRPr kumimoji="0" lang="en-US" sz="2400" b="1" i="0" u="none" strike="noStrike" kern="0" cap="none" spc="0" normalizeH="0" baseline="0" noProof="0" dirty="0">
              <a:ln>
                <a:noFill/>
              </a:ln>
              <a:solidFill>
                <a:srgbClr val="299346"/>
              </a:solidFill>
              <a:effectLst/>
              <a:uLnTx/>
              <a:uFillTx/>
              <a:ea typeface="Georgia"/>
              <a:cs typeface="Georgia"/>
              <a:sym typeface="Georgia"/>
            </a:endParaRPr>
          </a:p>
          <a:p>
            <a:pPr>
              <a:buClr>
                <a:srgbClr val="000000"/>
              </a:buClr>
              <a:buSzPts val="1800"/>
              <a:defRPr/>
            </a:pPr>
            <a:r>
              <a:rPr lang="en-US" sz="2400" b="1" dirty="0"/>
              <a:t>By the end of this session, students will be able to:</a:t>
            </a:r>
          </a:p>
          <a:p>
            <a:pPr>
              <a:buClr>
                <a:srgbClr val="000000"/>
              </a:buClr>
              <a:buSzPts val="1800"/>
              <a:defRPr/>
            </a:pPr>
            <a:endParaRPr lang="en-US" sz="2400" dirty="0"/>
          </a:p>
          <a:p>
            <a:pPr>
              <a:buClr>
                <a:srgbClr val="000000"/>
              </a:buClr>
              <a:buSzPts val="1800"/>
              <a:defRPr/>
            </a:pPr>
            <a:r>
              <a:rPr kumimoji="0" lang="en-US" sz="2400" b="1" i="0" u="none" strike="noStrike" kern="0" cap="none" spc="0" normalizeH="0" baseline="0" noProof="0" dirty="0">
                <a:ln>
                  <a:noFill/>
                </a:ln>
                <a:solidFill>
                  <a:srgbClr val="299346"/>
                </a:solidFill>
                <a:effectLst/>
                <a:uLnTx/>
                <a:uFillTx/>
                <a:ea typeface="Georgia"/>
                <a:cs typeface="Georgia"/>
                <a:sym typeface="Georgia"/>
              </a:rPr>
              <a:t>LO1 : To apply APA 7th edition citation and referencing rules</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AE" sz="2400" b="0" i="0" u="none" strike="noStrike" kern="0" cap="none" spc="0" normalizeH="0" baseline="0" noProof="0" dirty="0">
              <a:ln>
                <a:noFill/>
              </a:ln>
              <a:solidFill>
                <a:srgbClr val="000000"/>
              </a:solidFill>
              <a:effectLst/>
              <a:uLnTx/>
              <a:uFillTx/>
              <a:ea typeface="Georgia"/>
              <a:cs typeface="Georgia"/>
              <a:sym typeface="Georgia"/>
            </a:endParaRPr>
          </a:p>
          <a:p>
            <a:pPr>
              <a:buClr>
                <a:srgbClr val="000000"/>
              </a:buClr>
              <a:buSzPts val="1800"/>
              <a:defRPr/>
            </a:pPr>
            <a:r>
              <a:rPr kumimoji="0" lang="en-US" sz="2400" b="1" i="0" u="none" strike="noStrike" kern="0" cap="none" spc="0" normalizeH="0" baseline="0" noProof="0" dirty="0">
                <a:ln>
                  <a:noFill/>
                </a:ln>
                <a:solidFill>
                  <a:srgbClr val="299346"/>
                </a:solidFill>
                <a:effectLst/>
                <a:uLnTx/>
                <a:uFillTx/>
                <a:ea typeface="Georgia"/>
                <a:cs typeface="Georgia"/>
                <a:sym typeface="Georgia"/>
              </a:rPr>
              <a:t>LO2 : Identify and access credible open access academic resources</a:t>
            </a:r>
          </a:p>
          <a:p>
            <a:pPr>
              <a:buClr>
                <a:srgbClr val="000000"/>
              </a:buClr>
              <a:buSzPts val="1800"/>
              <a:defRPr/>
            </a:pPr>
            <a:endParaRPr kumimoji="0" sz="2400" b="0" i="0" u="none" strike="noStrike" kern="0" cap="none" spc="0" normalizeH="0" baseline="0" noProof="0" dirty="0">
              <a:ln>
                <a:noFill/>
              </a:ln>
              <a:solidFill>
                <a:srgbClr val="000000"/>
              </a:solidFill>
              <a:effectLst/>
              <a:uLnTx/>
              <a:uFillTx/>
              <a:ea typeface="Georgia"/>
              <a:cs typeface="Georgia"/>
              <a:sym typeface="Georgia"/>
            </a:endParaRPr>
          </a:p>
          <a:p>
            <a:pPr>
              <a:buClr>
                <a:srgbClr val="000000"/>
              </a:buClr>
              <a:buSzPts val="1800"/>
              <a:defRPr/>
            </a:pPr>
            <a:r>
              <a:rPr kumimoji="0" lang="en-US" sz="2400" b="1" i="0" u="none" strike="noStrike" kern="0" cap="none" spc="0" normalizeH="0" baseline="0" noProof="0" dirty="0">
                <a:ln>
                  <a:noFill/>
                </a:ln>
                <a:solidFill>
                  <a:srgbClr val="299346"/>
                </a:solidFill>
                <a:effectLst/>
                <a:uLnTx/>
                <a:uFillTx/>
                <a:ea typeface="Georgia"/>
                <a:cs typeface="Georgia"/>
                <a:sym typeface="Georgia"/>
              </a:rPr>
              <a:t>LO3 : Use reference management tools (Zotero/Mendeley)</a:t>
            </a:r>
          </a:p>
          <a:p>
            <a:pPr>
              <a:buClr>
                <a:srgbClr val="000000"/>
              </a:buClr>
              <a:buSzPts val="1800"/>
              <a:defRPr/>
            </a:pPr>
            <a:endParaRPr kumimoji="0" sz="2400" b="0" i="0" u="none" strike="noStrike" kern="0" cap="none" spc="0" normalizeH="0" baseline="0" noProof="0" dirty="0">
              <a:ln>
                <a:noFill/>
              </a:ln>
              <a:solidFill>
                <a:srgbClr val="000000"/>
              </a:solidFill>
              <a:effectLst/>
              <a:uLnTx/>
              <a:uFillTx/>
              <a:ea typeface="Georgia"/>
              <a:cs typeface="Georgia"/>
              <a:sym typeface="Georgia"/>
            </a:endParaRPr>
          </a:p>
          <a:p>
            <a:pPr>
              <a:buClr>
                <a:srgbClr val="000000"/>
              </a:buClr>
              <a:buSzPts val="1800"/>
              <a:defRPr/>
            </a:pPr>
            <a:r>
              <a:rPr kumimoji="0" lang="en-US" sz="2400" b="1" i="0" u="none" strike="noStrike" kern="0" cap="none" spc="0" normalizeH="0" baseline="0" noProof="0" dirty="0">
                <a:ln>
                  <a:noFill/>
                </a:ln>
                <a:solidFill>
                  <a:srgbClr val="299346"/>
                </a:solidFill>
                <a:effectLst/>
                <a:uLnTx/>
                <a:uFillTx/>
                <a:ea typeface="Georgia"/>
                <a:cs typeface="Georgia"/>
                <a:sym typeface="Georgia"/>
              </a:rPr>
              <a:t>LO4 : Integrate citation tools into their research workflow</a:t>
            </a:r>
            <a:endParaRPr kumimoji="0" sz="2400" b="1" i="0" u="none" strike="noStrike" kern="0" cap="none" spc="0" normalizeH="0" baseline="0" noProof="0" dirty="0">
              <a:ln>
                <a:noFill/>
              </a:ln>
              <a:solidFill>
                <a:srgbClr val="299346"/>
              </a:solidFill>
              <a:effectLst/>
              <a:uLnTx/>
              <a:uFillTx/>
              <a:ea typeface="Georgia"/>
              <a:cs typeface="Georgia"/>
              <a:sym typeface="Georgia"/>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1" i="0" u="none" strike="noStrike" kern="0" cap="none" spc="0" normalizeH="0" baseline="0" noProof="0" dirty="0">
              <a:ln>
                <a:noFill/>
              </a:ln>
              <a:solidFill>
                <a:srgbClr val="299346"/>
              </a:solidFill>
              <a:effectLst/>
              <a:uLnTx/>
              <a:uFillTx/>
              <a:latin typeface="Georgia"/>
              <a:ea typeface="Georgia"/>
              <a:cs typeface="Georgia"/>
              <a:sym typeface="Georgia"/>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highlight>
                <a:srgbClr val="FFFF00"/>
              </a:highligh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2200"/>
              <a:buFont typeface="Arial"/>
              <a:buNone/>
              <a:tabLst/>
              <a:defRPr/>
            </a:pPr>
            <a:endParaRPr kumimoji="0" sz="2200" b="0" i="0" u="none" strike="noStrike" kern="0" cap="none" spc="0" normalizeH="0" baseline="0" noProof="0" dirty="0">
              <a:ln>
                <a:noFill/>
              </a:ln>
              <a:solidFill>
                <a:srgbClr val="201F1E"/>
              </a:solidFill>
              <a:effectLst/>
              <a:highlight>
                <a:srgbClr val="FFFF00"/>
              </a:highlight>
              <a:uLnTx/>
              <a:uFillTx/>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F1B76C-1EBF-AF87-1B21-42C4ED408817}"/>
              </a:ext>
            </a:extLst>
          </p:cNvPr>
          <p:cNvSpPr txBox="1">
            <a:spLocks/>
          </p:cNvSpPr>
          <p:nvPr/>
        </p:nvSpPr>
        <p:spPr>
          <a:xfrm>
            <a:off x="457200" y="274638"/>
            <a:ext cx="822960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b="1" kern="0" dirty="0">
                <a:solidFill>
                  <a:schemeClr val="bg1"/>
                </a:solidFill>
              </a:rPr>
              <a:t>Session Breakdown</a:t>
            </a:r>
          </a:p>
        </p:txBody>
      </p:sp>
      <p:sp>
        <p:nvSpPr>
          <p:cNvPr id="5" name="Content Placeholder 2">
            <a:extLst>
              <a:ext uri="{FF2B5EF4-FFF2-40B4-BE49-F238E27FC236}">
                <a16:creationId xmlns:a16="http://schemas.microsoft.com/office/drawing/2014/main" id="{EA02BB59-FADA-5424-DE2E-F6D669EDEF62}"/>
              </a:ext>
            </a:extLst>
          </p:cNvPr>
          <p:cNvSpPr txBox="1">
            <a:spLocks/>
          </p:cNvSpPr>
          <p:nvPr/>
        </p:nvSpPr>
        <p:spPr>
          <a:xfrm>
            <a:off x="457200" y="1600200"/>
            <a:ext cx="8229600"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dirty="0"/>
              <a:t>Part 1: </a:t>
            </a:r>
            <a:r>
              <a:rPr lang="en-US" sz="3200" kern="0" dirty="0"/>
              <a:t>Citation &amp; APA 7th Edition (60 mins)</a:t>
            </a:r>
          </a:p>
          <a:p>
            <a:endParaRPr lang="en-US" sz="3200" kern="0" dirty="0"/>
          </a:p>
          <a:p>
            <a:r>
              <a:rPr lang="en-US" sz="3200" b="1" kern="0" dirty="0"/>
              <a:t>Part 2: </a:t>
            </a:r>
            <a:r>
              <a:rPr lang="en-US" sz="3200" kern="0" dirty="0"/>
              <a:t>Open Access Resources (45 mins)</a:t>
            </a:r>
          </a:p>
          <a:p>
            <a:endParaRPr lang="en-US" sz="3200" kern="0" dirty="0"/>
          </a:p>
          <a:p>
            <a:pPr algn="ctr"/>
            <a:r>
              <a:rPr lang="en-US" sz="3200" i="1" kern="0" dirty="0">
                <a:solidFill>
                  <a:srgbClr val="C00000"/>
                </a:solidFill>
              </a:rPr>
              <a:t>Break (15 mins)</a:t>
            </a:r>
          </a:p>
          <a:p>
            <a:r>
              <a:rPr lang="en-US" sz="3200" b="1" kern="0" dirty="0"/>
              <a:t>Part 3: </a:t>
            </a:r>
            <a:r>
              <a:rPr lang="en-US" sz="3200" kern="0" dirty="0"/>
              <a:t>Reference Management Tools (60 mins)</a:t>
            </a:r>
          </a:p>
        </p:txBody>
      </p:sp>
    </p:spTree>
    <p:extLst>
      <p:ext uri="{BB962C8B-B14F-4D97-AF65-F5344CB8AC3E}">
        <p14:creationId xmlns:p14="http://schemas.microsoft.com/office/powerpoint/2010/main" val="1203760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BFAA-62AF-4789-0514-FB9DCF9487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6BD0F99-32D0-191C-3896-464006A1B4A1}"/>
              </a:ext>
            </a:extLst>
          </p:cNvPr>
          <p:cNvSpPr txBox="1">
            <a:spLocks/>
          </p:cNvSpPr>
          <p:nvPr/>
        </p:nvSpPr>
        <p:spPr>
          <a:xfrm>
            <a:off x="457199" y="274638"/>
            <a:ext cx="9472613"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kern="0" dirty="0">
                <a:solidFill>
                  <a:schemeClr val="bg1"/>
                </a:solidFill>
              </a:rPr>
              <a:t>Part 1: Citation &amp; APA 7th Edition</a:t>
            </a:r>
          </a:p>
        </p:txBody>
      </p:sp>
      <p:sp>
        <p:nvSpPr>
          <p:cNvPr id="5" name="Content Placeholder 2">
            <a:extLst>
              <a:ext uri="{FF2B5EF4-FFF2-40B4-BE49-F238E27FC236}">
                <a16:creationId xmlns:a16="http://schemas.microsoft.com/office/drawing/2014/main" id="{77836A50-7B81-AF24-AC39-F404167C67FF}"/>
              </a:ext>
            </a:extLst>
          </p:cNvPr>
          <p:cNvSpPr txBox="1">
            <a:spLocks/>
          </p:cNvSpPr>
          <p:nvPr/>
        </p:nvSpPr>
        <p:spPr>
          <a:xfrm>
            <a:off x="457199" y="1600200"/>
            <a:ext cx="10958514"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US" sz="2800" b="1" kern="0" dirty="0"/>
          </a:p>
          <a:p>
            <a:pPr algn="ctr"/>
            <a:endParaRPr lang="en-US" sz="2800" b="1" kern="0" dirty="0"/>
          </a:p>
          <a:p>
            <a:pPr algn="ctr"/>
            <a:endParaRPr lang="en-US" sz="3600" b="1" kern="0" dirty="0"/>
          </a:p>
          <a:p>
            <a:pPr algn="ctr"/>
            <a:r>
              <a:rPr lang="en-US" sz="5400" b="1" kern="0" dirty="0"/>
              <a:t>Poll</a:t>
            </a:r>
          </a:p>
          <a:p>
            <a:pPr algn="ctr"/>
            <a:r>
              <a:rPr lang="en-US" sz="3600" b="1" kern="0" dirty="0"/>
              <a:t> </a:t>
            </a:r>
            <a:r>
              <a:rPr lang="en-US" sz="3600" i="1" kern="0" dirty="0"/>
              <a:t>What is your level of confidence in using 7</a:t>
            </a:r>
            <a:r>
              <a:rPr lang="en-US" sz="3600" i="1" kern="0" baseline="30000" dirty="0"/>
              <a:t>th</a:t>
            </a:r>
            <a:r>
              <a:rPr lang="en-US" sz="3600" i="1" kern="0" dirty="0"/>
              <a:t> edition of APA Referencing Style?</a:t>
            </a:r>
          </a:p>
        </p:txBody>
      </p:sp>
    </p:spTree>
    <p:extLst>
      <p:ext uri="{BB962C8B-B14F-4D97-AF65-F5344CB8AC3E}">
        <p14:creationId xmlns:p14="http://schemas.microsoft.com/office/powerpoint/2010/main" val="887518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1C80A-C8DD-04BC-DC90-A4F26FA2947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7E53622-07EF-0B8D-6D77-E2909BBD724A}"/>
              </a:ext>
            </a:extLst>
          </p:cNvPr>
          <p:cNvSpPr txBox="1">
            <a:spLocks/>
          </p:cNvSpPr>
          <p:nvPr/>
        </p:nvSpPr>
        <p:spPr>
          <a:xfrm>
            <a:off x="185737" y="228600"/>
            <a:ext cx="1005840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dirty="0">
                <a:solidFill>
                  <a:schemeClr val="bg1"/>
                </a:solidFill>
              </a:rPr>
              <a:t>Why Citation Matters</a:t>
            </a:r>
          </a:p>
        </p:txBody>
      </p:sp>
      <p:sp>
        <p:nvSpPr>
          <p:cNvPr id="5" name="TextBox 4">
            <a:extLst>
              <a:ext uri="{FF2B5EF4-FFF2-40B4-BE49-F238E27FC236}">
                <a16:creationId xmlns:a16="http://schemas.microsoft.com/office/drawing/2014/main" id="{756F50B2-AE63-8794-58C7-5D53C5681FC6}"/>
              </a:ext>
            </a:extLst>
          </p:cNvPr>
          <p:cNvSpPr txBox="1"/>
          <p:nvPr/>
        </p:nvSpPr>
        <p:spPr>
          <a:xfrm>
            <a:off x="457200" y="1371600"/>
            <a:ext cx="10515600" cy="5016758"/>
          </a:xfrm>
          <a:prstGeom prst="rect">
            <a:avLst/>
          </a:prstGeom>
          <a:noFill/>
        </p:spPr>
        <p:txBody>
          <a:bodyPr wrap="square">
            <a:spAutoFit/>
          </a:bodyPr>
          <a:lstStyle/>
          <a:p>
            <a:endParaRPr sz="3200" dirty="0"/>
          </a:p>
          <a:p>
            <a:pPr>
              <a:defRPr sz="1800"/>
            </a:pPr>
            <a:r>
              <a:rPr sz="3200" dirty="0"/>
              <a:t>• Citation</a:t>
            </a:r>
            <a:r>
              <a:rPr lang="en-US" sz="3200" dirty="0"/>
              <a:t>s</a:t>
            </a:r>
            <a:r>
              <a:rPr sz="3200" dirty="0"/>
              <a:t> give</a:t>
            </a:r>
            <a:r>
              <a:rPr lang="en-US" sz="3200" dirty="0"/>
              <a:t>:</a:t>
            </a:r>
          </a:p>
          <a:p>
            <a:pPr marL="914400" lvl="1" indent="-457200">
              <a:buFont typeface="Wingdings" pitchFamily="2" charset="2"/>
              <a:buChar char="ü"/>
              <a:defRPr sz="1800"/>
            </a:pPr>
            <a:r>
              <a:rPr sz="3200" dirty="0"/>
              <a:t> credit to original authors </a:t>
            </a:r>
            <a:endParaRPr lang="en-US" sz="3200" dirty="0"/>
          </a:p>
          <a:p>
            <a:pPr marL="914400" lvl="1" indent="-457200">
              <a:buFont typeface="Wingdings" pitchFamily="2" charset="2"/>
              <a:buChar char="ü"/>
              <a:defRPr sz="1800"/>
            </a:pPr>
            <a:r>
              <a:rPr sz="3200" dirty="0"/>
              <a:t> strengthens your arguments.</a:t>
            </a:r>
            <a:endParaRPr lang="en-US" sz="3200" dirty="0"/>
          </a:p>
          <a:p>
            <a:pPr lvl="1">
              <a:defRPr sz="1800"/>
            </a:pPr>
            <a:endParaRPr sz="3200" dirty="0"/>
          </a:p>
          <a:p>
            <a:pPr>
              <a:defRPr sz="1800"/>
            </a:pPr>
            <a:r>
              <a:rPr sz="3200" dirty="0"/>
              <a:t>• It allows readers to verify sources and explore further reading.</a:t>
            </a:r>
          </a:p>
          <a:p>
            <a:pPr>
              <a:defRPr sz="1800"/>
            </a:pPr>
            <a:r>
              <a:rPr sz="3200" dirty="0"/>
              <a:t>• </a:t>
            </a:r>
            <a:r>
              <a:rPr sz="3200" dirty="0">
                <a:solidFill>
                  <a:srgbClr val="C00000"/>
                </a:solidFill>
              </a:rPr>
              <a:t>Avoiding plagiarism </a:t>
            </a:r>
            <a:r>
              <a:rPr sz="3200" dirty="0"/>
              <a:t>is essential for academic integrity.</a:t>
            </a:r>
          </a:p>
          <a:p>
            <a:pPr>
              <a:defRPr sz="1800"/>
            </a:pPr>
            <a:r>
              <a:rPr sz="3200" dirty="0"/>
              <a:t>Example: Instead of copying text, cite it properly: </a:t>
            </a:r>
            <a:r>
              <a:rPr sz="3200" b="1" dirty="0"/>
              <a:t>(</a:t>
            </a:r>
            <a:r>
              <a:rPr lang="en-US" sz="3200" b="1" dirty="0" err="1"/>
              <a:t>Adrianova</a:t>
            </a:r>
            <a:r>
              <a:rPr sz="3200" b="1" dirty="0"/>
              <a:t>, 202</a:t>
            </a:r>
            <a:r>
              <a:rPr lang="en-US" sz="3200" b="1" dirty="0"/>
              <a:t>4</a:t>
            </a:r>
            <a:r>
              <a:rPr sz="3200" b="1" dirty="0"/>
              <a:t>).</a:t>
            </a:r>
          </a:p>
        </p:txBody>
      </p:sp>
    </p:spTree>
    <p:extLst>
      <p:ext uri="{BB962C8B-B14F-4D97-AF65-F5344CB8AC3E}">
        <p14:creationId xmlns:p14="http://schemas.microsoft.com/office/powerpoint/2010/main" val="3546960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B2CA2-B476-6D66-6F02-1A15B6B67EF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7044081-1083-D313-4853-7D45143ED481}"/>
              </a:ext>
            </a:extLst>
          </p:cNvPr>
          <p:cNvSpPr txBox="1">
            <a:spLocks/>
          </p:cNvSpPr>
          <p:nvPr/>
        </p:nvSpPr>
        <p:spPr>
          <a:xfrm>
            <a:off x="457199" y="274638"/>
            <a:ext cx="10387013"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600" kern="0">
                <a:solidFill>
                  <a:schemeClr val="bg1"/>
                </a:solidFill>
              </a:rPr>
              <a:t>APA 7th In-Text Citation Rules</a:t>
            </a:r>
          </a:p>
        </p:txBody>
      </p:sp>
      <p:sp>
        <p:nvSpPr>
          <p:cNvPr id="7" name="TextBox 6">
            <a:extLst>
              <a:ext uri="{FF2B5EF4-FFF2-40B4-BE49-F238E27FC236}">
                <a16:creationId xmlns:a16="http://schemas.microsoft.com/office/drawing/2014/main" id="{C305CCD6-4B21-0BA6-374D-013EE50E4F44}"/>
              </a:ext>
            </a:extLst>
          </p:cNvPr>
          <p:cNvSpPr txBox="1"/>
          <p:nvPr/>
        </p:nvSpPr>
        <p:spPr>
          <a:xfrm>
            <a:off x="457199" y="1371600"/>
            <a:ext cx="10387013" cy="5016758"/>
          </a:xfrm>
          <a:prstGeom prst="rect">
            <a:avLst/>
          </a:prstGeom>
          <a:noFill/>
        </p:spPr>
        <p:txBody>
          <a:bodyPr wrap="square">
            <a:spAutoFit/>
          </a:bodyPr>
          <a:lstStyle/>
          <a:p>
            <a:endParaRPr sz="3200" dirty="0"/>
          </a:p>
          <a:p>
            <a:pPr>
              <a:defRPr sz="1800"/>
            </a:pPr>
            <a:r>
              <a:rPr sz="3200" dirty="0"/>
              <a:t>• </a:t>
            </a:r>
            <a:r>
              <a:rPr sz="3200" dirty="0">
                <a:solidFill>
                  <a:srgbClr val="C00000"/>
                </a:solidFill>
              </a:rPr>
              <a:t>Author-date format: </a:t>
            </a:r>
            <a:r>
              <a:rPr sz="3200" dirty="0"/>
              <a:t>(Author, Year)</a:t>
            </a:r>
            <a:endParaRPr lang="en-US" sz="3200" dirty="0"/>
          </a:p>
          <a:p>
            <a:pPr>
              <a:defRPr sz="1800"/>
            </a:pPr>
            <a:endParaRPr sz="3200" dirty="0"/>
          </a:p>
          <a:p>
            <a:pPr>
              <a:defRPr sz="1800"/>
            </a:pPr>
            <a:r>
              <a:rPr sz="3200" dirty="0"/>
              <a:t>• </a:t>
            </a:r>
            <a:r>
              <a:rPr sz="3200" dirty="0">
                <a:solidFill>
                  <a:srgbClr val="00B050"/>
                </a:solidFill>
              </a:rPr>
              <a:t>Narrative citation: </a:t>
            </a:r>
            <a:r>
              <a:rPr sz="3200" dirty="0"/>
              <a:t>Author (Year) </a:t>
            </a:r>
            <a:r>
              <a:rPr lang="en-US" sz="3200" dirty="0"/>
              <a:t>recommended that</a:t>
            </a:r>
            <a:r>
              <a:rPr sz="3200" dirty="0"/>
              <a:t>...</a:t>
            </a:r>
            <a:endParaRPr lang="en-US" sz="3200" dirty="0"/>
          </a:p>
          <a:p>
            <a:pPr>
              <a:defRPr sz="1800"/>
            </a:pPr>
            <a:endParaRPr sz="3200" dirty="0"/>
          </a:p>
          <a:p>
            <a:pPr>
              <a:defRPr sz="1800"/>
            </a:pPr>
            <a:r>
              <a:rPr sz="3200" dirty="0"/>
              <a:t>• For 2 authors: (</a:t>
            </a:r>
            <a:r>
              <a:rPr lang="en-US" sz="3200" dirty="0"/>
              <a:t>Raghuveer</a:t>
            </a:r>
            <a:r>
              <a:rPr sz="3200" dirty="0"/>
              <a:t> &amp; Jones, 2021)</a:t>
            </a:r>
            <a:endParaRPr lang="en-US" sz="3200" dirty="0"/>
          </a:p>
          <a:p>
            <a:pPr>
              <a:defRPr sz="1800"/>
            </a:pPr>
            <a:endParaRPr sz="3200" dirty="0"/>
          </a:p>
          <a:p>
            <a:pPr>
              <a:defRPr sz="1800"/>
            </a:pPr>
            <a:r>
              <a:rPr sz="3200" dirty="0"/>
              <a:t>• For 3+ authors: (</a:t>
            </a:r>
            <a:r>
              <a:rPr lang="en-US" sz="3200" dirty="0"/>
              <a:t>Guadalupe</a:t>
            </a:r>
            <a:r>
              <a:rPr sz="3200" dirty="0"/>
              <a:t> et al., 2022).</a:t>
            </a:r>
            <a:endParaRPr lang="en-US" sz="3200" dirty="0"/>
          </a:p>
          <a:p>
            <a:pPr>
              <a:defRPr sz="1800"/>
            </a:pPr>
            <a:endParaRPr sz="3200" dirty="0"/>
          </a:p>
          <a:p>
            <a:pPr>
              <a:defRPr sz="1800"/>
            </a:pPr>
            <a:r>
              <a:rPr sz="3200" dirty="0">
                <a:solidFill>
                  <a:srgbClr val="C00000"/>
                </a:solidFill>
              </a:rPr>
              <a:t>Example: </a:t>
            </a:r>
            <a:r>
              <a:rPr sz="3200" dirty="0"/>
              <a:t>(Johnson, 2020) or Johnson (2020) argues...</a:t>
            </a:r>
          </a:p>
        </p:txBody>
      </p:sp>
    </p:spTree>
    <p:extLst>
      <p:ext uri="{BB962C8B-B14F-4D97-AF65-F5344CB8AC3E}">
        <p14:creationId xmlns:p14="http://schemas.microsoft.com/office/powerpoint/2010/main" val="236610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B866-5316-B3C3-D6B4-816B063BE33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D5F87CC-23DC-D467-C036-E2C81CD7973F}"/>
              </a:ext>
            </a:extLst>
          </p:cNvPr>
          <p:cNvSpPr txBox="1">
            <a:spLocks/>
          </p:cNvSpPr>
          <p:nvPr/>
        </p:nvSpPr>
        <p:spPr>
          <a:xfrm>
            <a:off x="457200" y="274638"/>
            <a:ext cx="822960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kern="0" dirty="0">
                <a:solidFill>
                  <a:schemeClr val="bg1"/>
                </a:solidFill>
              </a:rPr>
              <a:t>APA 7th Reference List Formatting</a:t>
            </a:r>
          </a:p>
        </p:txBody>
      </p:sp>
      <p:sp>
        <p:nvSpPr>
          <p:cNvPr id="5" name="TextBox 4">
            <a:extLst>
              <a:ext uri="{FF2B5EF4-FFF2-40B4-BE49-F238E27FC236}">
                <a16:creationId xmlns:a16="http://schemas.microsoft.com/office/drawing/2014/main" id="{CCB3DF5D-9072-2958-2ABC-1A0E441CC933}"/>
              </a:ext>
            </a:extLst>
          </p:cNvPr>
          <p:cNvSpPr txBox="1"/>
          <p:nvPr/>
        </p:nvSpPr>
        <p:spPr>
          <a:xfrm>
            <a:off x="457199" y="1371600"/>
            <a:ext cx="10329863" cy="5262979"/>
          </a:xfrm>
          <a:prstGeom prst="rect">
            <a:avLst/>
          </a:prstGeom>
          <a:noFill/>
        </p:spPr>
        <p:txBody>
          <a:bodyPr wrap="square">
            <a:spAutoFit/>
          </a:bodyPr>
          <a:lstStyle/>
          <a:p>
            <a:endParaRPr sz="2800" b="1" dirty="0"/>
          </a:p>
          <a:p>
            <a:pPr>
              <a:defRPr sz="1800"/>
            </a:pPr>
            <a:r>
              <a:rPr lang="en-US" sz="2800" b="1" dirty="0"/>
              <a:t>Reference List:</a:t>
            </a:r>
          </a:p>
          <a:p>
            <a:pPr marL="1371600" lvl="2" indent="-457200">
              <a:buFont typeface="Arial" panose="020B0604020202020204" pitchFamily="34" charset="0"/>
              <a:buChar char="•"/>
              <a:defRPr sz="1800"/>
            </a:pPr>
            <a:r>
              <a:rPr sz="2800" dirty="0"/>
              <a:t>References</a:t>
            </a:r>
            <a:r>
              <a:rPr lang="en-US" sz="2800" dirty="0"/>
              <a:t> always</a:t>
            </a:r>
            <a:r>
              <a:rPr sz="2800" dirty="0"/>
              <a:t> start on </a:t>
            </a:r>
            <a:r>
              <a:rPr sz="2800" dirty="0">
                <a:solidFill>
                  <a:srgbClr val="C00000"/>
                </a:solidFill>
              </a:rPr>
              <a:t>a new page</a:t>
            </a:r>
            <a:r>
              <a:rPr sz="2800" dirty="0"/>
              <a:t>, </a:t>
            </a:r>
            <a:r>
              <a:rPr sz="2800" dirty="0">
                <a:solidFill>
                  <a:srgbClr val="C00000"/>
                </a:solidFill>
              </a:rPr>
              <a:t>double-spaced, hanging indent</a:t>
            </a:r>
            <a:r>
              <a:rPr sz="2800" dirty="0"/>
              <a:t>.</a:t>
            </a:r>
            <a:endParaRPr lang="en-US" sz="2800" dirty="0"/>
          </a:p>
          <a:p>
            <a:pPr lvl="2">
              <a:defRPr sz="1800"/>
            </a:pPr>
            <a:endParaRPr sz="2800" dirty="0"/>
          </a:p>
          <a:p>
            <a:pPr>
              <a:defRPr sz="1800"/>
            </a:pPr>
            <a:r>
              <a:rPr sz="2800" b="1" dirty="0"/>
              <a:t>• Format: </a:t>
            </a:r>
            <a:r>
              <a:rPr sz="2800" dirty="0"/>
              <a:t>Author, A. A. (Year). </a:t>
            </a:r>
            <a:r>
              <a:rPr sz="2800" i="1" dirty="0"/>
              <a:t>Title in italics</a:t>
            </a:r>
            <a:r>
              <a:rPr sz="2800" dirty="0"/>
              <a:t>. Publisher.</a:t>
            </a:r>
            <a:endParaRPr lang="en-US" sz="2800" dirty="0"/>
          </a:p>
          <a:p>
            <a:pPr>
              <a:defRPr sz="1800"/>
            </a:pPr>
            <a:endParaRPr sz="2800" b="1" dirty="0"/>
          </a:p>
          <a:p>
            <a:pPr>
              <a:defRPr sz="1800"/>
            </a:pPr>
            <a:r>
              <a:rPr sz="2800" b="1" dirty="0"/>
              <a:t>• Journal</a:t>
            </a:r>
            <a:r>
              <a:rPr lang="en-US" sz="2800" b="1" dirty="0"/>
              <a:t>/Magazine</a:t>
            </a:r>
            <a:r>
              <a:rPr sz="2800" b="1" dirty="0"/>
              <a:t> article: </a:t>
            </a:r>
            <a:r>
              <a:rPr sz="2800" dirty="0"/>
              <a:t>Author, A. A. (Year). Title. </a:t>
            </a:r>
            <a:r>
              <a:rPr sz="2800" i="1" dirty="0"/>
              <a:t>Journal</a:t>
            </a:r>
            <a:r>
              <a:rPr lang="en-US" sz="2800" i="1" dirty="0"/>
              <a:t>/Magazine Name</a:t>
            </a:r>
            <a:r>
              <a:rPr sz="2800" dirty="0"/>
              <a:t>, volume(issue), pages.</a:t>
            </a:r>
            <a:endParaRPr lang="en-US" sz="2800" dirty="0"/>
          </a:p>
          <a:p>
            <a:pPr>
              <a:defRPr sz="1800"/>
            </a:pPr>
            <a:endParaRPr sz="2800" dirty="0"/>
          </a:p>
          <a:p>
            <a:pPr>
              <a:defRPr sz="1800"/>
            </a:pPr>
            <a:r>
              <a:rPr sz="2800" b="1" dirty="0">
                <a:solidFill>
                  <a:srgbClr val="C00000"/>
                </a:solidFill>
              </a:rPr>
              <a:t>Example: </a:t>
            </a:r>
            <a:r>
              <a:rPr lang="en-US" sz="2800" dirty="0" err="1"/>
              <a:t>Nwaobi</a:t>
            </a:r>
            <a:r>
              <a:rPr sz="2800" dirty="0"/>
              <a:t>, L. (202</a:t>
            </a:r>
            <a:r>
              <a:rPr lang="en-US" sz="2800" dirty="0"/>
              <a:t>5</a:t>
            </a:r>
            <a:r>
              <a:rPr sz="2800" dirty="0"/>
              <a:t>). </a:t>
            </a:r>
            <a:r>
              <a:rPr lang="en-US" sz="2800" i="1" dirty="0"/>
              <a:t>Reading a P&amp;L report for non-financial managers</a:t>
            </a:r>
            <a:r>
              <a:rPr sz="2800" i="1" dirty="0"/>
              <a:t>. </a:t>
            </a:r>
            <a:r>
              <a:rPr sz="2800" dirty="0"/>
              <a:t>Oxford University Press.</a:t>
            </a:r>
          </a:p>
        </p:txBody>
      </p:sp>
    </p:spTree>
    <p:extLst>
      <p:ext uri="{BB962C8B-B14F-4D97-AF65-F5344CB8AC3E}">
        <p14:creationId xmlns:p14="http://schemas.microsoft.com/office/powerpoint/2010/main" val="3016668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9FC6E-60EC-BF76-B8C9-93748FB889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C82AD66-BF7B-1589-C273-A82948F3B30E}"/>
              </a:ext>
            </a:extLst>
          </p:cNvPr>
          <p:cNvSpPr txBox="1">
            <a:spLocks/>
          </p:cNvSpPr>
          <p:nvPr/>
        </p:nvSpPr>
        <p:spPr>
          <a:xfrm>
            <a:off x="142874" y="228600"/>
            <a:ext cx="9644063"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kern="0" dirty="0">
                <a:solidFill>
                  <a:schemeClr val="bg1"/>
                </a:solidFill>
              </a:rPr>
              <a:t>Common Citation Mistakes &amp; How to Fix Them</a:t>
            </a:r>
          </a:p>
        </p:txBody>
      </p:sp>
      <p:sp>
        <p:nvSpPr>
          <p:cNvPr id="5" name="TextBox 4">
            <a:extLst>
              <a:ext uri="{FF2B5EF4-FFF2-40B4-BE49-F238E27FC236}">
                <a16:creationId xmlns:a16="http://schemas.microsoft.com/office/drawing/2014/main" id="{6884EF0C-17C2-4623-1E48-D172B186C903}"/>
              </a:ext>
            </a:extLst>
          </p:cNvPr>
          <p:cNvSpPr txBox="1"/>
          <p:nvPr/>
        </p:nvSpPr>
        <p:spPr>
          <a:xfrm>
            <a:off x="457199" y="1371600"/>
            <a:ext cx="10529889" cy="5016758"/>
          </a:xfrm>
          <a:prstGeom prst="rect">
            <a:avLst/>
          </a:prstGeom>
          <a:noFill/>
        </p:spPr>
        <p:txBody>
          <a:bodyPr wrap="square">
            <a:spAutoFit/>
          </a:bodyPr>
          <a:lstStyle/>
          <a:p>
            <a:endParaRPr sz="3200" dirty="0"/>
          </a:p>
          <a:p>
            <a:pPr marL="457200" indent="-457200">
              <a:buFont typeface="Wingdings" pitchFamily="2" charset="2"/>
              <a:buChar char="q"/>
              <a:defRPr sz="1800"/>
            </a:pPr>
            <a:r>
              <a:rPr sz="3200" dirty="0"/>
              <a:t>Missing author or date → Use (n.d.) or 'Anonymous'</a:t>
            </a:r>
            <a:endParaRPr lang="en-US" sz="3200" dirty="0"/>
          </a:p>
          <a:p>
            <a:pPr>
              <a:defRPr sz="1800"/>
            </a:pPr>
            <a:endParaRPr sz="3200" dirty="0"/>
          </a:p>
          <a:p>
            <a:pPr marL="457200" indent="-457200">
              <a:buFont typeface="Wingdings" pitchFamily="2" charset="2"/>
              <a:buChar char="q"/>
              <a:defRPr sz="1800"/>
            </a:pPr>
            <a:r>
              <a:rPr sz="3200" dirty="0"/>
              <a:t>Incorrect punctuation → Follow APA rules strictly</a:t>
            </a:r>
            <a:endParaRPr lang="en-US" sz="3200" dirty="0"/>
          </a:p>
          <a:p>
            <a:pPr>
              <a:defRPr sz="1800"/>
            </a:pPr>
            <a:endParaRPr sz="3200" dirty="0"/>
          </a:p>
          <a:p>
            <a:pPr marL="457200" indent="-457200">
              <a:buFont typeface="Wingdings" pitchFamily="2" charset="2"/>
              <a:buChar char="q"/>
              <a:defRPr sz="1800"/>
            </a:pPr>
            <a:r>
              <a:rPr sz="3200" dirty="0"/>
              <a:t>Inconsistent formatting → Use reference tools like </a:t>
            </a:r>
            <a:r>
              <a:rPr lang="en-US" sz="3200" dirty="0"/>
              <a:t>Mendeley</a:t>
            </a:r>
          </a:p>
          <a:p>
            <a:pPr marL="457200" indent="-457200">
              <a:buFont typeface="Wingdings" pitchFamily="2" charset="2"/>
              <a:buChar char="q"/>
              <a:defRPr sz="1800"/>
            </a:pPr>
            <a:endParaRPr sz="3200" dirty="0"/>
          </a:p>
          <a:p>
            <a:pPr marL="457200" indent="-457200">
              <a:buFont typeface="Wingdings" pitchFamily="2" charset="2"/>
              <a:buChar char="q"/>
              <a:defRPr sz="1800"/>
            </a:pPr>
            <a:r>
              <a:rPr sz="3200" dirty="0"/>
              <a:t>Example mistake: (</a:t>
            </a:r>
            <a:r>
              <a:rPr lang="en-US" sz="3200" dirty="0" err="1">
                <a:solidFill>
                  <a:srgbClr val="C00000"/>
                </a:solidFill>
              </a:rPr>
              <a:t>varaul</a:t>
            </a:r>
            <a:r>
              <a:rPr sz="3200" dirty="0">
                <a:solidFill>
                  <a:srgbClr val="C00000"/>
                </a:solidFill>
              </a:rPr>
              <a:t> 2020</a:t>
            </a:r>
            <a:r>
              <a:rPr sz="3200" dirty="0"/>
              <a:t>) → Correct: (</a:t>
            </a:r>
            <a:r>
              <a:rPr lang="en-US" sz="3200" dirty="0" err="1">
                <a:solidFill>
                  <a:srgbClr val="00B050"/>
                </a:solidFill>
              </a:rPr>
              <a:t>Varaul</a:t>
            </a:r>
            <a:r>
              <a:rPr sz="3200" dirty="0">
                <a:solidFill>
                  <a:srgbClr val="00B050"/>
                </a:solidFill>
              </a:rPr>
              <a:t>, 2020</a:t>
            </a:r>
            <a:r>
              <a:rPr sz="3200" dirty="0"/>
              <a:t>)</a:t>
            </a:r>
          </a:p>
        </p:txBody>
      </p:sp>
    </p:spTree>
    <p:extLst>
      <p:ext uri="{BB962C8B-B14F-4D97-AF65-F5344CB8AC3E}">
        <p14:creationId xmlns:p14="http://schemas.microsoft.com/office/powerpoint/2010/main" val="102052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005A6-7345-D6E7-DE6E-99EB523C25F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D25F70-4D31-95EB-FD6F-39FF50F50720}"/>
              </a:ext>
            </a:extLst>
          </p:cNvPr>
          <p:cNvSpPr txBox="1">
            <a:spLocks/>
          </p:cNvSpPr>
          <p:nvPr/>
        </p:nvSpPr>
        <p:spPr>
          <a:xfrm>
            <a:off x="523557" y="489330"/>
            <a:ext cx="6363018" cy="439864"/>
          </a:xfrm>
          <a:prstGeom prst="rect">
            <a:avLst/>
          </a:prstGeom>
        </p:spPr>
        <p:txBody>
          <a:bodyPr vert="horz" wrap="square" lIns="0" tIns="16510"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
              <a:spcBef>
                <a:spcPts val="130"/>
              </a:spcBef>
            </a:pPr>
            <a:r>
              <a:rPr lang="en-US" sz="2750" b="1" kern="0" spc="-90" dirty="0">
                <a:solidFill>
                  <a:schemeClr val="bg1"/>
                </a:solidFill>
                <a:latin typeface="+mj-lt"/>
                <a:cs typeface="Verdana"/>
              </a:rPr>
              <a:t>7th</a:t>
            </a:r>
            <a:r>
              <a:rPr lang="en-US" sz="2750" b="1" kern="0" spc="-130" dirty="0">
                <a:solidFill>
                  <a:schemeClr val="bg1"/>
                </a:solidFill>
                <a:latin typeface="+mj-lt"/>
                <a:cs typeface="Verdana"/>
              </a:rPr>
              <a:t> </a:t>
            </a:r>
            <a:r>
              <a:rPr lang="en-US" sz="2750" b="1" kern="0" spc="-60" dirty="0">
                <a:solidFill>
                  <a:schemeClr val="bg1"/>
                </a:solidFill>
                <a:latin typeface="+mj-lt"/>
                <a:cs typeface="Verdana"/>
              </a:rPr>
              <a:t>Edition</a:t>
            </a:r>
            <a:r>
              <a:rPr lang="en-US" sz="2750" b="1" kern="0" spc="-130" dirty="0">
                <a:solidFill>
                  <a:schemeClr val="bg1"/>
                </a:solidFill>
                <a:latin typeface="+mj-lt"/>
                <a:cs typeface="Verdana"/>
              </a:rPr>
              <a:t> </a:t>
            </a:r>
            <a:r>
              <a:rPr lang="en-US" sz="2750" b="1" kern="0" dirty="0">
                <a:solidFill>
                  <a:schemeClr val="bg1"/>
                </a:solidFill>
                <a:latin typeface="+mj-lt"/>
                <a:cs typeface="Verdana"/>
              </a:rPr>
              <a:t>APA</a:t>
            </a:r>
            <a:r>
              <a:rPr lang="en-US" sz="2750" b="1" kern="0" spc="-114" dirty="0">
                <a:solidFill>
                  <a:schemeClr val="bg1"/>
                </a:solidFill>
                <a:latin typeface="+mj-lt"/>
                <a:cs typeface="Verdana"/>
              </a:rPr>
              <a:t> </a:t>
            </a:r>
            <a:r>
              <a:rPr lang="en-US" sz="2750" b="1" kern="0" spc="-60" dirty="0">
                <a:solidFill>
                  <a:schemeClr val="bg1"/>
                </a:solidFill>
                <a:latin typeface="+mj-lt"/>
                <a:cs typeface="Verdana"/>
              </a:rPr>
              <a:t>Referencing</a:t>
            </a:r>
            <a:endParaRPr lang="en-US" sz="2750" kern="0" dirty="0">
              <a:solidFill>
                <a:schemeClr val="bg1"/>
              </a:solidFill>
              <a:latin typeface="+mj-lt"/>
              <a:cs typeface="Verdana"/>
            </a:endParaRPr>
          </a:p>
        </p:txBody>
      </p:sp>
      <p:sp>
        <p:nvSpPr>
          <p:cNvPr id="3" name="object 3">
            <a:extLst>
              <a:ext uri="{FF2B5EF4-FFF2-40B4-BE49-F238E27FC236}">
                <a16:creationId xmlns:a16="http://schemas.microsoft.com/office/drawing/2014/main" id="{C0E3951D-9B8F-F188-EB83-6A4E658BD49C}"/>
              </a:ext>
            </a:extLst>
          </p:cNvPr>
          <p:cNvSpPr txBox="1"/>
          <p:nvPr/>
        </p:nvSpPr>
        <p:spPr>
          <a:xfrm>
            <a:off x="559117" y="1348486"/>
            <a:ext cx="3870008"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mj-lt"/>
                <a:cs typeface="Segoe UI"/>
              </a:rPr>
              <a:t>Noteworthy</a:t>
            </a:r>
            <a:r>
              <a:rPr sz="2000" spc="50" dirty="0">
                <a:latin typeface="+mj-lt"/>
                <a:cs typeface="Segoe UI"/>
              </a:rPr>
              <a:t> </a:t>
            </a:r>
            <a:r>
              <a:rPr sz="2000" dirty="0">
                <a:latin typeface="+mj-lt"/>
                <a:cs typeface="Segoe UI"/>
              </a:rPr>
              <a:t>differences</a:t>
            </a:r>
            <a:r>
              <a:rPr sz="2000" spc="-165" dirty="0">
                <a:latin typeface="+mj-lt"/>
                <a:cs typeface="Segoe UI"/>
              </a:rPr>
              <a:t> </a:t>
            </a:r>
            <a:r>
              <a:rPr sz="2000" spc="-10" dirty="0">
                <a:latin typeface="+mj-lt"/>
                <a:cs typeface="Segoe UI"/>
              </a:rPr>
              <a:t>include:</a:t>
            </a:r>
            <a:endParaRPr sz="2000" dirty="0">
              <a:latin typeface="+mj-lt"/>
              <a:cs typeface="Segoe UI"/>
            </a:endParaRPr>
          </a:p>
        </p:txBody>
      </p:sp>
      <p:pic>
        <p:nvPicPr>
          <p:cNvPr id="4" name="object 4">
            <a:extLst>
              <a:ext uri="{FF2B5EF4-FFF2-40B4-BE49-F238E27FC236}">
                <a16:creationId xmlns:a16="http://schemas.microsoft.com/office/drawing/2014/main" id="{B84CDE7B-C21F-DE90-813E-6B289B09B532}"/>
              </a:ext>
            </a:extLst>
          </p:cNvPr>
          <p:cNvPicPr/>
          <p:nvPr/>
        </p:nvPicPr>
        <p:blipFill>
          <a:blip r:embed="rId2" cstate="print"/>
          <a:stretch>
            <a:fillRect/>
          </a:stretch>
        </p:blipFill>
        <p:spPr>
          <a:xfrm>
            <a:off x="559117" y="1752599"/>
            <a:ext cx="9537383" cy="4616072"/>
          </a:xfrm>
          <a:prstGeom prst="rect">
            <a:avLst/>
          </a:prstGeom>
        </p:spPr>
      </p:pic>
    </p:spTree>
    <p:extLst>
      <p:ext uri="{BB962C8B-B14F-4D97-AF65-F5344CB8AC3E}">
        <p14:creationId xmlns:p14="http://schemas.microsoft.com/office/powerpoint/2010/main" val="1737633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7064-00AE-3896-0516-3F532B39F9ED}"/>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70C8F2EA-0B69-DDD1-624A-9AD2AA6F8745}"/>
              </a:ext>
            </a:extLst>
          </p:cNvPr>
          <p:cNvSpPr txBox="1">
            <a:spLocks/>
          </p:cNvSpPr>
          <p:nvPr/>
        </p:nvSpPr>
        <p:spPr>
          <a:xfrm>
            <a:off x="0" y="160019"/>
            <a:ext cx="9797732" cy="744178"/>
          </a:xfrm>
          <a:prstGeom prst="rect">
            <a:avLst/>
          </a:prstGeom>
        </p:spPr>
        <p:txBody>
          <a:bodyPr vert="horz" wrap="square" lIns="0" tIns="249301"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87045">
              <a:spcBef>
                <a:spcPts val="130"/>
              </a:spcBef>
            </a:pPr>
            <a:r>
              <a:rPr lang="en-US" sz="3200" b="1" kern="0" spc="-85" dirty="0">
                <a:solidFill>
                  <a:schemeClr val="bg1"/>
                </a:solidFill>
                <a:latin typeface="Verdana"/>
                <a:cs typeface="Verdana"/>
              </a:rPr>
              <a:t>Additional</a:t>
            </a:r>
            <a:r>
              <a:rPr lang="en-US" sz="3200" b="1" kern="0" spc="-459" dirty="0">
                <a:solidFill>
                  <a:schemeClr val="bg1"/>
                </a:solidFill>
                <a:latin typeface="Verdana"/>
                <a:cs typeface="Verdana"/>
              </a:rPr>
              <a:t> </a:t>
            </a:r>
            <a:r>
              <a:rPr lang="en-US" sz="3200" b="1" kern="0" spc="-65" dirty="0">
                <a:solidFill>
                  <a:schemeClr val="bg1"/>
                </a:solidFill>
                <a:latin typeface="Verdana"/>
                <a:cs typeface="Verdana"/>
              </a:rPr>
              <a:t>Changes</a:t>
            </a:r>
            <a:r>
              <a:rPr lang="en-US" sz="3200" b="1" kern="0" spc="-300" dirty="0">
                <a:solidFill>
                  <a:schemeClr val="bg1"/>
                </a:solidFill>
                <a:latin typeface="Verdana"/>
                <a:cs typeface="Verdana"/>
              </a:rPr>
              <a:t> </a:t>
            </a:r>
            <a:r>
              <a:rPr lang="en-US" sz="3200" b="1" kern="0" spc="-110" dirty="0">
                <a:solidFill>
                  <a:schemeClr val="bg1"/>
                </a:solidFill>
                <a:latin typeface="Verdana"/>
                <a:cs typeface="Verdana"/>
              </a:rPr>
              <a:t>in</a:t>
            </a:r>
            <a:r>
              <a:rPr lang="en-US" sz="3200" b="1" kern="0" spc="-215" dirty="0">
                <a:solidFill>
                  <a:schemeClr val="bg1"/>
                </a:solidFill>
                <a:latin typeface="Verdana"/>
                <a:cs typeface="Verdana"/>
              </a:rPr>
              <a:t> </a:t>
            </a:r>
            <a:r>
              <a:rPr lang="en-US" sz="3200" b="1" kern="0" spc="-70" dirty="0">
                <a:solidFill>
                  <a:schemeClr val="bg1"/>
                </a:solidFill>
                <a:latin typeface="Verdana"/>
                <a:cs typeface="Verdana"/>
              </a:rPr>
              <a:t>the</a:t>
            </a:r>
            <a:r>
              <a:rPr lang="en-US" sz="3200" b="1" kern="0" spc="-240" dirty="0">
                <a:solidFill>
                  <a:schemeClr val="bg1"/>
                </a:solidFill>
                <a:latin typeface="Verdana"/>
                <a:cs typeface="Verdana"/>
              </a:rPr>
              <a:t> </a:t>
            </a:r>
            <a:r>
              <a:rPr lang="en-US" sz="3200" b="1" kern="0" spc="-120" dirty="0">
                <a:solidFill>
                  <a:schemeClr val="bg1"/>
                </a:solidFill>
                <a:latin typeface="Verdana"/>
                <a:cs typeface="Verdana"/>
              </a:rPr>
              <a:t>7th</a:t>
            </a:r>
            <a:r>
              <a:rPr lang="en-US" sz="3200" b="1" kern="0" spc="-290" dirty="0">
                <a:solidFill>
                  <a:schemeClr val="bg1"/>
                </a:solidFill>
                <a:latin typeface="Verdana"/>
                <a:cs typeface="Verdana"/>
              </a:rPr>
              <a:t> </a:t>
            </a:r>
            <a:r>
              <a:rPr lang="en-US" sz="3200" b="1" kern="0" spc="-125" dirty="0">
                <a:solidFill>
                  <a:schemeClr val="bg1"/>
                </a:solidFill>
                <a:latin typeface="Verdana"/>
                <a:cs typeface="Verdana"/>
              </a:rPr>
              <a:t>Ed.</a:t>
            </a:r>
            <a:r>
              <a:rPr lang="en-US" sz="3200" b="1" kern="0" spc="-175" dirty="0">
                <a:solidFill>
                  <a:schemeClr val="bg1"/>
                </a:solidFill>
                <a:latin typeface="Verdana"/>
                <a:cs typeface="Verdana"/>
              </a:rPr>
              <a:t> </a:t>
            </a:r>
            <a:r>
              <a:rPr lang="en-US" sz="3200" b="1" kern="0" spc="-25" dirty="0">
                <a:solidFill>
                  <a:schemeClr val="bg1"/>
                </a:solidFill>
                <a:latin typeface="Verdana"/>
                <a:cs typeface="Verdana"/>
              </a:rPr>
              <a:t>APA</a:t>
            </a:r>
            <a:endParaRPr lang="en-US" sz="3200" kern="0" dirty="0">
              <a:solidFill>
                <a:schemeClr val="bg1"/>
              </a:solidFill>
              <a:latin typeface="Verdana"/>
              <a:cs typeface="Verdana"/>
            </a:endParaRPr>
          </a:p>
        </p:txBody>
      </p:sp>
      <p:sp>
        <p:nvSpPr>
          <p:cNvPr id="4" name="object 3">
            <a:extLst>
              <a:ext uri="{FF2B5EF4-FFF2-40B4-BE49-F238E27FC236}">
                <a16:creationId xmlns:a16="http://schemas.microsoft.com/office/drawing/2014/main" id="{AD07164B-2608-7989-FC8F-E1AD9FB874EC}"/>
              </a:ext>
            </a:extLst>
          </p:cNvPr>
          <p:cNvSpPr txBox="1"/>
          <p:nvPr/>
        </p:nvSpPr>
        <p:spPr>
          <a:xfrm>
            <a:off x="625476" y="1486788"/>
            <a:ext cx="5285105" cy="392430"/>
          </a:xfrm>
          <a:prstGeom prst="rect">
            <a:avLst/>
          </a:prstGeom>
        </p:spPr>
        <p:txBody>
          <a:bodyPr vert="horz" wrap="square" lIns="0" tIns="13335" rIns="0" bIns="0" rtlCol="0">
            <a:spAutoFit/>
          </a:bodyPr>
          <a:lstStyle/>
          <a:p>
            <a:pPr marL="12700">
              <a:lnSpc>
                <a:spcPct val="100000"/>
              </a:lnSpc>
              <a:spcBef>
                <a:spcPts val="105"/>
              </a:spcBef>
            </a:pPr>
            <a:r>
              <a:rPr sz="2400" b="1" i="1" spc="-275" dirty="0">
                <a:solidFill>
                  <a:srgbClr val="1F2E66"/>
                </a:solidFill>
                <a:latin typeface="Verdana"/>
                <a:cs typeface="Verdana"/>
              </a:rPr>
              <a:t>2.</a:t>
            </a:r>
            <a:r>
              <a:rPr sz="2400" b="1" i="1" spc="-150" dirty="0">
                <a:solidFill>
                  <a:srgbClr val="1F2E66"/>
                </a:solidFill>
                <a:latin typeface="Verdana"/>
                <a:cs typeface="Verdana"/>
              </a:rPr>
              <a:t> </a:t>
            </a:r>
            <a:r>
              <a:rPr sz="2400" b="1" i="1" spc="-275" dirty="0">
                <a:solidFill>
                  <a:srgbClr val="1F2E66"/>
                </a:solidFill>
                <a:latin typeface="Verdana"/>
                <a:cs typeface="Verdana"/>
              </a:rPr>
              <a:t>In-</a:t>
            </a:r>
            <a:r>
              <a:rPr sz="2400" b="1" i="1" spc="-95" dirty="0">
                <a:solidFill>
                  <a:srgbClr val="1F2E66"/>
                </a:solidFill>
                <a:latin typeface="Verdana"/>
                <a:cs typeface="Verdana"/>
              </a:rPr>
              <a:t>text</a:t>
            </a:r>
            <a:r>
              <a:rPr sz="2400" b="1" i="1" spc="-120" dirty="0">
                <a:solidFill>
                  <a:srgbClr val="1F2E66"/>
                </a:solidFill>
                <a:latin typeface="Verdana"/>
                <a:cs typeface="Verdana"/>
              </a:rPr>
              <a:t> </a:t>
            </a:r>
            <a:r>
              <a:rPr sz="2400" b="1" i="1" spc="-60" dirty="0">
                <a:solidFill>
                  <a:srgbClr val="1F2E66"/>
                </a:solidFill>
                <a:latin typeface="Verdana"/>
                <a:cs typeface="Verdana"/>
              </a:rPr>
              <a:t>citations</a:t>
            </a:r>
            <a:r>
              <a:rPr sz="2400" b="1" i="1" spc="-130" dirty="0">
                <a:solidFill>
                  <a:srgbClr val="1F2E66"/>
                </a:solidFill>
                <a:latin typeface="Verdana"/>
                <a:cs typeface="Verdana"/>
              </a:rPr>
              <a:t> </a:t>
            </a:r>
            <a:r>
              <a:rPr sz="2400" b="1" i="1" spc="-70" dirty="0">
                <a:solidFill>
                  <a:srgbClr val="1F2E66"/>
                </a:solidFill>
                <a:latin typeface="Verdana"/>
                <a:cs typeface="Verdana"/>
              </a:rPr>
              <a:t>are</a:t>
            </a:r>
            <a:r>
              <a:rPr sz="2400" b="1" i="1" spc="-130" dirty="0">
                <a:solidFill>
                  <a:srgbClr val="1F2E66"/>
                </a:solidFill>
                <a:latin typeface="Verdana"/>
                <a:cs typeface="Verdana"/>
              </a:rPr>
              <a:t> </a:t>
            </a:r>
            <a:r>
              <a:rPr sz="2400" b="1" i="1" spc="-75" dirty="0">
                <a:solidFill>
                  <a:srgbClr val="1F2E66"/>
                </a:solidFill>
                <a:latin typeface="Verdana"/>
                <a:cs typeface="Verdana"/>
              </a:rPr>
              <a:t>shortened</a:t>
            </a:r>
            <a:endParaRPr sz="2400" dirty="0">
              <a:latin typeface="Verdana"/>
              <a:cs typeface="Verdana"/>
            </a:endParaRPr>
          </a:p>
        </p:txBody>
      </p:sp>
      <p:sp>
        <p:nvSpPr>
          <p:cNvPr id="5" name="object 4">
            <a:extLst>
              <a:ext uri="{FF2B5EF4-FFF2-40B4-BE49-F238E27FC236}">
                <a16:creationId xmlns:a16="http://schemas.microsoft.com/office/drawing/2014/main" id="{CB119C13-9CAE-60EC-57F2-0D37AA5FAF6D}"/>
              </a:ext>
            </a:extLst>
          </p:cNvPr>
          <p:cNvSpPr txBox="1"/>
          <p:nvPr/>
        </p:nvSpPr>
        <p:spPr>
          <a:xfrm>
            <a:off x="623888" y="4077589"/>
            <a:ext cx="9866630" cy="2146300"/>
          </a:xfrm>
          <a:prstGeom prst="rect">
            <a:avLst/>
          </a:prstGeom>
        </p:spPr>
        <p:txBody>
          <a:bodyPr vert="horz" wrap="square" lIns="0" tIns="13335" rIns="0" bIns="0" rtlCol="0">
            <a:spAutoFit/>
          </a:bodyPr>
          <a:lstStyle/>
          <a:p>
            <a:pPr marL="356235" indent="-343535">
              <a:lnSpc>
                <a:spcPct val="100000"/>
              </a:lnSpc>
              <a:spcBef>
                <a:spcPts val="105"/>
              </a:spcBef>
              <a:buAutoNum type="arabicPeriod" startAt="3"/>
              <a:tabLst>
                <a:tab pos="356235" algn="l"/>
              </a:tabLst>
            </a:pPr>
            <a:r>
              <a:rPr sz="2400" b="1" i="1" spc="-50" dirty="0">
                <a:solidFill>
                  <a:srgbClr val="1F2E66"/>
                </a:solidFill>
                <a:latin typeface="Verdana"/>
                <a:cs typeface="Verdana"/>
              </a:rPr>
              <a:t>Up</a:t>
            </a:r>
            <a:r>
              <a:rPr sz="2400" b="1" i="1" spc="-140" dirty="0">
                <a:solidFill>
                  <a:srgbClr val="1F2E66"/>
                </a:solidFill>
                <a:latin typeface="Verdana"/>
                <a:cs typeface="Verdana"/>
              </a:rPr>
              <a:t> </a:t>
            </a:r>
            <a:r>
              <a:rPr sz="2400" b="1" i="1" spc="-70" dirty="0">
                <a:solidFill>
                  <a:srgbClr val="1F2E66"/>
                </a:solidFill>
                <a:latin typeface="Verdana"/>
                <a:cs typeface="Verdana"/>
              </a:rPr>
              <a:t>to</a:t>
            </a:r>
            <a:r>
              <a:rPr sz="2400" b="1" i="1" spc="-130" dirty="0">
                <a:solidFill>
                  <a:srgbClr val="1F2E66"/>
                </a:solidFill>
                <a:latin typeface="Verdana"/>
                <a:cs typeface="Verdana"/>
              </a:rPr>
              <a:t> </a:t>
            </a:r>
            <a:r>
              <a:rPr sz="2400" b="1" i="1" spc="-195" dirty="0">
                <a:solidFill>
                  <a:srgbClr val="1F2E66"/>
                </a:solidFill>
                <a:latin typeface="Verdana"/>
                <a:cs typeface="Verdana"/>
              </a:rPr>
              <a:t>20</a:t>
            </a:r>
            <a:r>
              <a:rPr sz="2400" b="1" i="1" spc="-114" dirty="0">
                <a:solidFill>
                  <a:srgbClr val="1F2E66"/>
                </a:solidFill>
                <a:latin typeface="Verdana"/>
                <a:cs typeface="Verdana"/>
              </a:rPr>
              <a:t> </a:t>
            </a:r>
            <a:r>
              <a:rPr sz="2400" b="1" i="1" spc="-80" dirty="0">
                <a:solidFill>
                  <a:srgbClr val="1F2E66"/>
                </a:solidFill>
                <a:latin typeface="Verdana"/>
                <a:cs typeface="Verdana"/>
              </a:rPr>
              <a:t>authors</a:t>
            </a:r>
            <a:r>
              <a:rPr sz="2400" b="1" i="1" spc="-135" dirty="0">
                <a:solidFill>
                  <a:srgbClr val="1F2E66"/>
                </a:solidFill>
                <a:latin typeface="Verdana"/>
                <a:cs typeface="Verdana"/>
              </a:rPr>
              <a:t> </a:t>
            </a:r>
            <a:r>
              <a:rPr sz="2400" b="1" i="1" spc="-70" dirty="0">
                <a:solidFill>
                  <a:srgbClr val="1F2E66"/>
                </a:solidFill>
                <a:latin typeface="Verdana"/>
                <a:cs typeface="Verdana"/>
              </a:rPr>
              <a:t>in</a:t>
            </a:r>
            <a:r>
              <a:rPr sz="2400" b="1" i="1" spc="-145" dirty="0">
                <a:solidFill>
                  <a:srgbClr val="1F2E66"/>
                </a:solidFill>
                <a:latin typeface="Verdana"/>
                <a:cs typeface="Verdana"/>
              </a:rPr>
              <a:t> </a:t>
            </a:r>
            <a:r>
              <a:rPr sz="2400" b="1" i="1" spc="-80" dirty="0">
                <a:solidFill>
                  <a:srgbClr val="1F2E66"/>
                </a:solidFill>
                <a:latin typeface="Verdana"/>
                <a:cs typeface="Verdana"/>
              </a:rPr>
              <a:t>the</a:t>
            </a:r>
            <a:r>
              <a:rPr sz="2400" b="1" i="1" spc="-140" dirty="0">
                <a:solidFill>
                  <a:srgbClr val="1F2E66"/>
                </a:solidFill>
                <a:latin typeface="Verdana"/>
                <a:cs typeface="Verdana"/>
              </a:rPr>
              <a:t> </a:t>
            </a:r>
            <a:r>
              <a:rPr sz="2400" b="1" i="1" spc="-105" dirty="0">
                <a:solidFill>
                  <a:srgbClr val="1F2E66"/>
                </a:solidFill>
                <a:latin typeface="Verdana"/>
                <a:cs typeface="Verdana"/>
              </a:rPr>
              <a:t>reference</a:t>
            </a:r>
            <a:r>
              <a:rPr sz="2400" b="1" i="1" spc="-65" dirty="0">
                <a:solidFill>
                  <a:srgbClr val="1F2E66"/>
                </a:solidFill>
                <a:latin typeface="Verdana"/>
                <a:cs typeface="Verdana"/>
              </a:rPr>
              <a:t> </a:t>
            </a:r>
            <a:r>
              <a:rPr sz="2400" b="1" i="1" spc="-20" dirty="0">
                <a:solidFill>
                  <a:srgbClr val="1F2E66"/>
                </a:solidFill>
                <a:latin typeface="Verdana"/>
                <a:cs typeface="Verdana"/>
              </a:rPr>
              <a:t>list</a:t>
            </a:r>
            <a:endParaRPr sz="2400" dirty="0">
              <a:latin typeface="Verdana"/>
              <a:cs typeface="Verdana"/>
            </a:endParaRPr>
          </a:p>
          <a:p>
            <a:pPr marL="485775">
              <a:lnSpc>
                <a:spcPct val="100000"/>
              </a:lnSpc>
              <a:spcBef>
                <a:spcPts val="2330"/>
              </a:spcBef>
            </a:pPr>
            <a:r>
              <a:rPr sz="1550" dirty="0">
                <a:solidFill>
                  <a:srgbClr val="FF6461"/>
                </a:solidFill>
                <a:latin typeface="Segoe UI Symbol"/>
                <a:cs typeface="Segoe UI Symbol"/>
              </a:rPr>
              <a:t>✗</a:t>
            </a:r>
            <a:r>
              <a:rPr sz="1550" dirty="0">
                <a:solidFill>
                  <a:srgbClr val="1B2B68"/>
                </a:solidFill>
                <a:latin typeface="Verdana"/>
                <a:cs typeface="Verdana"/>
              </a:rPr>
              <a:t>Miller,</a:t>
            </a:r>
            <a:r>
              <a:rPr sz="1550" spc="-204" dirty="0">
                <a:solidFill>
                  <a:srgbClr val="1B2B68"/>
                </a:solidFill>
                <a:latin typeface="Verdana"/>
                <a:cs typeface="Verdana"/>
              </a:rPr>
              <a:t> </a:t>
            </a:r>
            <a:r>
              <a:rPr sz="1550" spc="-150" dirty="0">
                <a:solidFill>
                  <a:srgbClr val="1B2B68"/>
                </a:solidFill>
                <a:latin typeface="Verdana"/>
                <a:cs typeface="Verdana"/>
              </a:rPr>
              <a:t>T.</a:t>
            </a:r>
            <a:r>
              <a:rPr sz="1550" spc="-60" dirty="0">
                <a:solidFill>
                  <a:srgbClr val="1B2B68"/>
                </a:solidFill>
                <a:latin typeface="Verdana"/>
                <a:cs typeface="Verdana"/>
              </a:rPr>
              <a:t> </a:t>
            </a:r>
            <a:r>
              <a:rPr sz="1550" spc="-160" dirty="0">
                <a:solidFill>
                  <a:srgbClr val="1B2B68"/>
                </a:solidFill>
                <a:latin typeface="Verdana"/>
                <a:cs typeface="Verdana"/>
              </a:rPr>
              <a:t>C.,</a:t>
            </a:r>
            <a:r>
              <a:rPr sz="1550" spc="-60" dirty="0">
                <a:solidFill>
                  <a:srgbClr val="1B2B68"/>
                </a:solidFill>
                <a:latin typeface="Verdana"/>
                <a:cs typeface="Verdana"/>
              </a:rPr>
              <a:t> </a:t>
            </a:r>
            <a:r>
              <a:rPr sz="1550" dirty="0">
                <a:solidFill>
                  <a:srgbClr val="1B2B68"/>
                </a:solidFill>
                <a:latin typeface="Verdana"/>
                <a:cs typeface="Verdana"/>
              </a:rPr>
              <a:t>Brown,</a:t>
            </a:r>
            <a:r>
              <a:rPr sz="1550" spc="15" dirty="0">
                <a:solidFill>
                  <a:srgbClr val="1B2B68"/>
                </a:solidFill>
                <a:latin typeface="Verdana"/>
                <a:cs typeface="Verdana"/>
              </a:rPr>
              <a:t> </a:t>
            </a:r>
            <a:r>
              <a:rPr sz="1550" dirty="0">
                <a:solidFill>
                  <a:srgbClr val="1B2B68"/>
                </a:solidFill>
                <a:latin typeface="Verdana"/>
                <a:cs typeface="Verdana"/>
              </a:rPr>
              <a:t>M.</a:t>
            </a:r>
            <a:r>
              <a:rPr sz="1550" spc="-60" dirty="0">
                <a:solidFill>
                  <a:srgbClr val="1B2B68"/>
                </a:solidFill>
                <a:latin typeface="Verdana"/>
                <a:cs typeface="Verdana"/>
              </a:rPr>
              <a:t> </a:t>
            </a:r>
            <a:r>
              <a:rPr sz="1550" spc="-135" dirty="0">
                <a:solidFill>
                  <a:srgbClr val="1B2B68"/>
                </a:solidFill>
                <a:latin typeface="Verdana"/>
                <a:cs typeface="Verdana"/>
              </a:rPr>
              <a:t>J., </a:t>
            </a:r>
            <a:r>
              <a:rPr sz="1550" dirty="0">
                <a:solidFill>
                  <a:srgbClr val="1B2B68"/>
                </a:solidFill>
                <a:latin typeface="Verdana"/>
                <a:cs typeface="Verdana"/>
              </a:rPr>
              <a:t>Wilson,</a:t>
            </a:r>
            <a:r>
              <a:rPr sz="1550" spc="-60" dirty="0">
                <a:solidFill>
                  <a:srgbClr val="1B2B68"/>
                </a:solidFill>
                <a:latin typeface="Verdana"/>
                <a:cs typeface="Verdana"/>
              </a:rPr>
              <a:t> </a:t>
            </a:r>
            <a:r>
              <a:rPr sz="1550" spc="-125" dirty="0">
                <a:solidFill>
                  <a:srgbClr val="1B2B68"/>
                </a:solidFill>
                <a:latin typeface="Verdana"/>
                <a:cs typeface="Verdana"/>
              </a:rPr>
              <a:t>G.</a:t>
            </a:r>
            <a:r>
              <a:rPr sz="1550" spc="-60" dirty="0">
                <a:solidFill>
                  <a:srgbClr val="1B2B68"/>
                </a:solidFill>
                <a:latin typeface="Verdana"/>
                <a:cs typeface="Verdana"/>
              </a:rPr>
              <a:t> </a:t>
            </a:r>
            <a:r>
              <a:rPr sz="1550" spc="-165" dirty="0">
                <a:solidFill>
                  <a:srgbClr val="1B2B68"/>
                </a:solidFill>
                <a:latin typeface="Verdana"/>
                <a:cs typeface="Verdana"/>
              </a:rPr>
              <a:t>L.,</a:t>
            </a:r>
            <a:r>
              <a:rPr sz="1550" spc="-55" dirty="0">
                <a:solidFill>
                  <a:srgbClr val="1B2B68"/>
                </a:solidFill>
                <a:latin typeface="Verdana"/>
                <a:cs typeface="Verdana"/>
              </a:rPr>
              <a:t> </a:t>
            </a:r>
            <a:r>
              <a:rPr sz="1550" spc="-20" dirty="0">
                <a:solidFill>
                  <a:srgbClr val="1B2B68"/>
                </a:solidFill>
                <a:latin typeface="Verdana"/>
                <a:cs typeface="Verdana"/>
              </a:rPr>
              <a:t>Evans,</a:t>
            </a:r>
            <a:r>
              <a:rPr sz="1550" spc="90" dirty="0">
                <a:solidFill>
                  <a:srgbClr val="1B2B68"/>
                </a:solidFill>
                <a:latin typeface="Verdana"/>
                <a:cs typeface="Verdana"/>
              </a:rPr>
              <a:t> </a:t>
            </a:r>
            <a:r>
              <a:rPr sz="1550" spc="-60" dirty="0">
                <a:solidFill>
                  <a:srgbClr val="1B2B68"/>
                </a:solidFill>
                <a:latin typeface="Verdana"/>
                <a:cs typeface="Verdana"/>
              </a:rPr>
              <a:t>B.</a:t>
            </a:r>
            <a:r>
              <a:rPr sz="1550" spc="-135" dirty="0">
                <a:solidFill>
                  <a:srgbClr val="1B2B68"/>
                </a:solidFill>
                <a:latin typeface="Verdana"/>
                <a:cs typeface="Verdana"/>
              </a:rPr>
              <a:t> </a:t>
            </a:r>
            <a:r>
              <a:rPr sz="1550" spc="-130" dirty="0">
                <a:solidFill>
                  <a:srgbClr val="1B2B68"/>
                </a:solidFill>
                <a:latin typeface="Verdana"/>
                <a:cs typeface="Verdana"/>
              </a:rPr>
              <a:t>B.,</a:t>
            </a:r>
            <a:r>
              <a:rPr sz="1550" spc="-60" dirty="0">
                <a:solidFill>
                  <a:srgbClr val="1B2B68"/>
                </a:solidFill>
                <a:latin typeface="Verdana"/>
                <a:cs typeface="Verdana"/>
              </a:rPr>
              <a:t> </a:t>
            </a:r>
            <a:r>
              <a:rPr sz="1550" spc="-40" dirty="0">
                <a:solidFill>
                  <a:srgbClr val="1B2B68"/>
                </a:solidFill>
                <a:latin typeface="Verdana"/>
                <a:cs typeface="Verdana"/>
              </a:rPr>
              <a:t>Kelly,</a:t>
            </a:r>
            <a:r>
              <a:rPr sz="1550" spc="-135" dirty="0">
                <a:solidFill>
                  <a:srgbClr val="1B2B68"/>
                </a:solidFill>
                <a:latin typeface="Verdana"/>
                <a:cs typeface="Verdana"/>
              </a:rPr>
              <a:t> </a:t>
            </a:r>
            <a:r>
              <a:rPr sz="1550" spc="-95" dirty="0">
                <a:solidFill>
                  <a:srgbClr val="1B2B68"/>
                </a:solidFill>
                <a:latin typeface="Verdana"/>
                <a:cs typeface="Verdana"/>
              </a:rPr>
              <a:t>R.</a:t>
            </a:r>
            <a:r>
              <a:rPr sz="1550" spc="-60" dirty="0">
                <a:solidFill>
                  <a:srgbClr val="1B2B68"/>
                </a:solidFill>
                <a:latin typeface="Verdana"/>
                <a:cs typeface="Verdana"/>
              </a:rPr>
              <a:t> </a:t>
            </a:r>
            <a:r>
              <a:rPr sz="1550" spc="-204" dirty="0">
                <a:solidFill>
                  <a:srgbClr val="1B2B68"/>
                </a:solidFill>
                <a:latin typeface="Verdana"/>
                <a:cs typeface="Verdana"/>
              </a:rPr>
              <a:t>S.,</a:t>
            </a:r>
            <a:r>
              <a:rPr sz="1550" spc="-60" dirty="0">
                <a:solidFill>
                  <a:srgbClr val="1B2B68"/>
                </a:solidFill>
                <a:latin typeface="Verdana"/>
                <a:cs typeface="Verdana"/>
              </a:rPr>
              <a:t> </a:t>
            </a:r>
            <a:r>
              <a:rPr sz="1550" spc="-20" dirty="0">
                <a:solidFill>
                  <a:srgbClr val="1B2B68"/>
                </a:solidFill>
                <a:latin typeface="Verdana"/>
                <a:cs typeface="Verdana"/>
              </a:rPr>
              <a:t>Turner,</a:t>
            </a:r>
            <a:r>
              <a:rPr sz="1550" spc="15" dirty="0">
                <a:solidFill>
                  <a:srgbClr val="1B2B68"/>
                </a:solidFill>
                <a:latin typeface="Verdana"/>
                <a:cs typeface="Verdana"/>
              </a:rPr>
              <a:t> </a:t>
            </a:r>
            <a:r>
              <a:rPr sz="1550" spc="-165" dirty="0">
                <a:solidFill>
                  <a:srgbClr val="1B2B68"/>
                </a:solidFill>
                <a:latin typeface="Verdana"/>
                <a:cs typeface="Verdana"/>
              </a:rPr>
              <a:t>S.</a:t>
            </a:r>
            <a:r>
              <a:rPr sz="1550" spc="-135" dirty="0">
                <a:solidFill>
                  <a:srgbClr val="1B2B68"/>
                </a:solidFill>
                <a:latin typeface="Verdana"/>
                <a:cs typeface="Verdana"/>
              </a:rPr>
              <a:t> </a:t>
            </a:r>
            <a:r>
              <a:rPr sz="1550" spc="-190" dirty="0">
                <a:solidFill>
                  <a:srgbClr val="1B2B68"/>
                </a:solidFill>
                <a:latin typeface="Verdana"/>
                <a:cs typeface="Verdana"/>
              </a:rPr>
              <a:t>T.,</a:t>
            </a:r>
            <a:r>
              <a:rPr sz="1550" spc="-55" dirty="0">
                <a:solidFill>
                  <a:srgbClr val="1B2B68"/>
                </a:solidFill>
                <a:latin typeface="Verdana"/>
                <a:cs typeface="Verdana"/>
              </a:rPr>
              <a:t> </a:t>
            </a:r>
            <a:r>
              <a:rPr sz="1550" spc="-254" dirty="0">
                <a:solidFill>
                  <a:srgbClr val="1B2B68"/>
                </a:solidFill>
                <a:latin typeface="Verdana"/>
                <a:cs typeface="Verdana"/>
              </a:rPr>
              <a:t>…</a:t>
            </a:r>
            <a:r>
              <a:rPr sz="1550" spc="-140" dirty="0">
                <a:solidFill>
                  <a:srgbClr val="1B2B68"/>
                </a:solidFill>
                <a:latin typeface="Verdana"/>
                <a:cs typeface="Verdana"/>
              </a:rPr>
              <a:t> </a:t>
            </a:r>
            <a:r>
              <a:rPr sz="1550" dirty="0">
                <a:solidFill>
                  <a:srgbClr val="1B2B68"/>
                </a:solidFill>
                <a:latin typeface="Verdana"/>
                <a:cs typeface="Verdana"/>
              </a:rPr>
              <a:t>Nelson,</a:t>
            </a:r>
            <a:r>
              <a:rPr sz="1550" spc="15" dirty="0">
                <a:solidFill>
                  <a:srgbClr val="1B2B68"/>
                </a:solidFill>
                <a:latin typeface="Verdana"/>
                <a:cs typeface="Verdana"/>
              </a:rPr>
              <a:t> </a:t>
            </a:r>
            <a:r>
              <a:rPr sz="1550" spc="-150" dirty="0">
                <a:solidFill>
                  <a:srgbClr val="1B2B68"/>
                </a:solidFill>
                <a:latin typeface="Verdana"/>
                <a:cs typeface="Verdana"/>
              </a:rPr>
              <a:t>T.</a:t>
            </a:r>
            <a:r>
              <a:rPr sz="1550" spc="-135" dirty="0">
                <a:solidFill>
                  <a:srgbClr val="1B2B68"/>
                </a:solidFill>
                <a:latin typeface="Verdana"/>
                <a:cs typeface="Verdana"/>
              </a:rPr>
              <a:t> </a:t>
            </a:r>
            <a:r>
              <a:rPr sz="1550" spc="-25" dirty="0">
                <a:solidFill>
                  <a:srgbClr val="1B2B68"/>
                </a:solidFill>
                <a:latin typeface="Verdana"/>
                <a:cs typeface="Verdana"/>
              </a:rPr>
              <a:t>P.</a:t>
            </a:r>
            <a:endParaRPr sz="1550" dirty="0">
              <a:latin typeface="Verdana"/>
              <a:cs typeface="Verdana"/>
            </a:endParaRPr>
          </a:p>
          <a:p>
            <a:pPr marL="485775">
              <a:lnSpc>
                <a:spcPct val="100000"/>
              </a:lnSpc>
              <a:spcBef>
                <a:spcPts val="95"/>
              </a:spcBef>
            </a:pPr>
            <a:r>
              <a:rPr sz="1550" spc="-10" dirty="0">
                <a:solidFill>
                  <a:srgbClr val="1B2B68"/>
                </a:solidFill>
                <a:latin typeface="Verdana"/>
                <a:cs typeface="Verdana"/>
              </a:rPr>
              <a:t>(2023).</a:t>
            </a:r>
            <a:endParaRPr sz="1550" dirty="0">
              <a:latin typeface="Verdana"/>
              <a:cs typeface="Verdana"/>
            </a:endParaRPr>
          </a:p>
          <a:p>
            <a:pPr>
              <a:lnSpc>
                <a:spcPct val="100000"/>
              </a:lnSpc>
              <a:spcBef>
                <a:spcPts val="85"/>
              </a:spcBef>
            </a:pPr>
            <a:endParaRPr sz="1550" dirty="0">
              <a:latin typeface="Verdana"/>
              <a:cs typeface="Verdana"/>
            </a:endParaRPr>
          </a:p>
          <a:p>
            <a:pPr marL="647065" lvl="1" indent="-161290">
              <a:lnSpc>
                <a:spcPct val="100000"/>
              </a:lnSpc>
              <a:spcBef>
                <a:spcPts val="5"/>
              </a:spcBef>
              <a:buClr>
                <a:srgbClr val="17CDBA"/>
              </a:buClr>
              <a:buFont typeface="Segoe UI Symbol"/>
              <a:buChar char="✓"/>
              <a:tabLst>
                <a:tab pos="647065" algn="l"/>
              </a:tabLst>
            </a:pPr>
            <a:r>
              <a:rPr sz="1550" spc="-10" dirty="0">
                <a:solidFill>
                  <a:srgbClr val="1B2B68"/>
                </a:solidFill>
                <a:latin typeface="Verdana"/>
                <a:cs typeface="Verdana"/>
              </a:rPr>
              <a:t>Miller,</a:t>
            </a:r>
            <a:r>
              <a:rPr sz="1550" spc="-204" dirty="0">
                <a:solidFill>
                  <a:srgbClr val="1B2B68"/>
                </a:solidFill>
                <a:latin typeface="Verdana"/>
                <a:cs typeface="Verdana"/>
              </a:rPr>
              <a:t> </a:t>
            </a:r>
            <a:r>
              <a:rPr sz="1550" spc="-150" dirty="0">
                <a:solidFill>
                  <a:srgbClr val="1B2B68"/>
                </a:solidFill>
                <a:latin typeface="Verdana"/>
                <a:cs typeface="Verdana"/>
              </a:rPr>
              <a:t>T.</a:t>
            </a:r>
            <a:r>
              <a:rPr sz="1550" spc="-135" dirty="0">
                <a:solidFill>
                  <a:srgbClr val="1B2B68"/>
                </a:solidFill>
                <a:latin typeface="Verdana"/>
                <a:cs typeface="Verdana"/>
              </a:rPr>
              <a:t> </a:t>
            </a:r>
            <a:r>
              <a:rPr sz="1550" spc="-160" dirty="0">
                <a:solidFill>
                  <a:srgbClr val="1B2B68"/>
                </a:solidFill>
                <a:latin typeface="Verdana"/>
                <a:cs typeface="Verdana"/>
              </a:rPr>
              <a:t>C.,</a:t>
            </a:r>
            <a:r>
              <a:rPr sz="1550" spc="-60" dirty="0">
                <a:solidFill>
                  <a:srgbClr val="1B2B68"/>
                </a:solidFill>
                <a:latin typeface="Verdana"/>
                <a:cs typeface="Verdana"/>
              </a:rPr>
              <a:t> </a:t>
            </a:r>
            <a:r>
              <a:rPr sz="1550" dirty="0">
                <a:solidFill>
                  <a:srgbClr val="1B2B68"/>
                </a:solidFill>
                <a:latin typeface="Verdana"/>
                <a:cs typeface="Verdana"/>
              </a:rPr>
              <a:t>Brown,</a:t>
            </a:r>
            <a:r>
              <a:rPr sz="1550" spc="90" dirty="0">
                <a:solidFill>
                  <a:srgbClr val="1B2B68"/>
                </a:solidFill>
                <a:latin typeface="Verdana"/>
                <a:cs typeface="Verdana"/>
              </a:rPr>
              <a:t> </a:t>
            </a:r>
            <a:r>
              <a:rPr sz="1550" spc="-25" dirty="0">
                <a:solidFill>
                  <a:srgbClr val="1B2B68"/>
                </a:solidFill>
                <a:latin typeface="Verdana"/>
                <a:cs typeface="Verdana"/>
              </a:rPr>
              <a:t>M.</a:t>
            </a:r>
            <a:r>
              <a:rPr sz="1550" spc="-135" dirty="0">
                <a:solidFill>
                  <a:srgbClr val="1B2B68"/>
                </a:solidFill>
                <a:latin typeface="Verdana"/>
                <a:cs typeface="Verdana"/>
              </a:rPr>
              <a:t> J., </a:t>
            </a:r>
            <a:r>
              <a:rPr sz="1550" dirty="0">
                <a:solidFill>
                  <a:srgbClr val="1B2B68"/>
                </a:solidFill>
                <a:latin typeface="Verdana"/>
                <a:cs typeface="Verdana"/>
              </a:rPr>
              <a:t>Wilson,</a:t>
            </a:r>
            <a:r>
              <a:rPr sz="1550" spc="15" dirty="0">
                <a:solidFill>
                  <a:srgbClr val="1B2B68"/>
                </a:solidFill>
                <a:latin typeface="Verdana"/>
                <a:cs typeface="Verdana"/>
              </a:rPr>
              <a:t> </a:t>
            </a:r>
            <a:r>
              <a:rPr sz="1550" spc="-125" dirty="0">
                <a:solidFill>
                  <a:srgbClr val="1B2B68"/>
                </a:solidFill>
                <a:latin typeface="Verdana"/>
                <a:cs typeface="Verdana"/>
              </a:rPr>
              <a:t>G.</a:t>
            </a:r>
            <a:r>
              <a:rPr sz="1550" spc="-60" dirty="0">
                <a:solidFill>
                  <a:srgbClr val="1B2B68"/>
                </a:solidFill>
                <a:latin typeface="Verdana"/>
                <a:cs typeface="Verdana"/>
              </a:rPr>
              <a:t> </a:t>
            </a:r>
            <a:r>
              <a:rPr sz="1550" spc="-165" dirty="0">
                <a:solidFill>
                  <a:srgbClr val="1B2B68"/>
                </a:solidFill>
                <a:latin typeface="Verdana"/>
                <a:cs typeface="Verdana"/>
              </a:rPr>
              <a:t>L.,</a:t>
            </a:r>
            <a:r>
              <a:rPr sz="1550" spc="-60" dirty="0">
                <a:solidFill>
                  <a:srgbClr val="1B2B68"/>
                </a:solidFill>
                <a:latin typeface="Verdana"/>
                <a:cs typeface="Verdana"/>
              </a:rPr>
              <a:t> </a:t>
            </a:r>
            <a:r>
              <a:rPr sz="1550" spc="-30" dirty="0">
                <a:solidFill>
                  <a:srgbClr val="1B2B68"/>
                </a:solidFill>
                <a:latin typeface="Verdana"/>
                <a:cs typeface="Verdana"/>
              </a:rPr>
              <a:t>Evans,</a:t>
            </a:r>
            <a:r>
              <a:rPr sz="1550" spc="15" dirty="0">
                <a:solidFill>
                  <a:srgbClr val="1B2B68"/>
                </a:solidFill>
                <a:latin typeface="Verdana"/>
                <a:cs typeface="Verdana"/>
              </a:rPr>
              <a:t> </a:t>
            </a:r>
            <a:r>
              <a:rPr sz="1550" spc="-30" dirty="0">
                <a:solidFill>
                  <a:srgbClr val="1B2B68"/>
                </a:solidFill>
                <a:latin typeface="Verdana"/>
                <a:cs typeface="Verdana"/>
              </a:rPr>
              <a:t>B.</a:t>
            </a:r>
            <a:r>
              <a:rPr sz="1550" spc="-60" dirty="0">
                <a:solidFill>
                  <a:srgbClr val="1B2B68"/>
                </a:solidFill>
                <a:latin typeface="Verdana"/>
                <a:cs typeface="Verdana"/>
              </a:rPr>
              <a:t> </a:t>
            </a:r>
            <a:r>
              <a:rPr sz="1550" spc="-130" dirty="0">
                <a:solidFill>
                  <a:srgbClr val="1B2B68"/>
                </a:solidFill>
                <a:latin typeface="Verdana"/>
                <a:cs typeface="Verdana"/>
              </a:rPr>
              <a:t>B.,</a:t>
            </a:r>
            <a:r>
              <a:rPr sz="1550" spc="-60" dirty="0">
                <a:solidFill>
                  <a:srgbClr val="1B2B68"/>
                </a:solidFill>
                <a:latin typeface="Verdana"/>
                <a:cs typeface="Verdana"/>
              </a:rPr>
              <a:t> </a:t>
            </a:r>
            <a:r>
              <a:rPr sz="1550" spc="-40" dirty="0">
                <a:solidFill>
                  <a:srgbClr val="1B2B68"/>
                </a:solidFill>
                <a:latin typeface="Verdana"/>
                <a:cs typeface="Verdana"/>
              </a:rPr>
              <a:t>Kelly,</a:t>
            </a:r>
            <a:r>
              <a:rPr sz="1550" spc="-135" dirty="0">
                <a:solidFill>
                  <a:srgbClr val="1B2B68"/>
                </a:solidFill>
                <a:latin typeface="Verdana"/>
                <a:cs typeface="Verdana"/>
              </a:rPr>
              <a:t> </a:t>
            </a:r>
            <a:r>
              <a:rPr sz="1550" spc="-95" dirty="0">
                <a:solidFill>
                  <a:srgbClr val="1B2B68"/>
                </a:solidFill>
                <a:latin typeface="Verdana"/>
                <a:cs typeface="Verdana"/>
              </a:rPr>
              <a:t>R.</a:t>
            </a:r>
            <a:r>
              <a:rPr sz="1550" spc="-135" dirty="0">
                <a:solidFill>
                  <a:srgbClr val="1B2B68"/>
                </a:solidFill>
                <a:latin typeface="Verdana"/>
                <a:cs typeface="Verdana"/>
              </a:rPr>
              <a:t> </a:t>
            </a:r>
            <a:r>
              <a:rPr sz="1550" spc="-204" dirty="0">
                <a:solidFill>
                  <a:srgbClr val="1B2B68"/>
                </a:solidFill>
                <a:latin typeface="Verdana"/>
                <a:cs typeface="Verdana"/>
              </a:rPr>
              <a:t>S.,</a:t>
            </a:r>
            <a:r>
              <a:rPr sz="1550" spc="-60" dirty="0">
                <a:solidFill>
                  <a:srgbClr val="1B2B68"/>
                </a:solidFill>
                <a:latin typeface="Verdana"/>
                <a:cs typeface="Verdana"/>
              </a:rPr>
              <a:t> </a:t>
            </a:r>
            <a:r>
              <a:rPr sz="1550" spc="-20" dirty="0">
                <a:solidFill>
                  <a:srgbClr val="1B2B68"/>
                </a:solidFill>
                <a:latin typeface="Verdana"/>
                <a:cs typeface="Verdana"/>
              </a:rPr>
              <a:t>Turner,</a:t>
            </a:r>
            <a:r>
              <a:rPr sz="1550" spc="15" dirty="0">
                <a:solidFill>
                  <a:srgbClr val="1B2B68"/>
                </a:solidFill>
                <a:latin typeface="Verdana"/>
                <a:cs typeface="Verdana"/>
              </a:rPr>
              <a:t> </a:t>
            </a:r>
            <a:r>
              <a:rPr sz="1550" spc="-165" dirty="0">
                <a:solidFill>
                  <a:srgbClr val="1B2B68"/>
                </a:solidFill>
                <a:latin typeface="Verdana"/>
                <a:cs typeface="Verdana"/>
              </a:rPr>
              <a:t>S.</a:t>
            </a:r>
            <a:r>
              <a:rPr sz="1550" spc="-135" dirty="0">
                <a:solidFill>
                  <a:srgbClr val="1B2B68"/>
                </a:solidFill>
                <a:latin typeface="Verdana"/>
                <a:cs typeface="Verdana"/>
              </a:rPr>
              <a:t> </a:t>
            </a:r>
            <a:r>
              <a:rPr sz="1550" spc="-190" dirty="0">
                <a:solidFill>
                  <a:srgbClr val="1B2B68"/>
                </a:solidFill>
                <a:latin typeface="Verdana"/>
                <a:cs typeface="Verdana"/>
              </a:rPr>
              <a:t>T.,</a:t>
            </a:r>
            <a:r>
              <a:rPr sz="1550" spc="-60" dirty="0">
                <a:solidFill>
                  <a:srgbClr val="1B2B68"/>
                </a:solidFill>
                <a:latin typeface="Verdana"/>
                <a:cs typeface="Verdana"/>
              </a:rPr>
              <a:t> </a:t>
            </a:r>
            <a:r>
              <a:rPr sz="1550" dirty="0">
                <a:solidFill>
                  <a:srgbClr val="1B2B68"/>
                </a:solidFill>
                <a:latin typeface="Verdana"/>
                <a:cs typeface="Verdana"/>
              </a:rPr>
              <a:t>Lewis,</a:t>
            </a:r>
            <a:r>
              <a:rPr sz="1550" spc="15" dirty="0">
                <a:solidFill>
                  <a:srgbClr val="1B2B68"/>
                </a:solidFill>
                <a:latin typeface="Verdana"/>
                <a:cs typeface="Verdana"/>
              </a:rPr>
              <a:t> </a:t>
            </a:r>
            <a:r>
              <a:rPr sz="1550" spc="-145" dirty="0">
                <a:solidFill>
                  <a:srgbClr val="1B2B68"/>
                </a:solidFill>
                <a:latin typeface="Verdana"/>
                <a:cs typeface="Verdana"/>
              </a:rPr>
              <a:t>F.,</a:t>
            </a:r>
            <a:r>
              <a:rPr sz="1550" spc="-60" dirty="0">
                <a:solidFill>
                  <a:srgbClr val="1B2B68"/>
                </a:solidFill>
                <a:latin typeface="Verdana"/>
                <a:cs typeface="Verdana"/>
              </a:rPr>
              <a:t> </a:t>
            </a:r>
            <a:r>
              <a:rPr sz="1550" spc="-35" dirty="0">
                <a:solidFill>
                  <a:srgbClr val="1B2B68"/>
                </a:solidFill>
                <a:latin typeface="Verdana"/>
                <a:cs typeface="Verdana"/>
              </a:rPr>
              <a:t>Lee,</a:t>
            </a:r>
            <a:r>
              <a:rPr sz="1550" spc="-135" dirty="0">
                <a:solidFill>
                  <a:srgbClr val="1B2B68"/>
                </a:solidFill>
                <a:latin typeface="Verdana"/>
                <a:cs typeface="Verdana"/>
              </a:rPr>
              <a:t> </a:t>
            </a:r>
            <a:r>
              <a:rPr sz="1550" spc="-110" dirty="0">
                <a:solidFill>
                  <a:srgbClr val="1B2B68"/>
                </a:solidFill>
                <a:latin typeface="Verdana"/>
                <a:cs typeface="Verdana"/>
              </a:rPr>
              <a:t>L.</a:t>
            </a:r>
            <a:r>
              <a:rPr sz="1550" spc="-60" dirty="0">
                <a:solidFill>
                  <a:srgbClr val="1B2B68"/>
                </a:solidFill>
                <a:latin typeface="Verdana"/>
                <a:cs typeface="Verdana"/>
              </a:rPr>
              <a:t> </a:t>
            </a:r>
            <a:r>
              <a:rPr sz="1550" spc="-25" dirty="0">
                <a:solidFill>
                  <a:srgbClr val="1B2B68"/>
                </a:solidFill>
                <a:latin typeface="Verdana"/>
                <a:cs typeface="Verdana"/>
              </a:rPr>
              <a:t>H.,</a:t>
            </a:r>
            <a:endParaRPr sz="1550" dirty="0">
              <a:latin typeface="Verdana"/>
              <a:cs typeface="Verdana"/>
            </a:endParaRPr>
          </a:p>
          <a:p>
            <a:pPr marL="485775">
              <a:lnSpc>
                <a:spcPct val="100000"/>
              </a:lnSpc>
              <a:spcBef>
                <a:spcPts val="90"/>
              </a:spcBef>
            </a:pPr>
            <a:r>
              <a:rPr sz="1550" spc="-65" dirty="0">
                <a:solidFill>
                  <a:srgbClr val="1B2B68"/>
                </a:solidFill>
                <a:latin typeface="Verdana"/>
                <a:cs typeface="Verdana"/>
              </a:rPr>
              <a:t>Cox,</a:t>
            </a:r>
            <a:r>
              <a:rPr sz="1550" spc="-70" dirty="0">
                <a:solidFill>
                  <a:srgbClr val="1B2B68"/>
                </a:solidFill>
                <a:latin typeface="Verdana"/>
                <a:cs typeface="Verdana"/>
              </a:rPr>
              <a:t> </a:t>
            </a:r>
            <a:r>
              <a:rPr sz="1550" spc="-175" dirty="0">
                <a:solidFill>
                  <a:srgbClr val="1B2B68"/>
                </a:solidFill>
                <a:latin typeface="Verdana"/>
                <a:cs typeface="Verdana"/>
              </a:rPr>
              <a:t>G.,</a:t>
            </a:r>
            <a:r>
              <a:rPr sz="1550" spc="-60" dirty="0">
                <a:solidFill>
                  <a:srgbClr val="1B2B68"/>
                </a:solidFill>
                <a:latin typeface="Verdana"/>
                <a:cs typeface="Verdana"/>
              </a:rPr>
              <a:t> </a:t>
            </a:r>
            <a:r>
              <a:rPr sz="1550" spc="-25" dirty="0">
                <a:solidFill>
                  <a:srgbClr val="1B2B68"/>
                </a:solidFill>
                <a:latin typeface="Verdana"/>
                <a:cs typeface="Verdana"/>
              </a:rPr>
              <a:t>Harris,</a:t>
            </a:r>
            <a:r>
              <a:rPr sz="1550" spc="90" dirty="0">
                <a:solidFill>
                  <a:srgbClr val="1B2B68"/>
                </a:solidFill>
                <a:latin typeface="Verdana"/>
                <a:cs typeface="Verdana"/>
              </a:rPr>
              <a:t> </a:t>
            </a:r>
            <a:r>
              <a:rPr sz="1550" spc="-70" dirty="0">
                <a:solidFill>
                  <a:srgbClr val="1B2B68"/>
                </a:solidFill>
                <a:latin typeface="Verdana"/>
                <a:cs typeface="Verdana"/>
              </a:rPr>
              <a:t>H.</a:t>
            </a:r>
            <a:r>
              <a:rPr sz="1550" spc="-135" dirty="0">
                <a:solidFill>
                  <a:srgbClr val="1B2B68"/>
                </a:solidFill>
                <a:latin typeface="Verdana"/>
                <a:cs typeface="Verdana"/>
              </a:rPr>
              <a:t> </a:t>
            </a:r>
            <a:r>
              <a:rPr sz="1550" spc="-165" dirty="0">
                <a:solidFill>
                  <a:srgbClr val="1B2B68"/>
                </a:solidFill>
                <a:latin typeface="Verdana"/>
                <a:cs typeface="Verdana"/>
              </a:rPr>
              <a:t>L.,</a:t>
            </a:r>
            <a:r>
              <a:rPr sz="1550" spc="-60" dirty="0">
                <a:solidFill>
                  <a:srgbClr val="1B2B68"/>
                </a:solidFill>
                <a:latin typeface="Verdana"/>
                <a:cs typeface="Verdana"/>
              </a:rPr>
              <a:t> </a:t>
            </a:r>
            <a:r>
              <a:rPr sz="1550" dirty="0">
                <a:solidFill>
                  <a:srgbClr val="1B2B68"/>
                </a:solidFill>
                <a:latin typeface="Verdana"/>
                <a:cs typeface="Verdana"/>
              </a:rPr>
              <a:t>Martin,</a:t>
            </a:r>
            <a:r>
              <a:rPr sz="1550" spc="15" dirty="0">
                <a:solidFill>
                  <a:srgbClr val="1B2B68"/>
                </a:solidFill>
                <a:latin typeface="Verdana"/>
                <a:cs typeface="Verdana"/>
              </a:rPr>
              <a:t> </a:t>
            </a:r>
            <a:r>
              <a:rPr sz="1550" spc="-114" dirty="0">
                <a:solidFill>
                  <a:srgbClr val="1B2B68"/>
                </a:solidFill>
                <a:latin typeface="Verdana"/>
                <a:cs typeface="Verdana"/>
              </a:rPr>
              <a:t>P.,</a:t>
            </a:r>
            <a:r>
              <a:rPr sz="1550" spc="-60" dirty="0">
                <a:solidFill>
                  <a:srgbClr val="1B2B68"/>
                </a:solidFill>
                <a:latin typeface="Verdana"/>
                <a:cs typeface="Verdana"/>
              </a:rPr>
              <a:t> </a:t>
            </a:r>
            <a:r>
              <a:rPr sz="1550" spc="-10" dirty="0">
                <a:solidFill>
                  <a:srgbClr val="1B2B68"/>
                </a:solidFill>
                <a:latin typeface="Verdana"/>
                <a:cs typeface="Verdana"/>
              </a:rPr>
              <a:t>Gonzalez,</a:t>
            </a:r>
            <a:r>
              <a:rPr sz="1550" spc="-60" dirty="0">
                <a:solidFill>
                  <a:srgbClr val="1B2B68"/>
                </a:solidFill>
                <a:latin typeface="Verdana"/>
                <a:cs typeface="Verdana"/>
              </a:rPr>
              <a:t> </a:t>
            </a:r>
            <a:r>
              <a:rPr sz="1550" dirty="0">
                <a:solidFill>
                  <a:srgbClr val="1B2B68"/>
                </a:solidFill>
                <a:latin typeface="Verdana"/>
                <a:cs typeface="Verdana"/>
              </a:rPr>
              <a:t>W.</a:t>
            </a:r>
            <a:r>
              <a:rPr sz="1550" spc="-65" dirty="0">
                <a:solidFill>
                  <a:srgbClr val="1B2B68"/>
                </a:solidFill>
                <a:latin typeface="Verdana"/>
                <a:cs typeface="Verdana"/>
              </a:rPr>
              <a:t> </a:t>
            </a:r>
            <a:r>
              <a:rPr sz="1550" spc="-165" dirty="0">
                <a:solidFill>
                  <a:srgbClr val="1B2B68"/>
                </a:solidFill>
                <a:latin typeface="Verdana"/>
                <a:cs typeface="Verdana"/>
              </a:rPr>
              <a:t>L.,</a:t>
            </a:r>
            <a:r>
              <a:rPr sz="1550" spc="-60" dirty="0">
                <a:solidFill>
                  <a:srgbClr val="1B2B68"/>
                </a:solidFill>
                <a:latin typeface="Verdana"/>
                <a:cs typeface="Verdana"/>
              </a:rPr>
              <a:t> </a:t>
            </a:r>
            <a:r>
              <a:rPr sz="1550" dirty="0">
                <a:solidFill>
                  <a:srgbClr val="1B2B68"/>
                </a:solidFill>
                <a:latin typeface="Verdana"/>
                <a:cs typeface="Verdana"/>
              </a:rPr>
              <a:t>Hughes,</a:t>
            </a:r>
            <a:r>
              <a:rPr sz="1550" spc="15" dirty="0">
                <a:solidFill>
                  <a:srgbClr val="1B2B68"/>
                </a:solidFill>
                <a:latin typeface="Verdana"/>
                <a:cs typeface="Verdana"/>
              </a:rPr>
              <a:t> </a:t>
            </a:r>
            <a:r>
              <a:rPr sz="1550" spc="-95" dirty="0">
                <a:solidFill>
                  <a:srgbClr val="1B2B68"/>
                </a:solidFill>
                <a:latin typeface="Verdana"/>
                <a:cs typeface="Verdana"/>
              </a:rPr>
              <a:t>W.,</a:t>
            </a:r>
            <a:r>
              <a:rPr sz="1550" spc="15" dirty="0">
                <a:solidFill>
                  <a:srgbClr val="1B2B68"/>
                </a:solidFill>
                <a:latin typeface="Verdana"/>
                <a:cs typeface="Verdana"/>
              </a:rPr>
              <a:t> </a:t>
            </a:r>
            <a:r>
              <a:rPr sz="1550" spc="-35" dirty="0">
                <a:solidFill>
                  <a:srgbClr val="1B2B68"/>
                </a:solidFill>
                <a:latin typeface="Verdana"/>
                <a:cs typeface="Verdana"/>
              </a:rPr>
              <a:t>Carter,</a:t>
            </a:r>
            <a:r>
              <a:rPr sz="1550" spc="-60" dirty="0">
                <a:solidFill>
                  <a:srgbClr val="1B2B68"/>
                </a:solidFill>
                <a:latin typeface="Verdana"/>
                <a:cs typeface="Verdana"/>
              </a:rPr>
              <a:t> </a:t>
            </a:r>
            <a:r>
              <a:rPr sz="1550" spc="-140" dirty="0">
                <a:solidFill>
                  <a:srgbClr val="1B2B68"/>
                </a:solidFill>
                <a:latin typeface="Verdana"/>
                <a:cs typeface="Verdana"/>
              </a:rPr>
              <a:t>D.,</a:t>
            </a:r>
            <a:r>
              <a:rPr sz="1550" spc="15" dirty="0">
                <a:solidFill>
                  <a:srgbClr val="1B2B68"/>
                </a:solidFill>
                <a:latin typeface="Verdana"/>
                <a:cs typeface="Verdana"/>
              </a:rPr>
              <a:t> </a:t>
            </a:r>
            <a:r>
              <a:rPr sz="1550" dirty="0">
                <a:solidFill>
                  <a:srgbClr val="1B2B68"/>
                </a:solidFill>
                <a:latin typeface="Verdana"/>
                <a:cs typeface="Verdana"/>
              </a:rPr>
              <a:t>Campbell,</a:t>
            </a:r>
            <a:r>
              <a:rPr sz="1550" spc="10" dirty="0">
                <a:solidFill>
                  <a:srgbClr val="1B2B68"/>
                </a:solidFill>
                <a:latin typeface="Verdana"/>
                <a:cs typeface="Verdana"/>
              </a:rPr>
              <a:t> </a:t>
            </a:r>
            <a:r>
              <a:rPr sz="1550" spc="-160" dirty="0">
                <a:solidFill>
                  <a:srgbClr val="1B2B68"/>
                </a:solidFill>
                <a:latin typeface="Verdana"/>
                <a:cs typeface="Verdana"/>
              </a:rPr>
              <a:t>C.,</a:t>
            </a:r>
            <a:r>
              <a:rPr sz="1550" spc="-60" dirty="0">
                <a:solidFill>
                  <a:srgbClr val="1B2B68"/>
                </a:solidFill>
                <a:latin typeface="Verdana"/>
                <a:cs typeface="Verdana"/>
              </a:rPr>
              <a:t> </a:t>
            </a:r>
            <a:r>
              <a:rPr sz="1550" spc="-10" dirty="0">
                <a:solidFill>
                  <a:srgbClr val="1B2B68"/>
                </a:solidFill>
                <a:latin typeface="Verdana"/>
                <a:cs typeface="Verdana"/>
              </a:rPr>
              <a:t>Baker,</a:t>
            </a:r>
            <a:r>
              <a:rPr sz="1550" spc="-60" dirty="0">
                <a:solidFill>
                  <a:srgbClr val="1B2B68"/>
                </a:solidFill>
                <a:latin typeface="Verdana"/>
                <a:cs typeface="Verdana"/>
              </a:rPr>
              <a:t> </a:t>
            </a:r>
            <a:r>
              <a:rPr sz="1550" spc="-25" dirty="0">
                <a:solidFill>
                  <a:srgbClr val="1B2B68"/>
                </a:solidFill>
                <a:latin typeface="Verdana"/>
                <a:cs typeface="Verdana"/>
              </a:rPr>
              <a:t>A.</a:t>
            </a:r>
            <a:endParaRPr sz="1550" dirty="0">
              <a:latin typeface="Verdana"/>
              <a:cs typeface="Verdana"/>
            </a:endParaRPr>
          </a:p>
          <a:p>
            <a:pPr marL="485775">
              <a:lnSpc>
                <a:spcPct val="100000"/>
              </a:lnSpc>
              <a:spcBef>
                <a:spcPts val="20"/>
              </a:spcBef>
            </a:pPr>
            <a:r>
              <a:rPr sz="1550" spc="-130" dirty="0">
                <a:solidFill>
                  <a:srgbClr val="1B2B68"/>
                </a:solidFill>
                <a:latin typeface="Verdana"/>
                <a:cs typeface="Verdana"/>
              </a:rPr>
              <a:t>B.,</a:t>
            </a:r>
            <a:r>
              <a:rPr sz="1550" spc="-60" dirty="0">
                <a:solidFill>
                  <a:srgbClr val="1B2B68"/>
                </a:solidFill>
                <a:latin typeface="Verdana"/>
                <a:cs typeface="Verdana"/>
              </a:rPr>
              <a:t> </a:t>
            </a:r>
            <a:r>
              <a:rPr sz="1550" spc="-25" dirty="0">
                <a:solidFill>
                  <a:srgbClr val="1B2B68"/>
                </a:solidFill>
                <a:latin typeface="Verdana"/>
                <a:cs typeface="Verdana"/>
              </a:rPr>
              <a:t>Flores,</a:t>
            </a:r>
            <a:r>
              <a:rPr sz="1550" spc="-114" dirty="0">
                <a:solidFill>
                  <a:srgbClr val="1B2B68"/>
                </a:solidFill>
                <a:latin typeface="Verdana"/>
                <a:cs typeface="Verdana"/>
              </a:rPr>
              <a:t> </a:t>
            </a:r>
            <a:r>
              <a:rPr sz="1550" spc="-190" dirty="0">
                <a:solidFill>
                  <a:srgbClr val="1B2B68"/>
                </a:solidFill>
                <a:latin typeface="Verdana"/>
                <a:cs typeface="Verdana"/>
              </a:rPr>
              <a:t>T.,</a:t>
            </a:r>
            <a:r>
              <a:rPr sz="1550" spc="-60" dirty="0">
                <a:solidFill>
                  <a:srgbClr val="1B2B68"/>
                </a:solidFill>
                <a:latin typeface="Verdana"/>
                <a:cs typeface="Verdana"/>
              </a:rPr>
              <a:t> </a:t>
            </a:r>
            <a:r>
              <a:rPr sz="1550" spc="-75" dirty="0">
                <a:solidFill>
                  <a:srgbClr val="1B2B68"/>
                </a:solidFill>
                <a:latin typeface="Verdana"/>
                <a:cs typeface="Verdana"/>
              </a:rPr>
              <a:t>Gray,</a:t>
            </a:r>
            <a:r>
              <a:rPr sz="1550" spc="-60" dirty="0">
                <a:solidFill>
                  <a:srgbClr val="1B2B68"/>
                </a:solidFill>
                <a:latin typeface="Verdana"/>
                <a:cs typeface="Verdana"/>
              </a:rPr>
              <a:t> </a:t>
            </a:r>
            <a:r>
              <a:rPr sz="1550" dirty="0">
                <a:solidFill>
                  <a:srgbClr val="1B2B68"/>
                </a:solidFill>
                <a:latin typeface="Verdana"/>
                <a:cs typeface="Verdana"/>
              </a:rPr>
              <a:t>W.</a:t>
            </a:r>
            <a:r>
              <a:rPr sz="1550" spc="-90" dirty="0">
                <a:solidFill>
                  <a:srgbClr val="1B2B68"/>
                </a:solidFill>
                <a:latin typeface="Verdana"/>
                <a:cs typeface="Verdana"/>
              </a:rPr>
              <a:t> </a:t>
            </a:r>
            <a:r>
              <a:rPr sz="1550" spc="-150" dirty="0">
                <a:solidFill>
                  <a:srgbClr val="1B2B68"/>
                </a:solidFill>
                <a:latin typeface="Verdana"/>
                <a:cs typeface="Verdana"/>
              </a:rPr>
              <a:t>E.,</a:t>
            </a:r>
            <a:r>
              <a:rPr sz="1550" spc="-60" dirty="0">
                <a:solidFill>
                  <a:srgbClr val="1B2B68"/>
                </a:solidFill>
                <a:latin typeface="Verdana"/>
                <a:cs typeface="Verdana"/>
              </a:rPr>
              <a:t> </a:t>
            </a:r>
            <a:r>
              <a:rPr sz="1550" dirty="0">
                <a:solidFill>
                  <a:srgbClr val="1B2B68"/>
                </a:solidFill>
                <a:latin typeface="Verdana"/>
                <a:cs typeface="Verdana"/>
              </a:rPr>
              <a:t>Green,</a:t>
            </a:r>
            <a:r>
              <a:rPr sz="1550" spc="-5" dirty="0">
                <a:solidFill>
                  <a:srgbClr val="1B2B68"/>
                </a:solidFill>
                <a:latin typeface="Verdana"/>
                <a:cs typeface="Verdana"/>
              </a:rPr>
              <a:t> </a:t>
            </a:r>
            <a:r>
              <a:rPr sz="1550" spc="-175" dirty="0">
                <a:solidFill>
                  <a:srgbClr val="1B2B68"/>
                </a:solidFill>
                <a:latin typeface="Verdana"/>
                <a:cs typeface="Verdana"/>
              </a:rPr>
              <a:t>G.,</a:t>
            </a:r>
            <a:r>
              <a:rPr sz="1550" spc="-60" dirty="0">
                <a:solidFill>
                  <a:srgbClr val="1B2B68"/>
                </a:solidFill>
                <a:latin typeface="Verdana"/>
                <a:cs typeface="Verdana"/>
              </a:rPr>
              <a:t> </a:t>
            </a:r>
            <a:r>
              <a:rPr sz="1550" spc="-254" dirty="0">
                <a:solidFill>
                  <a:srgbClr val="1B2B68"/>
                </a:solidFill>
                <a:latin typeface="Verdana"/>
                <a:cs typeface="Verdana"/>
              </a:rPr>
              <a:t>…</a:t>
            </a:r>
            <a:r>
              <a:rPr sz="1550" spc="-145" dirty="0">
                <a:solidFill>
                  <a:srgbClr val="1B2B68"/>
                </a:solidFill>
                <a:latin typeface="Verdana"/>
                <a:cs typeface="Verdana"/>
              </a:rPr>
              <a:t> </a:t>
            </a:r>
            <a:r>
              <a:rPr sz="1550" dirty="0">
                <a:solidFill>
                  <a:srgbClr val="1B2B68"/>
                </a:solidFill>
                <a:latin typeface="Verdana"/>
                <a:cs typeface="Verdana"/>
              </a:rPr>
              <a:t>Nelson, </a:t>
            </a:r>
            <a:r>
              <a:rPr sz="1550" spc="-150" dirty="0">
                <a:solidFill>
                  <a:srgbClr val="1B2B68"/>
                </a:solidFill>
                <a:latin typeface="Verdana"/>
                <a:cs typeface="Verdana"/>
              </a:rPr>
              <a:t>T.</a:t>
            </a:r>
            <a:r>
              <a:rPr sz="1550" spc="-135" dirty="0">
                <a:solidFill>
                  <a:srgbClr val="1B2B68"/>
                </a:solidFill>
                <a:latin typeface="Verdana"/>
                <a:cs typeface="Verdana"/>
              </a:rPr>
              <a:t> </a:t>
            </a:r>
            <a:r>
              <a:rPr sz="1550" spc="-35" dirty="0">
                <a:solidFill>
                  <a:srgbClr val="1B2B68"/>
                </a:solidFill>
                <a:latin typeface="Verdana"/>
                <a:cs typeface="Verdana"/>
              </a:rPr>
              <a:t>P.</a:t>
            </a:r>
            <a:r>
              <a:rPr sz="1550" spc="-135" dirty="0">
                <a:solidFill>
                  <a:srgbClr val="1B2B68"/>
                </a:solidFill>
                <a:latin typeface="Verdana"/>
                <a:cs typeface="Verdana"/>
              </a:rPr>
              <a:t> </a:t>
            </a:r>
            <a:r>
              <a:rPr sz="1550" spc="-10" dirty="0">
                <a:solidFill>
                  <a:srgbClr val="1B2B68"/>
                </a:solidFill>
                <a:latin typeface="Verdana"/>
                <a:cs typeface="Verdana"/>
              </a:rPr>
              <a:t>(2023).</a:t>
            </a:r>
            <a:endParaRPr sz="1550" dirty="0">
              <a:latin typeface="Verdana"/>
              <a:cs typeface="Verdana"/>
            </a:endParaRPr>
          </a:p>
        </p:txBody>
      </p:sp>
      <p:sp>
        <p:nvSpPr>
          <p:cNvPr id="6" name="object 5">
            <a:extLst>
              <a:ext uri="{FF2B5EF4-FFF2-40B4-BE49-F238E27FC236}">
                <a16:creationId xmlns:a16="http://schemas.microsoft.com/office/drawing/2014/main" id="{9C98C50A-EF80-19DA-0A4C-D56096952602}"/>
              </a:ext>
            </a:extLst>
          </p:cNvPr>
          <p:cNvSpPr txBox="1"/>
          <p:nvPr/>
        </p:nvSpPr>
        <p:spPr>
          <a:xfrm>
            <a:off x="955294" y="2358706"/>
            <a:ext cx="4302506" cy="652102"/>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FF6461"/>
                </a:solidFill>
                <a:latin typeface="Segoe UI Symbol"/>
                <a:cs typeface="Segoe UI Symbol"/>
              </a:rPr>
              <a:t>✗</a:t>
            </a:r>
            <a:r>
              <a:rPr sz="1400" spc="-50" dirty="0">
                <a:solidFill>
                  <a:srgbClr val="1B2B68"/>
                </a:solidFill>
                <a:latin typeface="Verdana"/>
                <a:cs typeface="Verdana"/>
              </a:rPr>
              <a:t>(Taylor,</a:t>
            </a:r>
            <a:r>
              <a:rPr sz="1400" spc="-215" dirty="0">
                <a:solidFill>
                  <a:srgbClr val="1B2B68"/>
                </a:solidFill>
                <a:latin typeface="Verdana"/>
                <a:cs typeface="Verdana"/>
              </a:rPr>
              <a:t> </a:t>
            </a:r>
            <a:r>
              <a:rPr sz="1400" spc="-20" dirty="0">
                <a:solidFill>
                  <a:srgbClr val="1B2B68"/>
                </a:solidFill>
                <a:latin typeface="Verdana"/>
                <a:cs typeface="Verdana"/>
              </a:rPr>
              <a:t>Kotler,</a:t>
            </a:r>
            <a:r>
              <a:rPr sz="1400" spc="-210" dirty="0">
                <a:solidFill>
                  <a:srgbClr val="1B2B68"/>
                </a:solidFill>
                <a:latin typeface="Verdana"/>
                <a:cs typeface="Verdana"/>
              </a:rPr>
              <a:t> </a:t>
            </a:r>
            <a:r>
              <a:rPr sz="1400" dirty="0">
                <a:solidFill>
                  <a:srgbClr val="1B2B68"/>
                </a:solidFill>
                <a:latin typeface="Verdana"/>
                <a:cs typeface="Verdana"/>
              </a:rPr>
              <a:t>Johnson,</a:t>
            </a:r>
            <a:r>
              <a:rPr sz="1400" spc="-210" dirty="0">
                <a:solidFill>
                  <a:srgbClr val="1B2B68"/>
                </a:solidFill>
                <a:latin typeface="Verdana"/>
                <a:cs typeface="Verdana"/>
              </a:rPr>
              <a:t> </a:t>
            </a:r>
            <a:r>
              <a:rPr sz="1400" spc="-70" dirty="0">
                <a:solidFill>
                  <a:srgbClr val="1B2B68"/>
                </a:solidFill>
                <a:latin typeface="Verdana"/>
                <a:cs typeface="Verdana"/>
              </a:rPr>
              <a:t>&amp;</a:t>
            </a:r>
            <a:r>
              <a:rPr sz="1400" spc="-185" dirty="0">
                <a:solidFill>
                  <a:srgbClr val="1B2B68"/>
                </a:solidFill>
                <a:latin typeface="Verdana"/>
                <a:cs typeface="Verdana"/>
              </a:rPr>
              <a:t> </a:t>
            </a:r>
            <a:r>
              <a:rPr sz="1400" spc="-20" dirty="0">
                <a:solidFill>
                  <a:srgbClr val="1B2B68"/>
                </a:solidFill>
                <a:latin typeface="Verdana"/>
                <a:cs typeface="Verdana"/>
              </a:rPr>
              <a:t>Parker,</a:t>
            </a:r>
            <a:r>
              <a:rPr sz="1400" spc="-120" dirty="0">
                <a:solidFill>
                  <a:srgbClr val="1B2B68"/>
                </a:solidFill>
                <a:latin typeface="Verdana"/>
                <a:cs typeface="Verdana"/>
              </a:rPr>
              <a:t> </a:t>
            </a:r>
            <a:r>
              <a:rPr sz="1400" spc="-55" dirty="0">
                <a:solidFill>
                  <a:srgbClr val="1B2B68"/>
                </a:solidFill>
                <a:latin typeface="Verdana"/>
                <a:cs typeface="Verdana"/>
              </a:rPr>
              <a:t>2018)</a:t>
            </a:r>
            <a:endParaRPr sz="1400" dirty="0">
              <a:latin typeface="Verdana"/>
              <a:cs typeface="Verdana"/>
            </a:endParaRPr>
          </a:p>
          <a:p>
            <a:pPr marL="154940" indent="-142240">
              <a:lnSpc>
                <a:spcPct val="100000"/>
              </a:lnSpc>
              <a:spcBef>
                <a:spcPts val="1625"/>
              </a:spcBef>
              <a:buClr>
                <a:srgbClr val="17CDBA"/>
              </a:buClr>
              <a:buSzPct val="92857"/>
              <a:buFont typeface="Segoe UI Symbol"/>
              <a:buChar char="✓"/>
              <a:tabLst>
                <a:tab pos="154940" algn="l"/>
              </a:tabLst>
            </a:pPr>
            <a:r>
              <a:rPr sz="1400" spc="-55" dirty="0">
                <a:solidFill>
                  <a:srgbClr val="1B2B68"/>
                </a:solidFill>
                <a:latin typeface="Verdana"/>
                <a:cs typeface="Verdana"/>
              </a:rPr>
              <a:t>(Taylor</a:t>
            </a:r>
            <a:r>
              <a:rPr sz="1400" spc="-225" dirty="0">
                <a:solidFill>
                  <a:srgbClr val="1B2B68"/>
                </a:solidFill>
                <a:latin typeface="Verdana"/>
                <a:cs typeface="Verdana"/>
              </a:rPr>
              <a:t> </a:t>
            </a:r>
            <a:r>
              <a:rPr sz="1400" dirty="0">
                <a:solidFill>
                  <a:srgbClr val="1B2B68"/>
                </a:solidFill>
                <a:latin typeface="Verdana"/>
                <a:cs typeface="Verdana"/>
              </a:rPr>
              <a:t>et</a:t>
            </a:r>
            <a:r>
              <a:rPr sz="1400" spc="-70" dirty="0">
                <a:solidFill>
                  <a:srgbClr val="1B2B68"/>
                </a:solidFill>
                <a:latin typeface="Verdana"/>
                <a:cs typeface="Verdana"/>
              </a:rPr>
              <a:t> </a:t>
            </a:r>
            <a:r>
              <a:rPr sz="1400" spc="-120" dirty="0">
                <a:solidFill>
                  <a:srgbClr val="1B2B68"/>
                </a:solidFill>
                <a:latin typeface="Verdana"/>
                <a:cs typeface="Verdana"/>
              </a:rPr>
              <a:t>al.,</a:t>
            </a:r>
            <a:r>
              <a:rPr sz="1400" spc="-175" dirty="0">
                <a:solidFill>
                  <a:srgbClr val="1B2B68"/>
                </a:solidFill>
                <a:latin typeface="Verdana"/>
                <a:cs typeface="Verdana"/>
              </a:rPr>
              <a:t> </a:t>
            </a:r>
            <a:r>
              <a:rPr sz="1400" spc="-20" dirty="0">
                <a:solidFill>
                  <a:srgbClr val="1B2B68"/>
                </a:solidFill>
                <a:latin typeface="Verdana"/>
                <a:cs typeface="Verdana"/>
              </a:rPr>
              <a:t>2018)</a:t>
            </a:r>
            <a:endParaRPr sz="1400" dirty="0">
              <a:latin typeface="Verdana"/>
              <a:cs typeface="Verdana"/>
            </a:endParaRPr>
          </a:p>
        </p:txBody>
      </p:sp>
    </p:spTree>
    <p:extLst>
      <p:ext uri="{BB962C8B-B14F-4D97-AF65-F5344CB8AC3E}">
        <p14:creationId xmlns:p14="http://schemas.microsoft.com/office/powerpoint/2010/main" val="3457655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BC538-352D-7DDE-425E-7F89BC27F0F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EDD9059-2FB4-B9A9-3335-79F018F661E5}"/>
              </a:ext>
            </a:extLst>
          </p:cNvPr>
          <p:cNvSpPr txBox="1">
            <a:spLocks/>
          </p:cNvSpPr>
          <p:nvPr/>
        </p:nvSpPr>
        <p:spPr>
          <a:xfrm>
            <a:off x="583566" y="221680"/>
            <a:ext cx="6337300" cy="505267"/>
          </a:xfrm>
          <a:prstGeom prst="rect">
            <a:avLst/>
          </a:prstGeom>
        </p:spPr>
        <p:txBody>
          <a:bodyPr vert="horz" wrap="square" lIns="0" tIns="12700"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
              <a:spcBef>
                <a:spcPts val="100"/>
              </a:spcBef>
            </a:pPr>
            <a:r>
              <a:rPr lang="en-US" sz="3200" b="1" i="1" kern="0" spc="-160" dirty="0">
                <a:solidFill>
                  <a:schemeClr val="bg1"/>
                </a:solidFill>
                <a:latin typeface="+mj-lt"/>
                <a:cs typeface="Verdana"/>
              </a:rPr>
              <a:t>4. </a:t>
            </a:r>
            <a:r>
              <a:rPr lang="en-US" sz="3200" b="1" i="1" kern="0" spc="-185" dirty="0">
                <a:solidFill>
                  <a:schemeClr val="bg1"/>
                </a:solidFill>
                <a:latin typeface="+mj-lt"/>
                <a:cs typeface="Verdana"/>
              </a:rPr>
              <a:t>DOIs</a:t>
            </a:r>
            <a:r>
              <a:rPr lang="en-US" sz="3200" b="1" i="1" kern="0" spc="-130" dirty="0">
                <a:solidFill>
                  <a:schemeClr val="bg1"/>
                </a:solidFill>
                <a:latin typeface="+mj-lt"/>
                <a:cs typeface="Verdana"/>
              </a:rPr>
              <a:t> </a:t>
            </a:r>
            <a:r>
              <a:rPr lang="en-US" sz="3200" b="1" i="1" kern="0" spc="-70" dirty="0">
                <a:solidFill>
                  <a:schemeClr val="bg1"/>
                </a:solidFill>
                <a:latin typeface="+mj-lt"/>
                <a:cs typeface="Verdana"/>
              </a:rPr>
              <a:t>are</a:t>
            </a:r>
            <a:r>
              <a:rPr lang="en-US" sz="3200" b="1" i="1" kern="0" spc="-140" dirty="0">
                <a:solidFill>
                  <a:schemeClr val="bg1"/>
                </a:solidFill>
                <a:latin typeface="+mj-lt"/>
                <a:cs typeface="Verdana"/>
              </a:rPr>
              <a:t> </a:t>
            </a:r>
            <a:r>
              <a:rPr lang="en-US" sz="3200" b="1" i="1" kern="0" spc="-60" dirty="0">
                <a:solidFill>
                  <a:schemeClr val="bg1"/>
                </a:solidFill>
                <a:latin typeface="+mj-lt"/>
                <a:cs typeface="Verdana"/>
              </a:rPr>
              <a:t>formatted</a:t>
            </a:r>
            <a:r>
              <a:rPr lang="en-US" sz="3200" b="1" i="1" kern="0" spc="-145" dirty="0">
                <a:solidFill>
                  <a:schemeClr val="bg1"/>
                </a:solidFill>
                <a:latin typeface="+mj-lt"/>
                <a:cs typeface="Verdana"/>
              </a:rPr>
              <a:t> </a:t>
            </a:r>
            <a:r>
              <a:rPr lang="en-US" sz="3200" b="1" i="1" kern="0" spc="-60" dirty="0">
                <a:solidFill>
                  <a:schemeClr val="bg1"/>
                </a:solidFill>
                <a:latin typeface="+mj-lt"/>
                <a:cs typeface="Verdana"/>
              </a:rPr>
              <a:t>as</a:t>
            </a:r>
            <a:r>
              <a:rPr lang="en-US" sz="3200" b="1" i="1" kern="0" spc="-130" dirty="0">
                <a:solidFill>
                  <a:schemeClr val="bg1"/>
                </a:solidFill>
                <a:latin typeface="+mj-lt"/>
                <a:cs typeface="Verdana"/>
              </a:rPr>
              <a:t> </a:t>
            </a:r>
            <a:r>
              <a:rPr lang="en-US" sz="3200" b="1" i="1" kern="0" spc="-50" dirty="0">
                <a:solidFill>
                  <a:schemeClr val="bg1"/>
                </a:solidFill>
                <a:latin typeface="+mj-lt"/>
                <a:cs typeface="Verdana"/>
              </a:rPr>
              <a:t>URLs</a:t>
            </a:r>
            <a:endParaRPr lang="en-US" sz="3200" kern="0" dirty="0">
              <a:solidFill>
                <a:schemeClr val="bg1"/>
              </a:solidFill>
              <a:latin typeface="+mj-lt"/>
              <a:cs typeface="Verdana"/>
            </a:endParaRPr>
          </a:p>
        </p:txBody>
      </p:sp>
      <p:pic>
        <p:nvPicPr>
          <p:cNvPr id="4" name="object 5">
            <a:extLst>
              <a:ext uri="{FF2B5EF4-FFF2-40B4-BE49-F238E27FC236}">
                <a16:creationId xmlns:a16="http://schemas.microsoft.com/office/drawing/2014/main" id="{3E919BA2-48BB-162B-0788-D13EF46AAFD8}"/>
              </a:ext>
            </a:extLst>
          </p:cNvPr>
          <p:cNvPicPr/>
          <p:nvPr/>
        </p:nvPicPr>
        <p:blipFill>
          <a:blip r:embed="rId2" cstate="print"/>
          <a:stretch>
            <a:fillRect/>
          </a:stretch>
        </p:blipFill>
        <p:spPr>
          <a:xfrm>
            <a:off x="583566" y="2010663"/>
            <a:ext cx="4362450" cy="4019550"/>
          </a:xfrm>
          <a:prstGeom prst="rect">
            <a:avLst/>
          </a:prstGeom>
        </p:spPr>
      </p:pic>
      <p:sp>
        <p:nvSpPr>
          <p:cNvPr id="5" name="object 6">
            <a:extLst>
              <a:ext uri="{FF2B5EF4-FFF2-40B4-BE49-F238E27FC236}">
                <a16:creationId xmlns:a16="http://schemas.microsoft.com/office/drawing/2014/main" id="{E59DE946-8878-680E-644A-A887EB421258}"/>
              </a:ext>
            </a:extLst>
          </p:cNvPr>
          <p:cNvSpPr txBox="1"/>
          <p:nvPr/>
        </p:nvSpPr>
        <p:spPr>
          <a:xfrm>
            <a:off x="5271134" y="2545460"/>
            <a:ext cx="6337300" cy="2865755"/>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1800" spc="-85" dirty="0">
                <a:solidFill>
                  <a:srgbClr val="FF0000"/>
                </a:solidFill>
                <a:latin typeface="Segoe UI Symbol"/>
                <a:cs typeface="Segoe UI Symbol"/>
              </a:rPr>
              <a:t>✗</a:t>
            </a:r>
            <a:r>
              <a:rPr sz="1800" spc="-85" dirty="0">
                <a:latin typeface="Verdana"/>
                <a:cs typeface="Verdana"/>
              </a:rPr>
              <a:t>doi:</a:t>
            </a:r>
            <a:r>
              <a:rPr sz="1800" spc="-75" dirty="0">
                <a:latin typeface="Verdana"/>
                <a:cs typeface="Verdana"/>
              </a:rPr>
              <a:t> </a:t>
            </a:r>
            <a:r>
              <a:rPr sz="1800" spc="-90" dirty="0">
                <a:latin typeface="Verdana"/>
                <a:cs typeface="Verdana"/>
              </a:rPr>
              <a:t>10.1080/02626667.2018.1560449</a:t>
            </a:r>
            <a:endParaRPr sz="1800">
              <a:latin typeface="Verdana"/>
              <a:cs typeface="Verdana"/>
            </a:endParaRPr>
          </a:p>
          <a:p>
            <a:pPr marL="240665" indent="-227965">
              <a:lnSpc>
                <a:spcPct val="100000"/>
              </a:lnSpc>
              <a:spcBef>
                <a:spcPts val="1595"/>
              </a:spcBef>
              <a:buFont typeface="Arial MT"/>
              <a:buChar char="•"/>
              <a:tabLst>
                <a:tab pos="240665" algn="l"/>
              </a:tabLst>
            </a:pPr>
            <a:r>
              <a:rPr sz="1800" spc="-85" dirty="0">
                <a:solidFill>
                  <a:srgbClr val="00AF50"/>
                </a:solidFill>
                <a:latin typeface="Segoe UI Symbol"/>
                <a:cs typeface="Segoe UI Symbol"/>
              </a:rPr>
              <a:t>✓</a:t>
            </a:r>
            <a:r>
              <a:rPr sz="1800" u="sng" spc="-85" dirty="0">
                <a:solidFill>
                  <a:srgbClr val="0462C1"/>
                </a:solidFill>
                <a:uFill>
                  <a:solidFill>
                    <a:srgbClr val="0462C1"/>
                  </a:solidFill>
                </a:uFill>
                <a:latin typeface="Verdana"/>
                <a:cs typeface="Verdana"/>
                <a:hlinkClick r:id="rId3"/>
              </a:rPr>
              <a:t>https://doi.org/10.1080/02626667.2018.1560449</a:t>
            </a:r>
            <a:endParaRPr sz="1800">
              <a:latin typeface="Verdana"/>
              <a:cs typeface="Verdana"/>
            </a:endParaRPr>
          </a:p>
          <a:p>
            <a:pPr marL="699135" marR="5080" lvl="1" indent="-229235">
              <a:lnSpc>
                <a:spcPts val="1950"/>
              </a:lnSpc>
              <a:spcBef>
                <a:spcPts val="1385"/>
              </a:spcBef>
              <a:buFont typeface="Arial MT"/>
              <a:buChar char="•"/>
              <a:tabLst>
                <a:tab pos="699135" algn="l"/>
              </a:tabLst>
            </a:pPr>
            <a:r>
              <a:rPr sz="1800" spc="50" dirty="0">
                <a:latin typeface="Verdana"/>
                <a:cs typeface="Verdana"/>
              </a:rPr>
              <a:t>Most</a:t>
            </a:r>
            <a:r>
              <a:rPr sz="1800" spc="-145" dirty="0">
                <a:latin typeface="Verdana"/>
                <a:cs typeface="Verdana"/>
              </a:rPr>
              <a:t> </a:t>
            </a:r>
            <a:r>
              <a:rPr sz="1800" b="1" spc="-100" dirty="0">
                <a:latin typeface="Verdana"/>
                <a:cs typeface="Verdana"/>
              </a:rPr>
              <a:t>journal</a:t>
            </a:r>
            <a:r>
              <a:rPr sz="1800" b="1" spc="-95" dirty="0">
                <a:latin typeface="Verdana"/>
                <a:cs typeface="Verdana"/>
              </a:rPr>
              <a:t> </a:t>
            </a:r>
            <a:r>
              <a:rPr sz="1800" b="1" spc="-90" dirty="0">
                <a:latin typeface="Verdana"/>
                <a:cs typeface="Verdana"/>
              </a:rPr>
              <a:t>articles</a:t>
            </a:r>
            <a:r>
              <a:rPr sz="1800" b="1" spc="20" dirty="0">
                <a:latin typeface="Verdana"/>
                <a:cs typeface="Verdana"/>
              </a:rPr>
              <a:t> </a:t>
            </a:r>
            <a:r>
              <a:rPr sz="1800" b="1" spc="-50" dirty="0">
                <a:latin typeface="Verdana"/>
                <a:cs typeface="Verdana"/>
              </a:rPr>
              <a:t>and</a:t>
            </a:r>
            <a:r>
              <a:rPr sz="1800" b="1" spc="-120" dirty="0">
                <a:latin typeface="Verdana"/>
                <a:cs typeface="Verdana"/>
              </a:rPr>
              <a:t> </a:t>
            </a:r>
            <a:r>
              <a:rPr sz="1800" b="1" spc="-65" dirty="0">
                <a:latin typeface="Verdana"/>
                <a:cs typeface="Verdana"/>
              </a:rPr>
              <a:t>eBooks</a:t>
            </a:r>
            <a:r>
              <a:rPr sz="1800" b="1" spc="-135" dirty="0">
                <a:latin typeface="Verdana"/>
                <a:cs typeface="Verdana"/>
              </a:rPr>
              <a:t> </a:t>
            </a:r>
            <a:r>
              <a:rPr sz="1800" b="1" spc="-90" dirty="0">
                <a:latin typeface="Verdana"/>
                <a:cs typeface="Verdana"/>
              </a:rPr>
              <a:t>have </a:t>
            </a:r>
            <a:r>
              <a:rPr sz="1800" b="1" spc="-105" dirty="0">
                <a:latin typeface="Verdana"/>
                <a:cs typeface="Verdana"/>
              </a:rPr>
              <a:t>a</a:t>
            </a:r>
            <a:r>
              <a:rPr sz="1800" b="1" spc="-135" dirty="0">
                <a:latin typeface="Verdana"/>
                <a:cs typeface="Verdana"/>
              </a:rPr>
              <a:t> </a:t>
            </a:r>
            <a:r>
              <a:rPr sz="1800" b="1" spc="-25" dirty="0">
                <a:latin typeface="Verdana"/>
                <a:cs typeface="Verdana"/>
              </a:rPr>
              <a:t>DOI </a:t>
            </a:r>
            <a:r>
              <a:rPr sz="1800" spc="-20" dirty="0">
                <a:latin typeface="Verdana"/>
                <a:cs typeface="Verdana"/>
              </a:rPr>
              <a:t>(Digital</a:t>
            </a:r>
            <a:r>
              <a:rPr sz="1800" spc="10" dirty="0">
                <a:latin typeface="Verdana"/>
                <a:cs typeface="Verdana"/>
              </a:rPr>
              <a:t> </a:t>
            </a:r>
            <a:r>
              <a:rPr sz="1800" dirty="0">
                <a:latin typeface="Verdana"/>
                <a:cs typeface="Verdana"/>
              </a:rPr>
              <a:t>Object</a:t>
            </a:r>
            <a:r>
              <a:rPr sz="1800" spc="-185" dirty="0">
                <a:latin typeface="Verdana"/>
                <a:cs typeface="Verdana"/>
              </a:rPr>
              <a:t> </a:t>
            </a:r>
            <a:r>
              <a:rPr sz="1800" spc="-45" dirty="0">
                <a:latin typeface="Verdana"/>
                <a:cs typeface="Verdana"/>
              </a:rPr>
              <a:t>Identifier)</a:t>
            </a:r>
            <a:r>
              <a:rPr sz="1800" spc="-114" dirty="0">
                <a:latin typeface="Verdana"/>
                <a:cs typeface="Verdana"/>
              </a:rPr>
              <a:t> </a:t>
            </a:r>
            <a:r>
              <a:rPr sz="1800" dirty="0">
                <a:latin typeface="Verdana"/>
                <a:cs typeface="Verdana"/>
              </a:rPr>
              <a:t>assigned</a:t>
            </a:r>
            <a:r>
              <a:rPr sz="1800" spc="-60" dirty="0">
                <a:latin typeface="Verdana"/>
                <a:cs typeface="Verdana"/>
              </a:rPr>
              <a:t> </a:t>
            </a:r>
            <a:r>
              <a:rPr sz="1800" dirty="0">
                <a:latin typeface="Verdana"/>
                <a:cs typeface="Verdana"/>
              </a:rPr>
              <a:t>to</a:t>
            </a:r>
            <a:r>
              <a:rPr sz="1800" spc="-125" dirty="0">
                <a:latin typeface="Verdana"/>
                <a:cs typeface="Verdana"/>
              </a:rPr>
              <a:t> </a:t>
            </a:r>
            <a:r>
              <a:rPr sz="1800" spc="-10" dirty="0">
                <a:latin typeface="Verdana"/>
                <a:cs typeface="Verdana"/>
              </a:rPr>
              <a:t>them.</a:t>
            </a:r>
            <a:r>
              <a:rPr sz="1800" spc="-125" dirty="0">
                <a:latin typeface="Verdana"/>
                <a:cs typeface="Verdana"/>
              </a:rPr>
              <a:t> </a:t>
            </a:r>
            <a:r>
              <a:rPr sz="1800" spc="-20" dirty="0">
                <a:latin typeface="Verdana"/>
                <a:cs typeface="Verdana"/>
              </a:rPr>
              <a:t>This </a:t>
            </a:r>
            <a:r>
              <a:rPr sz="1800" dirty="0">
                <a:latin typeface="Verdana"/>
                <a:cs typeface="Verdana"/>
              </a:rPr>
              <a:t>unique</a:t>
            </a:r>
            <a:r>
              <a:rPr sz="1800" spc="-10" dirty="0">
                <a:latin typeface="Verdana"/>
                <a:cs typeface="Verdana"/>
              </a:rPr>
              <a:t> </a:t>
            </a:r>
            <a:r>
              <a:rPr sz="1800" dirty="0">
                <a:latin typeface="Verdana"/>
                <a:cs typeface="Verdana"/>
              </a:rPr>
              <a:t>link </a:t>
            </a:r>
            <a:r>
              <a:rPr sz="1800" spc="-50" dirty="0">
                <a:latin typeface="Verdana"/>
                <a:cs typeface="Verdana"/>
              </a:rPr>
              <a:t>is</a:t>
            </a:r>
            <a:r>
              <a:rPr sz="1800" spc="-25" dirty="0">
                <a:latin typeface="Verdana"/>
                <a:cs typeface="Verdana"/>
              </a:rPr>
              <a:t> </a:t>
            </a:r>
            <a:r>
              <a:rPr sz="1800" spc="-10" dirty="0">
                <a:latin typeface="Verdana"/>
                <a:cs typeface="Verdana"/>
              </a:rPr>
              <a:t>stable</a:t>
            </a:r>
            <a:r>
              <a:rPr sz="1800" spc="-85" dirty="0">
                <a:latin typeface="Verdana"/>
                <a:cs typeface="Verdana"/>
              </a:rPr>
              <a:t> </a:t>
            </a:r>
            <a:r>
              <a:rPr sz="1800" spc="-95" dirty="0">
                <a:latin typeface="Verdana"/>
                <a:cs typeface="Verdana"/>
              </a:rPr>
              <a:t>(it</a:t>
            </a:r>
            <a:r>
              <a:rPr sz="1800" spc="-110" dirty="0">
                <a:latin typeface="Verdana"/>
                <a:cs typeface="Verdana"/>
              </a:rPr>
              <a:t> </a:t>
            </a:r>
            <a:r>
              <a:rPr sz="1800" dirty="0">
                <a:latin typeface="Verdana"/>
                <a:cs typeface="Verdana"/>
              </a:rPr>
              <a:t>doesn’t</a:t>
            </a:r>
            <a:r>
              <a:rPr sz="1800" spc="-110" dirty="0">
                <a:latin typeface="Verdana"/>
                <a:cs typeface="Verdana"/>
              </a:rPr>
              <a:t> </a:t>
            </a:r>
            <a:r>
              <a:rPr sz="1800" dirty="0">
                <a:latin typeface="Verdana"/>
                <a:cs typeface="Verdana"/>
              </a:rPr>
              <a:t>change</a:t>
            </a:r>
            <a:r>
              <a:rPr sz="1800" spc="-90" dirty="0">
                <a:latin typeface="Verdana"/>
                <a:cs typeface="Verdana"/>
              </a:rPr>
              <a:t> </a:t>
            </a:r>
            <a:r>
              <a:rPr sz="1800" spc="-20" dirty="0">
                <a:latin typeface="Verdana"/>
                <a:cs typeface="Verdana"/>
              </a:rPr>
              <a:t>over</a:t>
            </a:r>
            <a:r>
              <a:rPr sz="1800" spc="-95" dirty="0">
                <a:latin typeface="Verdana"/>
                <a:cs typeface="Verdana"/>
              </a:rPr>
              <a:t> </a:t>
            </a:r>
            <a:r>
              <a:rPr sz="1800" spc="-10" dirty="0">
                <a:latin typeface="Verdana"/>
                <a:cs typeface="Verdana"/>
              </a:rPr>
              <a:t>time) </a:t>
            </a:r>
            <a:r>
              <a:rPr sz="1800" dirty="0">
                <a:latin typeface="Verdana"/>
                <a:cs typeface="Verdana"/>
              </a:rPr>
              <a:t>and</a:t>
            </a:r>
            <a:r>
              <a:rPr sz="1800" spc="-70" dirty="0">
                <a:latin typeface="Verdana"/>
                <a:cs typeface="Verdana"/>
              </a:rPr>
              <a:t> </a:t>
            </a:r>
            <a:r>
              <a:rPr sz="1800" dirty="0">
                <a:latin typeface="Verdana"/>
                <a:cs typeface="Verdana"/>
              </a:rPr>
              <a:t>makes</a:t>
            </a:r>
            <a:r>
              <a:rPr sz="1800" spc="-25" dirty="0">
                <a:latin typeface="Verdana"/>
                <a:cs typeface="Verdana"/>
              </a:rPr>
              <a:t> </a:t>
            </a:r>
            <a:r>
              <a:rPr sz="1800" dirty="0">
                <a:latin typeface="Verdana"/>
                <a:cs typeface="Verdana"/>
              </a:rPr>
              <a:t>retrieving</a:t>
            </a:r>
            <a:r>
              <a:rPr sz="1800" spc="-170" dirty="0">
                <a:latin typeface="Verdana"/>
                <a:cs typeface="Verdana"/>
              </a:rPr>
              <a:t> </a:t>
            </a:r>
            <a:r>
              <a:rPr sz="1800" spc="-30" dirty="0">
                <a:latin typeface="Verdana"/>
                <a:cs typeface="Verdana"/>
              </a:rPr>
              <a:t>a</a:t>
            </a:r>
            <a:r>
              <a:rPr sz="1800" spc="-135" dirty="0">
                <a:latin typeface="Verdana"/>
                <a:cs typeface="Verdana"/>
              </a:rPr>
              <a:t> </a:t>
            </a:r>
            <a:r>
              <a:rPr sz="1800" dirty="0">
                <a:latin typeface="Verdana"/>
                <a:cs typeface="Verdana"/>
              </a:rPr>
              <a:t>source</a:t>
            </a:r>
            <a:r>
              <a:rPr sz="1800" spc="-170" dirty="0">
                <a:latin typeface="Verdana"/>
                <a:cs typeface="Verdana"/>
              </a:rPr>
              <a:t> </a:t>
            </a:r>
            <a:r>
              <a:rPr sz="1800" spc="-25" dirty="0">
                <a:latin typeface="Verdana"/>
                <a:cs typeface="Verdana"/>
              </a:rPr>
              <a:t>easier</a:t>
            </a:r>
            <a:r>
              <a:rPr sz="1800" spc="-185" dirty="0">
                <a:latin typeface="Verdana"/>
                <a:cs typeface="Verdana"/>
              </a:rPr>
              <a:t> </a:t>
            </a:r>
            <a:r>
              <a:rPr sz="1800" spc="-25" dirty="0">
                <a:latin typeface="Verdana"/>
                <a:cs typeface="Verdana"/>
              </a:rPr>
              <a:t>for</a:t>
            </a:r>
            <a:r>
              <a:rPr sz="1800" spc="-105" dirty="0">
                <a:latin typeface="Verdana"/>
                <a:cs typeface="Verdana"/>
              </a:rPr>
              <a:t> </a:t>
            </a:r>
            <a:r>
              <a:rPr sz="1800" spc="-10" dirty="0">
                <a:latin typeface="Verdana"/>
                <a:cs typeface="Verdana"/>
              </a:rPr>
              <a:t>readers.</a:t>
            </a:r>
            <a:endParaRPr sz="1800">
              <a:latin typeface="Verdana"/>
              <a:cs typeface="Verdana"/>
            </a:endParaRPr>
          </a:p>
          <a:p>
            <a:pPr lvl="1">
              <a:lnSpc>
                <a:spcPct val="100000"/>
              </a:lnSpc>
              <a:spcBef>
                <a:spcPts val="960"/>
              </a:spcBef>
              <a:buFont typeface="Arial MT"/>
              <a:buChar char="•"/>
            </a:pPr>
            <a:endParaRPr sz="1800">
              <a:latin typeface="Verdana"/>
              <a:cs typeface="Verdana"/>
            </a:endParaRPr>
          </a:p>
          <a:p>
            <a:pPr marL="698500" lvl="1" indent="-228600">
              <a:lnSpc>
                <a:spcPts val="2055"/>
              </a:lnSpc>
              <a:buFont typeface="Arial MT"/>
              <a:buChar char="•"/>
              <a:tabLst>
                <a:tab pos="698500" algn="l"/>
              </a:tabLst>
            </a:pPr>
            <a:r>
              <a:rPr sz="1800" spc="-35" dirty="0">
                <a:latin typeface="Verdana"/>
                <a:cs typeface="Verdana"/>
              </a:rPr>
              <a:t>DOIs</a:t>
            </a:r>
            <a:r>
              <a:rPr sz="1800" spc="-110" dirty="0">
                <a:latin typeface="Verdana"/>
                <a:cs typeface="Verdana"/>
              </a:rPr>
              <a:t> </a:t>
            </a:r>
            <a:r>
              <a:rPr sz="1800" spc="-20" dirty="0">
                <a:latin typeface="Verdana"/>
                <a:cs typeface="Verdana"/>
              </a:rPr>
              <a:t>are</a:t>
            </a:r>
            <a:r>
              <a:rPr sz="1800" spc="-85" dirty="0">
                <a:latin typeface="Verdana"/>
                <a:cs typeface="Verdana"/>
              </a:rPr>
              <a:t> </a:t>
            </a:r>
            <a:r>
              <a:rPr sz="1800" dirty="0">
                <a:latin typeface="Verdana"/>
                <a:cs typeface="Verdana"/>
              </a:rPr>
              <a:t>formatted</a:t>
            </a:r>
            <a:r>
              <a:rPr sz="1800" spc="-150" dirty="0">
                <a:latin typeface="Verdana"/>
                <a:cs typeface="Verdana"/>
              </a:rPr>
              <a:t> </a:t>
            </a:r>
            <a:r>
              <a:rPr sz="1800" dirty="0">
                <a:latin typeface="Verdana"/>
                <a:cs typeface="Verdana"/>
              </a:rPr>
              <a:t>the</a:t>
            </a:r>
            <a:r>
              <a:rPr sz="1800" spc="-170" dirty="0">
                <a:latin typeface="Verdana"/>
                <a:cs typeface="Verdana"/>
              </a:rPr>
              <a:t> </a:t>
            </a:r>
            <a:r>
              <a:rPr sz="1800" dirty="0">
                <a:latin typeface="Verdana"/>
                <a:cs typeface="Verdana"/>
              </a:rPr>
              <a:t>same</a:t>
            </a:r>
            <a:r>
              <a:rPr sz="1800" spc="-5" dirty="0">
                <a:latin typeface="Verdana"/>
                <a:cs typeface="Verdana"/>
              </a:rPr>
              <a:t> </a:t>
            </a:r>
            <a:r>
              <a:rPr sz="1800" spc="-55" dirty="0">
                <a:latin typeface="Verdana"/>
                <a:cs typeface="Verdana"/>
              </a:rPr>
              <a:t>as</a:t>
            </a:r>
            <a:r>
              <a:rPr sz="1800" spc="-105" dirty="0">
                <a:latin typeface="Verdana"/>
                <a:cs typeface="Verdana"/>
              </a:rPr>
              <a:t> </a:t>
            </a:r>
            <a:r>
              <a:rPr sz="1800" spc="-40" dirty="0">
                <a:latin typeface="Verdana"/>
                <a:cs typeface="Verdana"/>
              </a:rPr>
              <a:t>URLs.</a:t>
            </a:r>
            <a:r>
              <a:rPr sz="1800" spc="-130" dirty="0">
                <a:latin typeface="Verdana"/>
                <a:cs typeface="Verdana"/>
              </a:rPr>
              <a:t> </a:t>
            </a:r>
            <a:r>
              <a:rPr sz="1800" dirty="0">
                <a:latin typeface="Verdana"/>
                <a:cs typeface="Verdana"/>
              </a:rPr>
              <a:t>The</a:t>
            </a:r>
            <a:r>
              <a:rPr sz="1800" spc="-90" dirty="0">
                <a:latin typeface="Verdana"/>
                <a:cs typeface="Verdana"/>
              </a:rPr>
              <a:t> </a:t>
            </a:r>
            <a:r>
              <a:rPr sz="1800" spc="-10" dirty="0">
                <a:latin typeface="Verdana"/>
                <a:cs typeface="Verdana"/>
              </a:rPr>
              <a:t>label</a:t>
            </a:r>
            <a:endParaRPr sz="1800">
              <a:latin typeface="Verdana"/>
              <a:cs typeface="Verdana"/>
            </a:endParaRPr>
          </a:p>
          <a:p>
            <a:pPr marL="699135">
              <a:lnSpc>
                <a:spcPts val="2055"/>
              </a:lnSpc>
            </a:pPr>
            <a:r>
              <a:rPr sz="1800" spc="-135" dirty="0">
                <a:latin typeface="Verdana"/>
                <a:cs typeface="Verdana"/>
              </a:rPr>
              <a:t>“DOI:”</a:t>
            </a:r>
            <a:r>
              <a:rPr sz="1800" spc="-75" dirty="0">
                <a:latin typeface="Verdana"/>
                <a:cs typeface="Verdana"/>
              </a:rPr>
              <a:t> </a:t>
            </a:r>
            <a:r>
              <a:rPr sz="1800" spc="-65" dirty="0">
                <a:latin typeface="Verdana"/>
                <a:cs typeface="Verdana"/>
              </a:rPr>
              <a:t>is</a:t>
            </a:r>
            <a:r>
              <a:rPr sz="1800" spc="-120" dirty="0">
                <a:latin typeface="Verdana"/>
                <a:cs typeface="Verdana"/>
              </a:rPr>
              <a:t> </a:t>
            </a:r>
            <a:r>
              <a:rPr sz="1800" dirty="0">
                <a:latin typeface="Verdana"/>
                <a:cs typeface="Verdana"/>
              </a:rPr>
              <a:t>no</a:t>
            </a:r>
            <a:r>
              <a:rPr sz="1800" spc="-65" dirty="0">
                <a:latin typeface="Verdana"/>
                <a:cs typeface="Verdana"/>
              </a:rPr>
              <a:t> </a:t>
            </a:r>
            <a:r>
              <a:rPr sz="1800" dirty="0">
                <a:latin typeface="Verdana"/>
                <a:cs typeface="Verdana"/>
              </a:rPr>
              <a:t>longer</a:t>
            </a:r>
            <a:r>
              <a:rPr sz="1800" spc="-30" dirty="0">
                <a:latin typeface="Verdana"/>
                <a:cs typeface="Verdana"/>
              </a:rPr>
              <a:t> </a:t>
            </a:r>
            <a:r>
              <a:rPr sz="1800" spc="-20" dirty="0">
                <a:latin typeface="Verdana"/>
                <a:cs typeface="Verdana"/>
              </a:rPr>
              <a:t>used.</a:t>
            </a:r>
            <a:endParaRPr sz="1800">
              <a:latin typeface="Verdana"/>
              <a:cs typeface="Verdana"/>
            </a:endParaRPr>
          </a:p>
        </p:txBody>
      </p:sp>
    </p:spTree>
    <p:extLst>
      <p:ext uri="{BB962C8B-B14F-4D97-AF65-F5344CB8AC3E}">
        <p14:creationId xmlns:p14="http://schemas.microsoft.com/office/powerpoint/2010/main" val="1097086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12999-2158-A260-DC31-EC37C9335A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CA3949-798B-C7B0-0D41-017E36AC6280}"/>
              </a:ext>
            </a:extLst>
          </p:cNvPr>
          <p:cNvSpPr txBox="1">
            <a:spLocks/>
          </p:cNvSpPr>
          <p:nvPr/>
        </p:nvSpPr>
        <p:spPr>
          <a:xfrm>
            <a:off x="480059" y="160019"/>
            <a:ext cx="9797732" cy="810514"/>
          </a:xfrm>
          <a:prstGeom prst="rect">
            <a:avLst/>
          </a:prstGeom>
        </p:spPr>
        <p:txBody>
          <a:bodyPr vert="horz" wrap="square" lIns="0" tIns="355345"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5880">
              <a:spcBef>
                <a:spcPts val="130"/>
              </a:spcBef>
            </a:pPr>
            <a:r>
              <a:rPr lang="en-US" sz="2750" b="1" kern="0" dirty="0">
                <a:solidFill>
                  <a:schemeClr val="bg1"/>
                </a:solidFill>
              </a:rPr>
              <a:t>5.</a:t>
            </a:r>
            <a:r>
              <a:rPr lang="en-US" sz="2750" b="1" kern="0" spc="55" dirty="0">
                <a:solidFill>
                  <a:schemeClr val="bg1"/>
                </a:solidFill>
              </a:rPr>
              <a:t> </a:t>
            </a:r>
            <a:r>
              <a:rPr lang="en-US" sz="2750" b="1" kern="0" dirty="0">
                <a:solidFill>
                  <a:schemeClr val="bg1"/>
                </a:solidFill>
              </a:rPr>
              <a:t>Citing</a:t>
            </a:r>
            <a:r>
              <a:rPr lang="en-US" sz="2750" b="1" kern="0" spc="105" dirty="0">
                <a:solidFill>
                  <a:schemeClr val="bg1"/>
                </a:solidFill>
              </a:rPr>
              <a:t> </a:t>
            </a:r>
            <a:r>
              <a:rPr lang="en-US" sz="2750" b="1" kern="0" dirty="0">
                <a:solidFill>
                  <a:schemeClr val="bg1"/>
                </a:solidFill>
              </a:rPr>
              <a:t>web</a:t>
            </a:r>
            <a:r>
              <a:rPr lang="en-US" sz="2750" b="1" kern="0" spc="110" dirty="0">
                <a:solidFill>
                  <a:schemeClr val="bg1"/>
                </a:solidFill>
              </a:rPr>
              <a:t> </a:t>
            </a:r>
            <a:r>
              <a:rPr lang="en-US" sz="2750" b="1" kern="0" spc="-20" dirty="0">
                <a:solidFill>
                  <a:schemeClr val="bg1"/>
                </a:solidFill>
              </a:rPr>
              <a:t>pages</a:t>
            </a:r>
            <a:endParaRPr lang="en-US" sz="2750" b="1" kern="0" dirty="0">
              <a:solidFill>
                <a:schemeClr val="bg1"/>
              </a:solidFill>
            </a:endParaRPr>
          </a:p>
        </p:txBody>
      </p:sp>
      <p:sp>
        <p:nvSpPr>
          <p:cNvPr id="4" name="object 3">
            <a:extLst>
              <a:ext uri="{FF2B5EF4-FFF2-40B4-BE49-F238E27FC236}">
                <a16:creationId xmlns:a16="http://schemas.microsoft.com/office/drawing/2014/main" id="{CB751AA0-4063-3358-5E8E-F98DA33884CF}"/>
              </a:ext>
            </a:extLst>
          </p:cNvPr>
          <p:cNvSpPr txBox="1"/>
          <p:nvPr/>
        </p:nvSpPr>
        <p:spPr>
          <a:xfrm>
            <a:off x="926146" y="1390586"/>
            <a:ext cx="8689341" cy="1321516"/>
          </a:xfrm>
          <a:prstGeom prst="rect">
            <a:avLst/>
          </a:prstGeom>
        </p:spPr>
        <p:txBody>
          <a:bodyPr vert="horz" wrap="square" lIns="0" tIns="15875" rIns="0" bIns="0" rtlCol="0">
            <a:spAutoFit/>
          </a:bodyPr>
          <a:lstStyle/>
          <a:p>
            <a:pPr marL="12700">
              <a:spcBef>
                <a:spcPts val="125"/>
              </a:spcBef>
            </a:pPr>
            <a:r>
              <a:rPr sz="2000" dirty="0">
                <a:solidFill>
                  <a:srgbClr val="FF6461"/>
                </a:solidFill>
                <a:latin typeface="Segoe UI Symbol"/>
                <a:cs typeface="Segoe UI Symbol"/>
              </a:rPr>
              <a:t>✗</a:t>
            </a:r>
            <a:r>
              <a:rPr sz="2000" dirty="0">
                <a:solidFill>
                  <a:srgbClr val="1B2B68"/>
                </a:solidFill>
                <a:latin typeface="Verdana"/>
                <a:cs typeface="Verdana"/>
              </a:rPr>
              <a:t>Jenkins,</a:t>
            </a:r>
            <a:r>
              <a:rPr sz="2000" spc="-60" dirty="0">
                <a:solidFill>
                  <a:srgbClr val="1B2B68"/>
                </a:solidFill>
                <a:latin typeface="Verdana"/>
                <a:cs typeface="Verdana"/>
              </a:rPr>
              <a:t> </a:t>
            </a:r>
            <a:r>
              <a:rPr sz="2000" dirty="0">
                <a:solidFill>
                  <a:srgbClr val="1B2B68"/>
                </a:solidFill>
                <a:latin typeface="Verdana"/>
                <a:cs typeface="Verdana"/>
              </a:rPr>
              <a:t>M.</a:t>
            </a:r>
            <a:r>
              <a:rPr sz="2000" spc="30" dirty="0">
                <a:solidFill>
                  <a:srgbClr val="1B2B68"/>
                </a:solidFill>
                <a:latin typeface="Verdana"/>
                <a:cs typeface="Verdana"/>
              </a:rPr>
              <a:t> </a:t>
            </a:r>
            <a:r>
              <a:rPr sz="2000" spc="-114" dirty="0">
                <a:solidFill>
                  <a:srgbClr val="1B2B68"/>
                </a:solidFill>
                <a:latin typeface="Verdana"/>
                <a:cs typeface="Verdana"/>
              </a:rPr>
              <a:t>(2023,</a:t>
            </a:r>
            <a:r>
              <a:rPr sz="2000" spc="-60" dirty="0">
                <a:solidFill>
                  <a:srgbClr val="1B2B68"/>
                </a:solidFill>
                <a:latin typeface="Verdana"/>
                <a:cs typeface="Verdana"/>
              </a:rPr>
              <a:t> </a:t>
            </a:r>
            <a:r>
              <a:rPr sz="2000" dirty="0">
                <a:solidFill>
                  <a:srgbClr val="1B2B68"/>
                </a:solidFill>
                <a:latin typeface="Verdana"/>
                <a:cs typeface="Verdana"/>
              </a:rPr>
              <a:t>May</a:t>
            </a:r>
            <a:r>
              <a:rPr sz="2000" spc="40" dirty="0">
                <a:solidFill>
                  <a:srgbClr val="1B2B68"/>
                </a:solidFill>
                <a:latin typeface="Verdana"/>
                <a:cs typeface="Verdana"/>
              </a:rPr>
              <a:t> </a:t>
            </a:r>
            <a:r>
              <a:rPr sz="2000" spc="-120" dirty="0">
                <a:solidFill>
                  <a:srgbClr val="1B2B68"/>
                </a:solidFill>
                <a:latin typeface="Verdana"/>
                <a:cs typeface="Verdana"/>
              </a:rPr>
              <a:t>24).</a:t>
            </a:r>
            <a:r>
              <a:rPr sz="2000" spc="30" dirty="0">
                <a:solidFill>
                  <a:srgbClr val="1B2B68"/>
                </a:solidFill>
                <a:latin typeface="Verdana"/>
                <a:cs typeface="Verdana"/>
              </a:rPr>
              <a:t> </a:t>
            </a:r>
            <a:r>
              <a:rPr sz="2000" dirty="0">
                <a:solidFill>
                  <a:srgbClr val="1B2B68"/>
                </a:solidFill>
                <a:latin typeface="Verdana"/>
                <a:cs typeface="Verdana"/>
              </a:rPr>
              <a:t>The</a:t>
            </a:r>
            <a:r>
              <a:rPr sz="2000" spc="10" dirty="0">
                <a:solidFill>
                  <a:srgbClr val="1B2B68"/>
                </a:solidFill>
                <a:latin typeface="Verdana"/>
                <a:cs typeface="Verdana"/>
              </a:rPr>
              <a:t> </a:t>
            </a:r>
            <a:r>
              <a:rPr sz="2400" dirty="0">
                <a:solidFill>
                  <a:srgbClr val="1B2B68"/>
                </a:solidFill>
                <a:latin typeface="Verdana"/>
                <a:cs typeface="Verdana"/>
              </a:rPr>
              <a:t>Chinese</a:t>
            </a:r>
            <a:r>
              <a:rPr sz="2000" spc="95" dirty="0">
                <a:solidFill>
                  <a:srgbClr val="1B2B68"/>
                </a:solidFill>
                <a:latin typeface="Verdana"/>
                <a:cs typeface="Verdana"/>
              </a:rPr>
              <a:t> </a:t>
            </a:r>
            <a:r>
              <a:rPr sz="2000" spc="114" dirty="0">
                <a:solidFill>
                  <a:srgbClr val="1B2B68"/>
                </a:solidFill>
                <a:latin typeface="Verdana"/>
                <a:cs typeface="Verdana"/>
              </a:rPr>
              <a:t>BBQ</a:t>
            </a:r>
            <a:r>
              <a:rPr sz="2000" spc="15" dirty="0">
                <a:solidFill>
                  <a:srgbClr val="1B2B68"/>
                </a:solidFill>
                <a:latin typeface="Verdana"/>
                <a:cs typeface="Verdana"/>
              </a:rPr>
              <a:t> </a:t>
            </a:r>
            <a:r>
              <a:rPr sz="2000" dirty="0">
                <a:solidFill>
                  <a:srgbClr val="1B2B68"/>
                </a:solidFill>
                <a:latin typeface="Verdana"/>
                <a:cs typeface="Verdana"/>
              </a:rPr>
              <a:t>luring</a:t>
            </a:r>
            <a:r>
              <a:rPr sz="2000" spc="40" dirty="0">
                <a:solidFill>
                  <a:srgbClr val="1B2B68"/>
                </a:solidFill>
                <a:latin typeface="Verdana"/>
                <a:cs typeface="Verdana"/>
              </a:rPr>
              <a:t> </a:t>
            </a:r>
            <a:r>
              <a:rPr sz="2000" spc="-10" dirty="0">
                <a:solidFill>
                  <a:srgbClr val="1B2B68"/>
                </a:solidFill>
                <a:latin typeface="Verdana"/>
                <a:cs typeface="Verdana"/>
              </a:rPr>
              <a:t>millions.</a:t>
            </a:r>
            <a:r>
              <a:rPr lang="en-US" sz="2000" spc="-10" dirty="0">
                <a:solidFill>
                  <a:srgbClr val="1B2B68"/>
                </a:solidFill>
                <a:latin typeface="Verdana"/>
                <a:cs typeface="Verdana"/>
              </a:rPr>
              <a:t> Retrieved from  </a:t>
            </a:r>
            <a:r>
              <a:rPr lang="en-US" sz="2000" u="sng" dirty="0">
                <a:solidFill>
                  <a:srgbClr val="0462C1"/>
                </a:solidFill>
                <a:uFill>
                  <a:solidFill>
                    <a:srgbClr val="0462C1"/>
                  </a:solidFill>
                </a:uFill>
                <a:latin typeface="Segoe UI"/>
                <a:cs typeface="Segoe UI"/>
                <a:hlinkClick r:id="rId2"/>
              </a:rPr>
              <a:t>https://www.bbc.com/travel/article/20230523-the-chinese-bbq-luring-</a:t>
            </a:r>
            <a:r>
              <a:rPr lang="en-US" sz="2000" u="sng" spc="-10" dirty="0">
                <a:solidFill>
                  <a:srgbClr val="0462C1"/>
                </a:solidFill>
                <a:uFill>
                  <a:solidFill>
                    <a:srgbClr val="0462C1"/>
                  </a:solidFill>
                </a:uFill>
                <a:latin typeface="Segoe UI"/>
                <a:cs typeface="Segoe UI"/>
                <a:hlinkClick r:id="rId2"/>
              </a:rPr>
              <a:t>millions</a:t>
            </a:r>
            <a:endParaRPr lang="en-US" sz="2000" dirty="0">
              <a:latin typeface="Segoe UI"/>
              <a:cs typeface="Segoe UI"/>
            </a:endParaRPr>
          </a:p>
          <a:p>
            <a:pPr marL="12700">
              <a:lnSpc>
                <a:spcPct val="100000"/>
              </a:lnSpc>
              <a:spcBef>
                <a:spcPts val="125"/>
              </a:spcBef>
            </a:pPr>
            <a:endParaRPr sz="2000" dirty="0">
              <a:latin typeface="Verdana"/>
              <a:cs typeface="Verdana"/>
            </a:endParaRPr>
          </a:p>
        </p:txBody>
      </p:sp>
      <p:sp>
        <p:nvSpPr>
          <p:cNvPr id="8" name="object 7">
            <a:extLst>
              <a:ext uri="{FF2B5EF4-FFF2-40B4-BE49-F238E27FC236}">
                <a16:creationId xmlns:a16="http://schemas.microsoft.com/office/drawing/2014/main" id="{4EF37B9B-7B1D-9D34-F060-76510C3E3B87}"/>
              </a:ext>
            </a:extLst>
          </p:cNvPr>
          <p:cNvSpPr txBox="1"/>
          <p:nvPr/>
        </p:nvSpPr>
        <p:spPr>
          <a:xfrm>
            <a:off x="826133" y="3565206"/>
            <a:ext cx="8889366" cy="1622239"/>
          </a:xfrm>
          <a:prstGeom prst="rect">
            <a:avLst/>
          </a:prstGeom>
        </p:spPr>
        <p:txBody>
          <a:bodyPr vert="horz" wrap="square" lIns="0" tIns="138430" rIns="0" bIns="0" rtlCol="0">
            <a:spAutoFit/>
          </a:bodyPr>
          <a:lstStyle/>
          <a:p>
            <a:pPr marL="173990" indent="-161290">
              <a:lnSpc>
                <a:spcPct val="100000"/>
              </a:lnSpc>
              <a:spcBef>
                <a:spcPts val="1090"/>
              </a:spcBef>
              <a:buClr>
                <a:srgbClr val="17CDBA"/>
              </a:buClr>
              <a:buFont typeface="Segoe UI Symbol"/>
              <a:buChar char="✓"/>
              <a:tabLst>
                <a:tab pos="173990" algn="l"/>
              </a:tabLst>
            </a:pPr>
            <a:r>
              <a:rPr sz="2000" dirty="0">
                <a:solidFill>
                  <a:srgbClr val="001F5F"/>
                </a:solidFill>
                <a:latin typeface="Verdana"/>
                <a:cs typeface="Verdana"/>
              </a:rPr>
              <a:t>Jenkins,</a:t>
            </a:r>
            <a:r>
              <a:rPr sz="2000" spc="-80" dirty="0">
                <a:solidFill>
                  <a:srgbClr val="001F5F"/>
                </a:solidFill>
                <a:latin typeface="Verdana"/>
                <a:cs typeface="Verdana"/>
              </a:rPr>
              <a:t> </a:t>
            </a:r>
            <a:r>
              <a:rPr sz="2000" spc="-25" dirty="0">
                <a:solidFill>
                  <a:srgbClr val="001F5F"/>
                </a:solidFill>
                <a:latin typeface="Verdana"/>
                <a:cs typeface="Verdana"/>
              </a:rPr>
              <a:t>M.</a:t>
            </a:r>
            <a:r>
              <a:rPr sz="2000" spc="-75" dirty="0">
                <a:solidFill>
                  <a:srgbClr val="001F5F"/>
                </a:solidFill>
                <a:latin typeface="Verdana"/>
                <a:cs typeface="Verdana"/>
              </a:rPr>
              <a:t> </a:t>
            </a:r>
            <a:r>
              <a:rPr sz="2000" spc="-114" dirty="0">
                <a:solidFill>
                  <a:srgbClr val="001F5F"/>
                </a:solidFill>
                <a:latin typeface="Verdana"/>
                <a:cs typeface="Verdana"/>
              </a:rPr>
              <a:t>(2023,</a:t>
            </a:r>
            <a:r>
              <a:rPr sz="2000" spc="15" dirty="0">
                <a:solidFill>
                  <a:srgbClr val="001F5F"/>
                </a:solidFill>
                <a:latin typeface="Verdana"/>
                <a:cs typeface="Verdana"/>
              </a:rPr>
              <a:t> </a:t>
            </a:r>
            <a:r>
              <a:rPr sz="2000" dirty="0">
                <a:solidFill>
                  <a:srgbClr val="001F5F"/>
                </a:solidFill>
                <a:latin typeface="Verdana"/>
                <a:cs typeface="Verdana"/>
              </a:rPr>
              <a:t>May</a:t>
            </a:r>
            <a:r>
              <a:rPr sz="2000" spc="20" dirty="0">
                <a:solidFill>
                  <a:srgbClr val="001F5F"/>
                </a:solidFill>
                <a:latin typeface="Verdana"/>
                <a:cs typeface="Verdana"/>
              </a:rPr>
              <a:t> </a:t>
            </a:r>
            <a:r>
              <a:rPr sz="2000" spc="-120" dirty="0">
                <a:solidFill>
                  <a:srgbClr val="001F5F"/>
                </a:solidFill>
                <a:latin typeface="Verdana"/>
                <a:cs typeface="Verdana"/>
              </a:rPr>
              <a:t>24).</a:t>
            </a:r>
            <a:r>
              <a:rPr sz="2000" spc="-80" dirty="0">
                <a:solidFill>
                  <a:srgbClr val="001F5F"/>
                </a:solidFill>
                <a:latin typeface="Verdana"/>
                <a:cs typeface="Verdana"/>
              </a:rPr>
              <a:t> </a:t>
            </a:r>
            <a:r>
              <a:rPr sz="2000" i="1" dirty="0">
                <a:solidFill>
                  <a:srgbClr val="1B2B68"/>
                </a:solidFill>
                <a:latin typeface="Verdana"/>
                <a:cs typeface="Verdana"/>
              </a:rPr>
              <a:t>The</a:t>
            </a:r>
            <a:r>
              <a:rPr sz="2000" i="1" spc="75" dirty="0">
                <a:solidFill>
                  <a:srgbClr val="1B2B68"/>
                </a:solidFill>
                <a:latin typeface="Verdana"/>
                <a:cs typeface="Verdana"/>
              </a:rPr>
              <a:t> </a:t>
            </a:r>
            <a:r>
              <a:rPr sz="2000" i="1" dirty="0">
                <a:solidFill>
                  <a:srgbClr val="1B2B68"/>
                </a:solidFill>
                <a:latin typeface="Verdana"/>
                <a:cs typeface="Verdana"/>
              </a:rPr>
              <a:t>Chinese</a:t>
            </a:r>
            <a:r>
              <a:rPr sz="2000" i="1" spc="-15" dirty="0">
                <a:solidFill>
                  <a:srgbClr val="1B2B68"/>
                </a:solidFill>
                <a:latin typeface="Verdana"/>
                <a:cs typeface="Verdana"/>
              </a:rPr>
              <a:t> </a:t>
            </a:r>
            <a:r>
              <a:rPr sz="2000" i="1" spc="110" dirty="0">
                <a:solidFill>
                  <a:srgbClr val="1B2B68"/>
                </a:solidFill>
                <a:latin typeface="Verdana"/>
                <a:cs typeface="Verdana"/>
              </a:rPr>
              <a:t>BBQ</a:t>
            </a:r>
            <a:r>
              <a:rPr sz="2000" i="1" spc="-10" dirty="0">
                <a:solidFill>
                  <a:srgbClr val="1B2B68"/>
                </a:solidFill>
                <a:latin typeface="Verdana"/>
                <a:cs typeface="Verdana"/>
              </a:rPr>
              <a:t> </a:t>
            </a:r>
            <a:r>
              <a:rPr sz="2000" i="1" dirty="0">
                <a:solidFill>
                  <a:srgbClr val="1B2B68"/>
                </a:solidFill>
                <a:latin typeface="Verdana"/>
                <a:cs typeface="Verdana"/>
              </a:rPr>
              <a:t>luring</a:t>
            </a:r>
            <a:r>
              <a:rPr sz="2000" i="1" spc="15" dirty="0">
                <a:solidFill>
                  <a:srgbClr val="1B2B68"/>
                </a:solidFill>
                <a:latin typeface="Verdana"/>
                <a:cs typeface="Verdana"/>
              </a:rPr>
              <a:t> </a:t>
            </a:r>
            <a:r>
              <a:rPr sz="2000" i="1" dirty="0">
                <a:solidFill>
                  <a:srgbClr val="1B2B68"/>
                </a:solidFill>
                <a:latin typeface="Verdana"/>
                <a:cs typeface="Verdana"/>
              </a:rPr>
              <a:t>millions.</a:t>
            </a:r>
            <a:r>
              <a:rPr sz="2000" i="1" spc="15" dirty="0">
                <a:solidFill>
                  <a:srgbClr val="1B2B68"/>
                </a:solidFill>
                <a:latin typeface="Verdana"/>
                <a:cs typeface="Verdana"/>
              </a:rPr>
              <a:t> </a:t>
            </a:r>
            <a:r>
              <a:rPr sz="2000" spc="95" dirty="0">
                <a:solidFill>
                  <a:srgbClr val="1B2B68"/>
                </a:solidFill>
                <a:latin typeface="Verdana"/>
                <a:cs typeface="Verdana"/>
              </a:rPr>
              <a:t>BBC</a:t>
            </a:r>
            <a:r>
              <a:rPr sz="2000" spc="-50" dirty="0">
                <a:solidFill>
                  <a:srgbClr val="1B2B68"/>
                </a:solidFill>
                <a:latin typeface="Verdana"/>
                <a:cs typeface="Verdana"/>
              </a:rPr>
              <a:t> </a:t>
            </a:r>
            <a:r>
              <a:rPr sz="2000" spc="-10" dirty="0">
                <a:solidFill>
                  <a:srgbClr val="1B2B68"/>
                </a:solidFill>
                <a:latin typeface="Verdana"/>
                <a:cs typeface="Verdana"/>
              </a:rPr>
              <a:t>News.</a:t>
            </a:r>
            <a:endParaRPr sz="2000" dirty="0">
              <a:latin typeface="Verdana"/>
              <a:cs typeface="Verdana"/>
            </a:endParaRPr>
          </a:p>
          <a:p>
            <a:pPr marL="12700">
              <a:lnSpc>
                <a:spcPct val="100000"/>
              </a:lnSpc>
              <a:spcBef>
                <a:spcPts val="995"/>
              </a:spcBef>
            </a:pPr>
            <a:r>
              <a:rPr sz="2000" u="sng" dirty="0">
                <a:solidFill>
                  <a:srgbClr val="0462C1"/>
                </a:solidFill>
                <a:uFill>
                  <a:solidFill>
                    <a:srgbClr val="0462C1"/>
                  </a:solidFill>
                </a:uFill>
                <a:latin typeface="Segoe UI"/>
                <a:cs typeface="Segoe UI"/>
                <a:hlinkClick r:id="rId2"/>
              </a:rPr>
              <a:t>https://www.bbc.com/travel/article/</a:t>
            </a:r>
            <a:r>
              <a:rPr sz="2400" u="sng" dirty="0">
                <a:solidFill>
                  <a:srgbClr val="0462C1"/>
                </a:solidFill>
                <a:uFill>
                  <a:solidFill>
                    <a:srgbClr val="0462C1"/>
                  </a:solidFill>
                </a:uFill>
                <a:latin typeface="Segoe UI"/>
                <a:cs typeface="Segoe UI"/>
                <a:hlinkClick r:id="rId2"/>
              </a:rPr>
              <a:t>20230523-the-chinese-bbq-luring-</a:t>
            </a:r>
            <a:r>
              <a:rPr sz="2400" u="sng" spc="-10" dirty="0">
                <a:solidFill>
                  <a:srgbClr val="0462C1"/>
                </a:solidFill>
                <a:uFill>
                  <a:solidFill>
                    <a:srgbClr val="0462C1"/>
                  </a:solidFill>
                </a:uFill>
                <a:latin typeface="Segoe UI"/>
                <a:cs typeface="Segoe UI"/>
                <a:hlinkClick r:id="rId2"/>
              </a:rPr>
              <a:t>millions</a:t>
            </a:r>
            <a:endParaRPr sz="2000" dirty="0">
              <a:latin typeface="Segoe UI"/>
              <a:cs typeface="Segoe UI"/>
            </a:endParaRPr>
          </a:p>
        </p:txBody>
      </p:sp>
    </p:spTree>
    <p:extLst>
      <p:ext uri="{BB962C8B-B14F-4D97-AF65-F5344CB8AC3E}">
        <p14:creationId xmlns:p14="http://schemas.microsoft.com/office/powerpoint/2010/main" val="1409687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BEF51-9AE0-13C1-8D8E-B1842885F7BD}"/>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4EC078D7-D029-6A46-AF26-9ED0170736D0}"/>
              </a:ext>
            </a:extLst>
          </p:cNvPr>
          <p:cNvSpPr txBox="1">
            <a:spLocks/>
          </p:cNvSpPr>
          <p:nvPr/>
        </p:nvSpPr>
        <p:spPr>
          <a:xfrm>
            <a:off x="480059" y="160019"/>
            <a:ext cx="9797732" cy="810514"/>
          </a:xfrm>
          <a:prstGeom prst="rect">
            <a:avLst/>
          </a:prstGeom>
        </p:spPr>
        <p:txBody>
          <a:bodyPr vert="horz" wrap="square" lIns="0" tIns="355345"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5880">
              <a:spcBef>
                <a:spcPts val="130"/>
              </a:spcBef>
            </a:pPr>
            <a:r>
              <a:rPr lang="en-US" sz="2750" b="1" kern="0" dirty="0">
                <a:solidFill>
                  <a:schemeClr val="bg1"/>
                </a:solidFill>
              </a:rPr>
              <a:t>6.</a:t>
            </a:r>
            <a:r>
              <a:rPr lang="en-US" sz="2750" b="1" kern="0" spc="45" dirty="0">
                <a:solidFill>
                  <a:schemeClr val="bg1"/>
                </a:solidFill>
              </a:rPr>
              <a:t> </a:t>
            </a:r>
            <a:r>
              <a:rPr lang="en-US" sz="2750" b="1" kern="0" dirty="0">
                <a:solidFill>
                  <a:schemeClr val="bg1"/>
                </a:solidFill>
              </a:rPr>
              <a:t>Contributors</a:t>
            </a:r>
            <a:r>
              <a:rPr lang="en-US" sz="2750" b="1" kern="0" spc="204" dirty="0">
                <a:solidFill>
                  <a:schemeClr val="bg1"/>
                </a:solidFill>
              </a:rPr>
              <a:t> </a:t>
            </a:r>
            <a:r>
              <a:rPr lang="en-US" sz="2750" b="1" kern="0" dirty="0">
                <a:solidFill>
                  <a:schemeClr val="bg1"/>
                </a:solidFill>
              </a:rPr>
              <a:t>other</a:t>
            </a:r>
            <a:r>
              <a:rPr lang="en-US" sz="2750" b="1" kern="0" spc="150" dirty="0">
                <a:solidFill>
                  <a:schemeClr val="bg1"/>
                </a:solidFill>
              </a:rPr>
              <a:t> </a:t>
            </a:r>
            <a:r>
              <a:rPr lang="en-US" sz="2750" b="1" kern="0" dirty="0">
                <a:solidFill>
                  <a:schemeClr val="bg1"/>
                </a:solidFill>
              </a:rPr>
              <a:t>than</a:t>
            </a:r>
            <a:r>
              <a:rPr lang="en-US" sz="2750" b="1" kern="0" spc="150" dirty="0">
                <a:solidFill>
                  <a:schemeClr val="bg1"/>
                </a:solidFill>
              </a:rPr>
              <a:t> </a:t>
            </a:r>
            <a:r>
              <a:rPr lang="en-US" sz="2750" b="1" kern="0" spc="-10" dirty="0">
                <a:solidFill>
                  <a:schemeClr val="bg1"/>
                </a:solidFill>
              </a:rPr>
              <a:t>authors</a:t>
            </a:r>
            <a:endParaRPr lang="en-US" sz="2750" b="1" kern="0" dirty="0">
              <a:solidFill>
                <a:schemeClr val="bg1"/>
              </a:solidFill>
            </a:endParaRPr>
          </a:p>
        </p:txBody>
      </p:sp>
      <p:graphicFrame>
        <p:nvGraphicFramePr>
          <p:cNvPr id="3" name="object 4">
            <a:extLst>
              <a:ext uri="{FF2B5EF4-FFF2-40B4-BE49-F238E27FC236}">
                <a16:creationId xmlns:a16="http://schemas.microsoft.com/office/drawing/2014/main" id="{5FEC5EC2-EA75-4E60-16FA-DDF65FD5D453}"/>
              </a:ext>
            </a:extLst>
          </p:cNvPr>
          <p:cNvGraphicFramePr>
            <a:graphicFrameLocks noGrp="1"/>
          </p:cNvGraphicFramePr>
          <p:nvPr>
            <p:extLst>
              <p:ext uri="{D42A27DB-BD31-4B8C-83A1-F6EECF244321}">
                <p14:modId xmlns:p14="http://schemas.microsoft.com/office/powerpoint/2010/main" val="341617641"/>
              </p:ext>
            </p:extLst>
          </p:nvPr>
        </p:nvGraphicFramePr>
        <p:xfrm>
          <a:off x="480059" y="1538604"/>
          <a:ext cx="9906954" cy="4976496"/>
        </p:xfrm>
        <a:graphic>
          <a:graphicData uri="http://schemas.openxmlformats.org/drawingml/2006/table">
            <a:tbl>
              <a:tblPr firstRow="1" bandRow="1">
                <a:tableStyleId>{68D230F3-CF80-4859-8CE7-A43EE81993B5}</a:tableStyleId>
              </a:tblPr>
              <a:tblGrid>
                <a:gridCol w="5785735">
                  <a:extLst>
                    <a:ext uri="{9D8B030D-6E8A-4147-A177-3AD203B41FA5}">
                      <a16:colId xmlns:a16="http://schemas.microsoft.com/office/drawing/2014/main" val="20000"/>
                    </a:ext>
                  </a:extLst>
                </a:gridCol>
                <a:gridCol w="4121219">
                  <a:extLst>
                    <a:ext uri="{9D8B030D-6E8A-4147-A177-3AD203B41FA5}">
                      <a16:colId xmlns:a16="http://schemas.microsoft.com/office/drawing/2014/main" val="20001"/>
                    </a:ext>
                  </a:extLst>
                </a:gridCol>
              </a:tblGrid>
              <a:tr h="515748">
                <a:tc>
                  <a:txBody>
                    <a:bodyPr/>
                    <a:lstStyle/>
                    <a:p>
                      <a:pPr marL="635">
                        <a:lnSpc>
                          <a:spcPct val="100000"/>
                        </a:lnSpc>
                        <a:spcBef>
                          <a:spcPts val="1070"/>
                        </a:spcBef>
                      </a:pPr>
                      <a:r>
                        <a:rPr sz="2400" b="1" spc="-30" dirty="0">
                          <a:solidFill>
                            <a:schemeClr val="tx1">
                              <a:lumMod val="95000"/>
                              <a:lumOff val="5000"/>
                            </a:schemeClr>
                          </a:solidFill>
                        </a:rPr>
                        <a:t>Media</a:t>
                      </a:r>
                      <a:r>
                        <a:rPr sz="2400" b="1" spc="-125" dirty="0">
                          <a:solidFill>
                            <a:schemeClr val="tx1">
                              <a:lumMod val="95000"/>
                              <a:lumOff val="5000"/>
                            </a:schemeClr>
                          </a:solidFill>
                        </a:rPr>
                        <a:t> </a:t>
                      </a:r>
                      <a:r>
                        <a:rPr sz="2400" b="1" spc="-20" dirty="0">
                          <a:solidFill>
                            <a:schemeClr val="tx1">
                              <a:lumMod val="95000"/>
                              <a:lumOff val="5000"/>
                            </a:schemeClr>
                          </a:solidFill>
                        </a:rPr>
                        <a:t>type</a:t>
                      </a:r>
                      <a:endParaRPr sz="2400" dirty="0">
                        <a:solidFill>
                          <a:schemeClr val="tx1">
                            <a:lumMod val="95000"/>
                            <a:lumOff val="5000"/>
                          </a:schemeClr>
                        </a:solidFill>
                        <a:latin typeface="Verdana"/>
                        <a:cs typeface="Verdana"/>
                      </a:endParaRPr>
                    </a:p>
                  </a:txBody>
                  <a:tcPr marL="0" marR="0" marT="135890" marB="0"/>
                </a:tc>
                <a:tc>
                  <a:txBody>
                    <a:bodyPr/>
                    <a:lstStyle/>
                    <a:p>
                      <a:pPr marL="3810">
                        <a:lnSpc>
                          <a:spcPct val="100000"/>
                        </a:lnSpc>
                        <a:spcBef>
                          <a:spcPts val="1070"/>
                        </a:spcBef>
                      </a:pPr>
                      <a:r>
                        <a:rPr sz="2400" b="1" spc="-70" dirty="0">
                          <a:solidFill>
                            <a:schemeClr val="tx1">
                              <a:lumMod val="95000"/>
                              <a:lumOff val="5000"/>
                            </a:schemeClr>
                          </a:solidFill>
                        </a:rPr>
                        <a:t>Include</a:t>
                      </a:r>
                      <a:r>
                        <a:rPr sz="2400" b="1" spc="-75" dirty="0">
                          <a:solidFill>
                            <a:schemeClr val="tx1">
                              <a:lumMod val="95000"/>
                              <a:lumOff val="5000"/>
                            </a:schemeClr>
                          </a:solidFill>
                        </a:rPr>
                        <a:t> </a:t>
                      </a:r>
                      <a:r>
                        <a:rPr sz="2400" b="1" spc="-70" dirty="0">
                          <a:solidFill>
                            <a:schemeClr val="tx1">
                              <a:lumMod val="95000"/>
                              <a:lumOff val="5000"/>
                            </a:schemeClr>
                          </a:solidFill>
                        </a:rPr>
                        <a:t>as</a:t>
                      </a:r>
                      <a:r>
                        <a:rPr sz="2400" b="1" spc="-165" dirty="0">
                          <a:solidFill>
                            <a:schemeClr val="tx1">
                              <a:lumMod val="95000"/>
                              <a:lumOff val="5000"/>
                            </a:schemeClr>
                          </a:solidFill>
                        </a:rPr>
                        <a:t> </a:t>
                      </a:r>
                      <a:r>
                        <a:rPr sz="2400" b="1" spc="-10" dirty="0">
                          <a:solidFill>
                            <a:schemeClr val="tx1">
                              <a:lumMod val="95000"/>
                              <a:lumOff val="5000"/>
                            </a:schemeClr>
                          </a:solidFill>
                        </a:rPr>
                        <a:t>author</a:t>
                      </a:r>
                      <a:endParaRPr sz="2400" dirty="0">
                        <a:solidFill>
                          <a:schemeClr val="tx1">
                            <a:lumMod val="95000"/>
                            <a:lumOff val="5000"/>
                          </a:schemeClr>
                        </a:solidFill>
                        <a:latin typeface="Verdana"/>
                        <a:cs typeface="Verdana"/>
                      </a:endParaRPr>
                    </a:p>
                  </a:txBody>
                  <a:tcPr marL="0" marR="0" marT="135890" marB="0"/>
                </a:tc>
                <a:extLst>
                  <a:ext uri="{0D108BD9-81ED-4DB2-BD59-A6C34878D82A}">
                    <a16:rowId xmlns:a16="http://schemas.microsoft.com/office/drawing/2014/main" val="10000"/>
                  </a:ext>
                </a:extLst>
              </a:tr>
              <a:tr h="728611">
                <a:tc>
                  <a:txBody>
                    <a:bodyPr/>
                    <a:lstStyle/>
                    <a:p>
                      <a:pPr marL="635">
                        <a:lnSpc>
                          <a:spcPct val="100000"/>
                        </a:lnSpc>
                        <a:spcBef>
                          <a:spcPts val="1075"/>
                        </a:spcBef>
                      </a:pPr>
                      <a:r>
                        <a:rPr sz="2000" spc="30" dirty="0"/>
                        <a:t>Film</a:t>
                      </a:r>
                      <a:endParaRPr sz="2000" dirty="0">
                        <a:latin typeface="Verdana"/>
                        <a:cs typeface="Verdana"/>
                      </a:endParaRPr>
                    </a:p>
                  </a:txBody>
                  <a:tcPr marL="0" marR="0" marT="136525" marB="0"/>
                </a:tc>
                <a:tc>
                  <a:txBody>
                    <a:bodyPr/>
                    <a:lstStyle/>
                    <a:p>
                      <a:pPr marL="3810">
                        <a:lnSpc>
                          <a:spcPct val="100000"/>
                        </a:lnSpc>
                        <a:spcBef>
                          <a:spcPts val="1075"/>
                        </a:spcBef>
                      </a:pPr>
                      <a:r>
                        <a:rPr sz="2000" spc="-10" dirty="0"/>
                        <a:t>Director</a:t>
                      </a:r>
                      <a:endParaRPr sz="2000">
                        <a:latin typeface="Verdana"/>
                        <a:cs typeface="Verdana"/>
                      </a:endParaRPr>
                    </a:p>
                  </a:txBody>
                  <a:tcPr marL="0" marR="0" marT="136525" marB="0"/>
                </a:tc>
                <a:extLst>
                  <a:ext uri="{0D108BD9-81ED-4DB2-BD59-A6C34878D82A}">
                    <a16:rowId xmlns:a16="http://schemas.microsoft.com/office/drawing/2014/main" val="10001"/>
                  </a:ext>
                </a:extLst>
              </a:tr>
              <a:tr h="728611">
                <a:tc>
                  <a:txBody>
                    <a:bodyPr/>
                    <a:lstStyle/>
                    <a:p>
                      <a:pPr marL="635">
                        <a:lnSpc>
                          <a:spcPct val="100000"/>
                        </a:lnSpc>
                        <a:spcBef>
                          <a:spcPts val="1080"/>
                        </a:spcBef>
                      </a:pPr>
                      <a:r>
                        <a:rPr sz="2000" spc="-10" dirty="0"/>
                        <a:t>TV</a:t>
                      </a:r>
                      <a:r>
                        <a:rPr sz="2000" spc="-204" dirty="0"/>
                        <a:t> </a:t>
                      </a:r>
                      <a:r>
                        <a:rPr sz="2000" spc="-10" dirty="0"/>
                        <a:t>series</a:t>
                      </a:r>
                      <a:endParaRPr sz="2000">
                        <a:latin typeface="Verdana"/>
                        <a:cs typeface="Verdana"/>
                      </a:endParaRPr>
                    </a:p>
                  </a:txBody>
                  <a:tcPr marL="0" marR="0" marT="137160" marB="0"/>
                </a:tc>
                <a:tc>
                  <a:txBody>
                    <a:bodyPr/>
                    <a:lstStyle/>
                    <a:p>
                      <a:pPr marL="3810">
                        <a:lnSpc>
                          <a:spcPct val="100000"/>
                        </a:lnSpc>
                        <a:spcBef>
                          <a:spcPts val="1080"/>
                        </a:spcBef>
                      </a:pPr>
                      <a:r>
                        <a:rPr sz="2000" dirty="0"/>
                        <a:t>Executive</a:t>
                      </a:r>
                      <a:r>
                        <a:rPr sz="2000" spc="-125" dirty="0"/>
                        <a:t> </a:t>
                      </a:r>
                      <a:r>
                        <a:rPr sz="2000" spc="-10" dirty="0"/>
                        <a:t>producer(s)</a:t>
                      </a:r>
                      <a:endParaRPr sz="2000">
                        <a:latin typeface="Verdana"/>
                        <a:cs typeface="Verdana"/>
                      </a:endParaRPr>
                    </a:p>
                  </a:txBody>
                  <a:tcPr marL="0" marR="0" marT="137160" marB="0"/>
                </a:tc>
                <a:extLst>
                  <a:ext uri="{0D108BD9-81ED-4DB2-BD59-A6C34878D82A}">
                    <a16:rowId xmlns:a16="http://schemas.microsoft.com/office/drawing/2014/main" val="10002"/>
                  </a:ext>
                </a:extLst>
              </a:tr>
              <a:tr h="728611">
                <a:tc>
                  <a:txBody>
                    <a:bodyPr/>
                    <a:lstStyle/>
                    <a:p>
                      <a:pPr marL="635">
                        <a:lnSpc>
                          <a:spcPct val="100000"/>
                        </a:lnSpc>
                        <a:spcBef>
                          <a:spcPts val="1085"/>
                        </a:spcBef>
                      </a:pPr>
                      <a:r>
                        <a:rPr sz="2000" spc="70" dirty="0"/>
                        <a:t>Podcast</a:t>
                      </a:r>
                      <a:r>
                        <a:rPr sz="2000" spc="-220" dirty="0"/>
                        <a:t> </a:t>
                      </a:r>
                      <a:r>
                        <a:rPr sz="2000" spc="-10" dirty="0"/>
                        <a:t>episode</a:t>
                      </a:r>
                      <a:endParaRPr sz="2000">
                        <a:latin typeface="Verdana"/>
                        <a:cs typeface="Verdana"/>
                      </a:endParaRPr>
                    </a:p>
                  </a:txBody>
                  <a:tcPr marL="0" marR="0" marT="137795" marB="0"/>
                </a:tc>
                <a:tc>
                  <a:txBody>
                    <a:bodyPr/>
                    <a:lstStyle/>
                    <a:p>
                      <a:pPr marL="3810">
                        <a:lnSpc>
                          <a:spcPct val="100000"/>
                        </a:lnSpc>
                        <a:spcBef>
                          <a:spcPts val="1085"/>
                        </a:spcBef>
                      </a:pPr>
                      <a:r>
                        <a:rPr sz="2000" dirty="0"/>
                        <a:t>Host</a:t>
                      </a:r>
                      <a:r>
                        <a:rPr sz="2000" spc="-120" dirty="0"/>
                        <a:t> </a:t>
                      </a:r>
                      <a:r>
                        <a:rPr sz="2000" dirty="0"/>
                        <a:t>of</a:t>
                      </a:r>
                      <a:r>
                        <a:rPr sz="2000" spc="-95" dirty="0"/>
                        <a:t> </a:t>
                      </a:r>
                      <a:r>
                        <a:rPr sz="2000" spc="-10" dirty="0"/>
                        <a:t>episode</a:t>
                      </a:r>
                      <a:endParaRPr sz="2000">
                        <a:latin typeface="Verdana"/>
                        <a:cs typeface="Verdana"/>
                      </a:endParaRPr>
                    </a:p>
                  </a:txBody>
                  <a:tcPr marL="0" marR="0" marT="137795" marB="0"/>
                </a:tc>
                <a:extLst>
                  <a:ext uri="{0D108BD9-81ED-4DB2-BD59-A6C34878D82A}">
                    <a16:rowId xmlns:a16="http://schemas.microsoft.com/office/drawing/2014/main" val="10003"/>
                  </a:ext>
                </a:extLst>
              </a:tr>
              <a:tr h="728611">
                <a:tc>
                  <a:txBody>
                    <a:bodyPr/>
                    <a:lstStyle/>
                    <a:p>
                      <a:pPr marL="635">
                        <a:lnSpc>
                          <a:spcPct val="100000"/>
                        </a:lnSpc>
                        <a:spcBef>
                          <a:spcPts val="1090"/>
                        </a:spcBef>
                      </a:pPr>
                      <a:r>
                        <a:rPr sz="2000" spc="45" dirty="0"/>
                        <a:t>Webinar</a:t>
                      </a:r>
                      <a:endParaRPr sz="2000">
                        <a:latin typeface="Verdana"/>
                        <a:cs typeface="Verdana"/>
                      </a:endParaRPr>
                    </a:p>
                  </a:txBody>
                  <a:tcPr marL="0" marR="0" marT="138430" marB="0"/>
                </a:tc>
                <a:tc>
                  <a:txBody>
                    <a:bodyPr/>
                    <a:lstStyle/>
                    <a:p>
                      <a:pPr marL="3810">
                        <a:lnSpc>
                          <a:spcPct val="100000"/>
                        </a:lnSpc>
                        <a:spcBef>
                          <a:spcPts val="1090"/>
                        </a:spcBef>
                      </a:pPr>
                      <a:r>
                        <a:rPr sz="2000" spc="-10" dirty="0"/>
                        <a:t>Instructor</a:t>
                      </a:r>
                      <a:endParaRPr sz="2000">
                        <a:latin typeface="Verdana"/>
                        <a:cs typeface="Verdana"/>
                      </a:endParaRPr>
                    </a:p>
                  </a:txBody>
                  <a:tcPr marL="0" marR="0" marT="138430" marB="0"/>
                </a:tc>
                <a:extLst>
                  <a:ext uri="{0D108BD9-81ED-4DB2-BD59-A6C34878D82A}">
                    <a16:rowId xmlns:a16="http://schemas.microsoft.com/office/drawing/2014/main" val="10004"/>
                  </a:ext>
                </a:extLst>
              </a:tr>
              <a:tr h="817693">
                <a:tc>
                  <a:txBody>
                    <a:bodyPr/>
                    <a:lstStyle/>
                    <a:p>
                      <a:pPr marL="635">
                        <a:lnSpc>
                          <a:spcPct val="100000"/>
                        </a:lnSpc>
                        <a:spcBef>
                          <a:spcPts val="1335"/>
                        </a:spcBef>
                      </a:pPr>
                      <a:r>
                        <a:rPr sz="2000" spc="20" dirty="0"/>
                        <a:t>Online</a:t>
                      </a:r>
                      <a:r>
                        <a:rPr sz="2000" spc="-60" dirty="0"/>
                        <a:t> </a:t>
                      </a:r>
                      <a:r>
                        <a:rPr sz="2000" spc="20" dirty="0"/>
                        <a:t>streaming</a:t>
                      </a:r>
                      <a:r>
                        <a:rPr sz="2000" spc="-135" dirty="0"/>
                        <a:t> </a:t>
                      </a:r>
                      <a:r>
                        <a:rPr sz="2000" spc="-20" dirty="0"/>
                        <a:t>video</a:t>
                      </a:r>
                      <a:endParaRPr sz="2000">
                        <a:latin typeface="Verdana"/>
                        <a:cs typeface="Verdana"/>
                      </a:endParaRPr>
                    </a:p>
                  </a:txBody>
                  <a:tcPr marL="0" marR="0" marT="169545" marB="0"/>
                </a:tc>
                <a:tc>
                  <a:txBody>
                    <a:bodyPr/>
                    <a:lstStyle/>
                    <a:p>
                      <a:pPr marL="3810" marR="302895">
                        <a:lnSpc>
                          <a:spcPts val="1650"/>
                        </a:lnSpc>
                        <a:spcBef>
                          <a:spcPts val="575"/>
                        </a:spcBef>
                      </a:pPr>
                      <a:r>
                        <a:rPr sz="2000" dirty="0"/>
                        <a:t>Person</a:t>
                      </a:r>
                      <a:r>
                        <a:rPr sz="2000" spc="-210" dirty="0"/>
                        <a:t> </a:t>
                      </a:r>
                      <a:r>
                        <a:rPr sz="2000" dirty="0"/>
                        <a:t>or</a:t>
                      </a:r>
                      <a:r>
                        <a:rPr sz="2000" spc="-95" dirty="0"/>
                        <a:t> </a:t>
                      </a:r>
                      <a:r>
                        <a:rPr sz="2000" spc="60" dirty="0"/>
                        <a:t>group</a:t>
                      </a:r>
                      <a:r>
                        <a:rPr sz="2000" spc="-210" dirty="0"/>
                        <a:t> </a:t>
                      </a:r>
                      <a:r>
                        <a:rPr sz="2000" spc="75" dirty="0"/>
                        <a:t>who</a:t>
                      </a:r>
                      <a:r>
                        <a:rPr sz="2000" spc="-120" dirty="0"/>
                        <a:t> </a:t>
                      </a:r>
                      <a:r>
                        <a:rPr sz="2000" spc="-10" dirty="0"/>
                        <a:t>uploaded </a:t>
                      </a:r>
                      <a:r>
                        <a:rPr sz="2000" dirty="0"/>
                        <a:t>the</a:t>
                      </a:r>
                      <a:r>
                        <a:rPr sz="2000" spc="-95" dirty="0"/>
                        <a:t> </a:t>
                      </a:r>
                      <a:r>
                        <a:rPr sz="2000" spc="-10" dirty="0"/>
                        <a:t>video</a:t>
                      </a:r>
                      <a:endParaRPr sz="2000" dirty="0">
                        <a:latin typeface="Verdana"/>
                        <a:cs typeface="Verdana"/>
                      </a:endParaRPr>
                    </a:p>
                  </a:txBody>
                  <a:tcPr marL="0" marR="0" marT="73025" marB="0"/>
                </a:tc>
                <a:extLst>
                  <a:ext uri="{0D108BD9-81ED-4DB2-BD59-A6C34878D82A}">
                    <a16:rowId xmlns:a16="http://schemas.microsoft.com/office/drawing/2014/main" val="10005"/>
                  </a:ext>
                </a:extLst>
              </a:tr>
              <a:tr h="728611">
                <a:tc>
                  <a:txBody>
                    <a:bodyPr/>
                    <a:lstStyle/>
                    <a:p>
                      <a:pPr marL="635">
                        <a:lnSpc>
                          <a:spcPct val="100000"/>
                        </a:lnSpc>
                        <a:spcBef>
                          <a:spcPts val="1105"/>
                        </a:spcBef>
                      </a:pPr>
                      <a:r>
                        <a:rPr sz="2000" spc="60" dirty="0"/>
                        <a:t>Photograph</a:t>
                      </a:r>
                      <a:endParaRPr sz="2000" dirty="0">
                        <a:latin typeface="Verdana"/>
                        <a:cs typeface="Verdana"/>
                      </a:endParaRPr>
                    </a:p>
                  </a:txBody>
                  <a:tcPr marL="0" marR="0" marT="140335" marB="0"/>
                </a:tc>
                <a:tc>
                  <a:txBody>
                    <a:bodyPr/>
                    <a:lstStyle/>
                    <a:p>
                      <a:pPr marL="3810">
                        <a:lnSpc>
                          <a:spcPct val="100000"/>
                        </a:lnSpc>
                        <a:spcBef>
                          <a:spcPts val="1105"/>
                        </a:spcBef>
                      </a:pPr>
                      <a:r>
                        <a:rPr sz="2000" spc="-10" dirty="0"/>
                        <a:t>Photographer</a:t>
                      </a:r>
                      <a:endParaRPr sz="2000" dirty="0">
                        <a:latin typeface="Verdana"/>
                        <a:cs typeface="Verdana"/>
                      </a:endParaRPr>
                    </a:p>
                  </a:txBody>
                  <a:tcPr marL="0" marR="0" marT="140335"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95185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39DE06-4A8D-12AB-E277-9E1689293C41}"/>
              </a:ext>
            </a:extLst>
          </p:cNvPr>
          <p:cNvSpPr txBox="1"/>
          <p:nvPr/>
        </p:nvSpPr>
        <p:spPr>
          <a:xfrm>
            <a:off x="1659731" y="2786063"/>
            <a:ext cx="8872538" cy="1754326"/>
          </a:xfrm>
          <a:prstGeom prst="rect">
            <a:avLst/>
          </a:prstGeom>
          <a:noFill/>
        </p:spPr>
        <p:txBody>
          <a:bodyPr wrap="square" rtlCol="0">
            <a:spAutoFit/>
          </a:bodyPr>
          <a:lstStyle/>
          <a:p>
            <a:pPr algn="ctr"/>
            <a:r>
              <a:rPr lang="en-US" sz="5400" b="1" kern="0" dirty="0"/>
              <a:t>Part 2</a:t>
            </a:r>
          </a:p>
          <a:p>
            <a:pPr algn="ctr"/>
            <a:r>
              <a:rPr lang="en-US" sz="5400" b="1" kern="0" dirty="0"/>
              <a:t> </a:t>
            </a:r>
            <a:r>
              <a:rPr lang="en-US" sz="5400" kern="0" dirty="0"/>
              <a:t>Open Access Resources</a:t>
            </a:r>
            <a:endParaRPr lang="en-AE" sz="5400" dirty="0"/>
          </a:p>
        </p:txBody>
      </p:sp>
    </p:spTree>
    <p:extLst>
      <p:ext uri="{BB962C8B-B14F-4D97-AF65-F5344CB8AC3E}">
        <p14:creationId xmlns:p14="http://schemas.microsoft.com/office/powerpoint/2010/main" val="3319807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4CF8D-8951-33AE-040F-34502CC06A8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035A812-6B69-B3D6-4E67-5DD18102C835}"/>
              </a:ext>
            </a:extLst>
          </p:cNvPr>
          <p:cNvSpPr txBox="1">
            <a:spLocks/>
          </p:cNvSpPr>
          <p:nvPr/>
        </p:nvSpPr>
        <p:spPr>
          <a:xfrm>
            <a:off x="457200" y="274638"/>
            <a:ext cx="822960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kern="0" dirty="0">
                <a:solidFill>
                  <a:schemeClr val="bg1"/>
                </a:solidFill>
              </a:rPr>
              <a:t>What is Open Access?</a:t>
            </a:r>
          </a:p>
        </p:txBody>
      </p:sp>
      <p:sp>
        <p:nvSpPr>
          <p:cNvPr id="5" name="Content Placeholder 2">
            <a:extLst>
              <a:ext uri="{FF2B5EF4-FFF2-40B4-BE49-F238E27FC236}">
                <a16:creationId xmlns:a16="http://schemas.microsoft.com/office/drawing/2014/main" id="{759A6F4A-66BF-0BA9-A51C-C3026588C7C4}"/>
              </a:ext>
            </a:extLst>
          </p:cNvPr>
          <p:cNvSpPr txBox="1">
            <a:spLocks/>
          </p:cNvSpPr>
          <p:nvPr/>
        </p:nvSpPr>
        <p:spPr>
          <a:xfrm>
            <a:off x="457200" y="1417638"/>
            <a:ext cx="11029950"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kern="0" dirty="0"/>
              <a:t>Open Access (OA) refers to </a:t>
            </a:r>
            <a:r>
              <a:rPr lang="en-US" sz="2800" b="1" i="1" kern="0" dirty="0">
                <a:solidFill>
                  <a:srgbClr val="00B050"/>
                </a:solidFill>
              </a:rPr>
              <a:t>free, immediate, online availability of research articles.</a:t>
            </a:r>
          </a:p>
          <a:p>
            <a:endParaRPr lang="en-US" sz="2800" kern="0" dirty="0"/>
          </a:p>
          <a:p>
            <a:r>
              <a:rPr lang="en-US" sz="2800" b="1" kern="0" dirty="0"/>
              <a:t>Types of Open Access</a:t>
            </a:r>
          </a:p>
          <a:p>
            <a:pPr marL="457200" indent="-457200">
              <a:buFont typeface="Wingdings" pitchFamily="2" charset="2"/>
              <a:buChar char="Ø"/>
            </a:pPr>
            <a:r>
              <a:rPr lang="en-US" sz="2800" b="1" kern="0" dirty="0">
                <a:solidFill>
                  <a:schemeClr val="accent4">
                    <a:lumMod val="75000"/>
                  </a:schemeClr>
                </a:solidFill>
              </a:rPr>
              <a:t>Gold OA</a:t>
            </a:r>
            <a:r>
              <a:rPr lang="en-US" sz="2800" kern="0" dirty="0"/>
              <a:t>: Articles are freely available on the publisher’s site (e.g., PLOS ONE)</a:t>
            </a:r>
          </a:p>
          <a:p>
            <a:endParaRPr lang="en-US" sz="2800" kern="0" dirty="0"/>
          </a:p>
          <a:p>
            <a:pPr marL="457200" indent="-457200">
              <a:buFont typeface="Wingdings" pitchFamily="2" charset="2"/>
              <a:buChar char="Ø"/>
            </a:pPr>
            <a:r>
              <a:rPr lang="en-US" sz="2800" kern="0" dirty="0"/>
              <a:t>• </a:t>
            </a:r>
            <a:r>
              <a:rPr lang="en-US" sz="2800" b="1" kern="0" dirty="0">
                <a:solidFill>
                  <a:srgbClr val="00B050"/>
                </a:solidFill>
              </a:rPr>
              <a:t>Green OA: </a:t>
            </a:r>
            <a:r>
              <a:rPr lang="en-US" sz="2800" kern="0" dirty="0"/>
              <a:t>Authors self-archive a version in a repository (e.g., universities in-house publishing and archiving)</a:t>
            </a:r>
          </a:p>
          <a:p>
            <a:pPr marL="457200" indent="-457200">
              <a:buFont typeface="Wingdings" pitchFamily="2" charset="2"/>
              <a:buChar char="Ø"/>
            </a:pPr>
            <a:endParaRPr lang="en-US" sz="2800" kern="0" dirty="0"/>
          </a:p>
          <a:p>
            <a:pPr marL="457200" indent="-457200">
              <a:buFont typeface="Wingdings" pitchFamily="2" charset="2"/>
              <a:buChar char="Ø"/>
            </a:pPr>
            <a:r>
              <a:rPr lang="en-US" sz="2800" kern="0" dirty="0"/>
              <a:t>• </a:t>
            </a:r>
            <a:r>
              <a:rPr lang="en-US" sz="2800" b="1" kern="0" dirty="0">
                <a:solidFill>
                  <a:srgbClr val="0070C0"/>
                </a:solidFill>
              </a:rPr>
              <a:t>Hybrid OA: </a:t>
            </a:r>
            <a:r>
              <a:rPr lang="en-US" sz="2800" kern="0" dirty="0"/>
              <a:t>Subscription journals offer OA for individual articles (e.g., Elsevier journals with OA option).</a:t>
            </a:r>
          </a:p>
        </p:txBody>
      </p:sp>
    </p:spTree>
    <p:extLst>
      <p:ext uri="{BB962C8B-B14F-4D97-AF65-F5344CB8AC3E}">
        <p14:creationId xmlns:p14="http://schemas.microsoft.com/office/powerpoint/2010/main" val="83412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A2A98-6924-F0E8-2452-4E6C5DFED40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64EBAA8-137A-9E7E-C2AE-FACF285A7022}"/>
              </a:ext>
            </a:extLst>
          </p:cNvPr>
          <p:cNvSpPr txBox="1">
            <a:spLocks/>
          </p:cNvSpPr>
          <p:nvPr/>
        </p:nvSpPr>
        <p:spPr>
          <a:xfrm>
            <a:off x="457199" y="274638"/>
            <a:ext cx="9972675"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dirty="0">
                <a:solidFill>
                  <a:schemeClr val="bg1"/>
                </a:solidFill>
              </a:rPr>
              <a:t>Searching and Evaluating OA Resources</a:t>
            </a:r>
          </a:p>
        </p:txBody>
      </p:sp>
      <p:sp>
        <p:nvSpPr>
          <p:cNvPr id="5" name="Content Placeholder 2">
            <a:extLst>
              <a:ext uri="{FF2B5EF4-FFF2-40B4-BE49-F238E27FC236}">
                <a16:creationId xmlns:a16="http://schemas.microsoft.com/office/drawing/2014/main" id="{D3B5FD19-0697-F8C2-34A8-CB918F6F7B63}"/>
              </a:ext>
            </a:extLst>
          </p:cNvPr>
          <p:cNvSpPr txBox="1">
            <a:spLocks/>
          </p:cNvSpPr>
          <p:nvPr/>
        </p:nvSpPr>
        <p:spPr>
          <a:xfrm>
            <a:off x="457199" y="1600200"/>
            <a:ext cx="9972675"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kern="0" dirty="0"/>
              <a:t>Platforms to Search OA Resources:</a:t>
            </a:r>
          </a:p>
          <a:p>
            <a:pPr lvl="1">
              <a:lnSpc>
                <a:spcPct val="150000"/>
              </a:lnSpc>
            </a:pPr>
            <a:r>
              <a:rPr lang="en-US" sz="2400" kern="0" dirty="0"/>
              <a:t>• </a:t>
            </a:r>
            <a:r>
              <a:rPr lang="en-US" sz="2400" b="1" kern="0" dirty="0">
                <a:solidFill>
                  <a:srgbClr val="0070C0"/>
                </a:solidFill>
              </a:rPr>
              <a:t>DOAJ</a:t>
            </a:r>
            <a:r>
              <a:rPr lang="en-US" sz="2400" kern="0" dirty="0"/>
              <a:t> (Directory of Open Access Journals): https://</a:t>
            </a:r>
            <a:r>
              <a:rPr lang="en-US" sz="2400" kern="0" dirty="0" err="1"/>
              <a:t>doaj.org</a:t>
            </a:r>
            <a:endParaRPr lang="en-US" sz="2400" kern="0" dirty="0"/>
          </a:p>
          <a:p>
            <a:pPr lvl="1">
              <a:lnSpc>
                <a:spcPct val="150000"/>
              </a:lnSpc>
            </a:pPr>
            <a:r>
              <a:rPr lang="en-US" sz="2400" kern="0" dirty="0"/>
              <a:t>• </a:t>
            </a:r>
            <a:r>
              <a:rPr lang="en-US" sz="2400" b="1" kern="0" dirty="0">
                <a:solidFill>
                  <a:schemeClr val="accent4">
                    <a:lumMod val="50000"/>
                  </a:schemeClr>
                </a:solidFill>
              </a:rPr>
              <a:t>CORE: </a:t>
            </a:r>
            <a:r>
              <a:rPr lang="en-US" sz="2400" kern="0" dirty="0"/>
              <a:t>https://</a:t>
            </a:r>
            <a:r>
              <a:rPr lang="en-US" sz="2400" kern="0" dirty="0" err="1"/>
              <a:t>core.ac.uk</a:t>
            </a:r>
            <a:endParaRPr lang="en-US" sz="2400" kern="0" dirty="0"/>
          </a:p>
          <a:p>
            <a:pPr lvl="1">
              <a:lnSpc>
                <a:spcPct val="150000"/>
              </a:lnSpc>
            </a:pPr>
            <a:r>
              <a:rPr lang="en-US" sz="2400" kern="0" dirty="0"/>
              <a:t>• </a:t>
            </a:r>
            <a:r>
              <a:rPr lang="en-US" sz="2400" b="1" kern="0" dirty="0">
                <a:solidFill>
                  <a:srgbClr val="00B050"/>
                </a:solidFill>
              </a:rPr>
              <a:t>Google Scholar: </a:t>
            </a:r>
            <a:r>
              <a:rPr lang="en-US" sz="2400" kern="0" dirty="0"/>
              <a:t>Use 'free full text' filters</a:t>
            </a:r>
          </a:p>
          <a:p>
            <a:endParaRPr lang="en-US" sz="2400" kern="0" dirty="0"/>
          </a:p>
        </p:txBody>
      </p:sp>
    </p:spTree>
    <p:extLst>
      <p:ext uri="{BB962C8B-B14F-4D97-AF65-F5344CB8AC3E}">
        <p14:creationId xmlns:p14="http://schemas.microsoft.com/office/powerpoint/2010/main" val="1377569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AB13-D8A9-C047-08EB-D3EC8F681201}"/>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8B84D69B-96F6-BD5E-844B-B6401DC3EA58}"/>
              </a:ext>
            </a:extLst>
          </p:cNvPr>
          <p:cNvSpPr txBox="1">
            <a:spLocks/>
          </p:cNvSpPr>
          <p:nvPr/>
        </p:nvSpPr>
        <p:spPr>
          <a:xfrm>
            <a:off x="272716" y="1315453"/>
            <a:ext cx="11213431" cy="5268103"/>
          </a:xfrm>
          <a:prstGeom prst="rect">
            <a:avLst/>
          </a:prstGeom>
        </p:spPr>
        <p:txBody>
          <a:bodyPr vert="horz" lIns="0" tIns="0" rIns="0" bIns="0" rtlCol="0" anchor="t">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600" kern="0" dirty="0">
              <a:solidFill>
                <a:srgbClr val="002060"/>
              </a:solidFill>
              <a:latin typeface="+mj-lt"/>
              <a:ea typeface="Tahoma"/>
              <a:cs typeface="Tahoma"/>
            </a:endParaRPr>
          </a:p>
          <a:p>
            <a:r>
              <a:rPr lang="en-US" sz="1800" kern="0" dirty="0">
                <a:solidFill>
                  <a:srgbClr val="002060"/>
                </a:solidFill>
                <a:latin typeface="+mj-lt"/>
                <a:ea typeface="Tahoma"/>
                <a:cs typeface="Tahoma"/>
              </a:rPr>
              <a:t>Consistently apply the RADAR Test to effectively evaluate information sources for academic research writing, to ensure high-quality and reliable sources are used all the time. </a:t>
            </a:r>
          </a:p>
          <a:p>
            <a:endParaRPr lang="en-US" sz="2000" b="1" kern="0" dirty="0">
              <a:solidFill>
                <a:srgbClr val="002060"/>
              </a:solidFill>
              <a:latin typeface="+mj-lt"/>
              <a:ea typeface="Tahoma"/>
              <a:cs typeface="Tahoma"/>
            </a:endParaRPr>
          </a:p>
          <a:p>
            <a:pPr marL="742950" lvl="1" indent="-285750">
              <a:buFont typeface="Wingdings"/>
              <a:buChar char="Ø"/>
            </a:pPr>
            <a:r>
              <a:rPr lang="en-US" sz="2000" b="1" kern="0" dirty="0">
                <a:solidFill>
                  <a:srgbClr val="002060"/>
                </a:solidFill>
                <a:latin typeface="+mj-lt"/>
                <a:ea typeface="Tahoma"/>
                <a:cs typeface="Tahoma"/>
              </a:rPr>
              <a:t>Acronym for </a:t>
            </a:r>
            <a:r>
              <a:rPr lang="en-US" sz="2000" b="1" kern="0" dirty="0">
                <a:solidFill>
                  <a:schemeClr val="bg1"/>
                </a:solidFill>
                <a:highlight>
                  <a:srgbClr val="FF0000"/>
                </a:highlight>
                <a:latin typeface="+mj-lt"/>
                <a:ea typeface="Tahoma"/>
                <a:cs typeface="Tahoma"/>
              </a:rPr>
              <a:t>R</a:t>
            </a:r>
            <a:r>
              <a:rPr lang="en-US" sz="2000" b="1" kern="0" dirty="0">
                <a:solidFill>
                  <a:srgbClr val="002060"/>
                </a:solidFill>
                <a:latin typeface="+mj-lt"/>
                <a:ea typeface="Tahoma"/>
                <a:cs typeface="Tahoma"/>
              </a:rPr>
              <a:t>elevance, </a:t>
            </a:r>
            <a:r>
              <a:rPr lang="en-US" sz="2000" b="1" kern="0" dirty="0">
                <a:solidFill>
                  <a:schemeClr val="bg1"/>
                </a:solidFill>
                <a:highlight>
                  <a:srgbClr val="00FFFF"/>
                </a:highlight>
                <a:latin typeface="+mj-lt"/>
                <a:ea typeface="Tahoma"/>
                <a:cs typeface="Tahoma"/>
              </a:rPr>
              <a:t>A</a:t>
            </a:r>
            <a:r>
              <a:rPr lang="en-US" sz="2000" b="1" kern="0" dirty="0">
                <a:solidFill>
                  <a:srgbClr val="002060"/>
                </a:solidFill>
                <a:latin typeface="+mj-lt"/>
                <a:ea typeface="Tahoma"/>
                <a:cs typeface="Tahoma"/>
              </a:rPr>
              <a:t>uthority, </a:t>
            </a:r>
            <a:r>
              <a:rPr lang="en-US" sz="2000" b="1" kern="0" dirty="0">
                <a:solidFill>
                  <a:schemeClr val="bg1"/>
                </a:solidFill>
                <a:highlight>
                  <a:srgbClr val="00FF00"/>
                </a:highlight>
                <a:latin typeface="+mj-lt"/>
                <a:ea typeface="Tahoma"/>
                <a:cs typeface="Tahoma"/>
              </a:rPr>
              <a:t>D</a:t>
            </a:r>
            <a:r>
              <a:rPr lang="en-US" sz="2000" b="1" kern="0" dirty="0">
                <a:solidFill>
                  <a:srgbClr val="002060"/>
                </a:solidFill>
                <a:latin typeface="+mj-lt"/>
                <a:ea typeface="Tahoma"/>
                <a:cs typeface="Tahoma"/>
              </a:rPr>
              <a:t>ate, </a:t>
            </a:r>
            <a:r>
              <a:rPr lang="en-US" sz="2000" b="1" kern="0" dirty="0">
                <a:solidFill>
                  <a:schemeClr val="bg1"/>
                </a:solidFill>
                <a:highlight>
                  <a:srgbClr val="0000FF"/>
                </a:highlight>
                <a:latin typeface="+mj-lt"/>
                <a:ea typeface="Tahoma"/>
                <a:cs typeface="Tahoma"/>
              </a:rPr>
              <a:t>A</a:t>
            </a:r>
            <a:r>
              <a:rPr lang="en-US" sz="2000" b="1" kern="0" dirty="0">
                <a:solidFill>
                  <a:srgbClr val="002060"/>
                </a:solidFill>
                <a:latin typeface="+mj-lt"/>
                <a:ea typeface="Tahoma"/>
                <a:cs typeface="Tahoma"/>
              </a:rPr>
              <a:t>ccuracy, and </a:t>
            </a:r>
            <a:r>
              <a:rPr lang="en-US" sz="2000" b="1" kern="0" dirty="0">
                <a:solidFill>
                  <a:schemeClr val="bg1"/>
                </a:solidFill>
                <a:highlight>
                  <a:srgbClr val="FF00FF"/>
                </a:highlight>
                <a:latin typeface="+mj-lt"/>
                <a:ea typeface="Tahoma"/>
                <a:cs typeface="Tahoma"/>
              </a:rPr>
              <a:t>R</a:t>
            </a:r>
            <a:r>
              <a:rPr lang="en-US" sz="2000" b="1" kern="0" dirty="0">
                <a:solidFill>
                  <a:srgbClr val="002060"/>
                </a:solidFill>
                <a:latin typeface="+mj-lt"/>
                <a:ea typeface="Tahoma"/>
                <a:cs typeface="Tahoma"/>
              </a:rPr>
              <a:t>easonableness.</a:t>
            </a:r>
          </a:p>
          <a:p>
            <a:pPr marL="285750" indent="-285750">
              <a:buFont typeface="Wingdings"/>
              <a:buChar char="q"/>
            </a:pPr>
            <a:r>
              <a:rPr lang="en-US" sz="1800" b="1" kern="0" dirty="0">
                <a:solidFill>
                  <a:srgbClr val="002060"/>
                </a:solidFill>
                <a:latin typeface="+mj-lt"/>
                <a:ea typeface="Tahoma"/>
                <a:cs typeface="Tahoma"/>
              </a:rPr>
              <a:t>Relevance:</a:t>
            </a:r>
          </a:p>
          <a:p>
            <a:pPr marL="742950" lvl="1" indent="-285750">
              <a:buFont typeface="Wingdings"/>
              <a:buChar char="Ø"/>
            </a:pPr>
            <a:r>
              <a:rPr lang="en-US" sz="1800" kern="0" dirty="0">
                <a:solidFill>
                  <a:srgbClr val="002060"/>
                </a:solidFill>
                <a:latin typeface="+mj-lt"/>
                <a:ea typeface="Tahoma"/>
                <a:cs typeface="Tahoma"/>
              </a:rPr>
              <a:t>Is the information directly related to your research topic or question?</a:t>
            </a:r>
          </a:p>
          <a:p>
            <a:pPr lvl="1"/>
            <a:endParaRPr lang="en-US" sz="1800" kern="0" dirty="0">
              <a:solidFill>
                <a:srgbClr val="002060"/>
              </a:solidFill>
              <a:latin typeface="+mj-lt"/>
              <a:ea typeface="Tahoma"/>
              <a:cs typeface="Tahoma"/>
            </a:endParaRPr>
          </a:p>
          <a:p>
            <a:pPr marL="285750" indent="-285750">
              <a:buFont typeface="Wingdings"/>
              <a:buChar char="q"/>
            </a:pPr>
            <a:r>
              <a:rPr lang="en-US" sz="1800" b="1" kern="0" dirty="0">
                <a:solidFill>
                  <a:srgbClr val="002060"/>
                </a:solidFill>
                <a:latin typeface="+mj-lt"/>
                <a:ea typeface="Tahoma"/>
                <a:cs typeface="Tahoma"/>
              </a:rPr>
              <a:t>Authority:</a:t>
            </a:r>
          </a:p>
          <a:p>
            <a:pPr marL="742950" lvl="1" indent="-285750">
              <a:buFont typeface="Wingdings"/>
              <a:buChar char="Ø"/>
            </a:pPr>
            <a:r>
              <a:rPr lang="en-US" sz="1800" kern="0" dirty="0">
                <a:solidFill>
                  <a:srgbClr val="002060"/>
                </a:solidFill>
                <a:latin typeface="+mj-lt"/>
                <a:ea typeface="Tahoma"/>
                <a:cs typeface="Tahoma"/>
              </a:rPr>
              <a:t>Who is the author or organization behind the information? Are they credible and reputable?</a:t>
            </a:r>
          </a:p>
          <a:p>
            <a:pPr lvl="1"/>
            <a:endParaRPr lang="en-US" sz="1800" kern="0" dirty="0">
              <a:solidFill>
                <a:srgbClr val="002060"/>
              </a:solidFill>
              <a:latin typeface="+mj-lt"/>
              <a:ea typeface="Tahoma"/>
              <a:cs typeface="Tahoma"/>
            </a:endParaRPr>
          </a:p>
          <a:p>
            <a:pPr marL="285750" indent="-285750">
              <a:buFont typeface="Wingdings"/>
              <a:buChar char="q"/>
            </a:pPr>
            <a:r>
              <a:rPr lang="en-US" sz="1800" b="1" kern="0" dirty="0">
                <a:solidFill>
                  <a:srgbClr val="002060"/>
                </a:solidFill>
                <a:latin typeface="+mj-lt"/>
                <a:ea typeface="Tahoma"/>
                <a:cs typeface="Tahoma"/>
              </a:rPr>
              <a:t>Date:</a:t>
            </a:r>
          </a:p>
          <a:p>
            <a:pPr marL="742950" lvl="1" indent="-285750">
              <a:buFont typeface="Wingdings"/>
              <a:buChar char="Ø"/>
            </a:pPr>
            <a:r>
              <a:rPr lang="en-US" sz="1800" kern="0" dirty="0">
                <a:solidFill>
                  <a:srgbClr val="002060"/>
                </a:solidFill>
                <a:latin typeface="+mj-lt"/>
                <a:ea typeface="Tahoma"/>
                <a:cs typeface="Tahoma"/>
              </a:rPr>
              <a:t>When was the information published or last updated? Is it current and relevant to your research?</a:t>
            </a:r>
          </a:p>
          <a:p>
            <a:pPr lvl="1"/>
            <a:endParaRPr lang="en-US" sz="1800" kern="0" dirty="0">
              <a:solidFill>
                <a:srgbClr val="002060"/>
              </a:solidFill>
              <a:latin typeface="+mj-lt"/>
              <a:ea typeface="Tahoma"/>
              <a:cs typeface="Tahoma"/>
            </a:endParaRPr>
          </a:p>
          <a:p>
            <a:pPr marL="285750" indent="-285750">
              <a:buFont typeface="Wingdings"/>
              <a:buChar char="q"/>
            </a:pPr>
            <a:r>
              <a:rPr lang="en-US" sz="1800" b="1" kern="0" dirty="0">
                <a:solidFill>
                  <a:srgbClr val="002060"/>
                </a:solidFill>
                <a:latin typeface="+mj-lt"/>
                <a:ea typeface="Tahoma"/>
                <a:cs typeface="Tahoma"/>
              </a:rPr>
              <a:t>Accuracy:</a:t>
            </a:r>
          </a:p>
          <a:p>
            <a:pPr marL="742950" lvl="1" indent="-285750">
              <a:buFont typeface="Wingdings"/>
              <a:buChar char="Ø"/>
            </a:pPr>
            <a:r>
              <a:rPr lang="en-US" sz="1800" kern="0" dirty="0">
                <a:solidFill>
                  <a:srgbClr val="002060"/>
                </a:solidFill>
                <a:latin typeface="+mj-lt"/>
                <a:ea typeface="Tahoma"/>
                <a:cs typeface="Tahoma"/>
              </a:rPr>
              <a:t>Is the information factually correct and supported by evidence?</a:t>
            </a:r>
          </a:p>
          <a:p>
            <a:pPr lvl="1"/>
            <a:endParaRPr lang="en-US" sz="1800" kern="0" dirty="0">
              <a:solidFill>
                <a:srgbClr val="002060"/>
              </a:solidFill>
              <a:latin typeface="+mj-lt"/>
              <a:ea typeface="Tahoma"/>
              <a:cs typeface="Tahoma"/>
            </a:endParaRPr>
          </a:p>
          <a:p>
            <a:pPr marL="285750" indent="-285750">
              <a:buFont typeface="Wingdings"/>
              <a:buChar char="q"/>
            </a:pPr>
            <a:r>
              <a:rPr lang="en-US" sz="1800" b="1" kern="0" dirty="0">
                <a:solidFill>
                  <a:srgbClr val="002060"/>
                </a:solidFill>
                <a:latin typeface="+mj-lt"/>
                <a:ea typeface="Tahoma"/>
                <a:cs typeface="Tahoma"/>
              </a:rPr>
              <a:t>Reasonableness:</a:t>
            </a:r>
          </a:p>
          <a:p>
            <a:pPr marL="742950" lvl="1" indent="-285750">
              <a:buFont typeface="Wingdings"/>
              <a:buChar char="Ø"/>
            </a:pPr>
            <a:r>
              <a:rPr lang="en-US" sz="1800" kern="0" dirty="0">
                <a:solidFill>
                  <a:srgbClr val="002060"/>
                </a:solidFill>
                <a:latin typeface="+mj-lt"/>
                <a:ea typeface="Tahoma"/>
                <a:cs typeface="Tahoma"/>
              </a:rPr>
              <a:t>Does the information make logical sense? Is it unbiased and free from extreme or unsupported claims?</a:t>
            </a:r>
          </a:p>
          <a:p>
            <a:endParaRPr lang="en-US" sz="1600" kern="0" dirty="0">
              <a:solidFill>
                <a:srgbClr val="002060"/>
              </a:solidFill>
              <a:latin typeface="+mj-lt"/>
              <a:ea typeface="Tahoma"/>
              <a:cs typeface="Tahoma"/>
            </a:endParaRPr>
          </a:p>
        </p:txBody>
      </p:sp>
      <p:sp>
        <p:nvSpPr>
          <p:cNvPr id="3" name="TextBox 2">
            <a:extLst>
              <a:ext uri="{FF2B5EF4-FFF2-40B4-BE49-F238E27FC236}">
                <a16:creationId xmlns:a16="http://schemas.microsoft.com/office/drawing/2014/main" id="{FBB43B03-37A8-4967-2C7C-6E6598233990}"/>
              </a:ext>
            </a:extLst>
          </p:cNvPr>
          <p:cNvSpPr txBox="1"/>
          <p:nvPr/>
        </p:nvSpPr>
        <p:spPr>
          <a:xfrm>
            <a:off x="434628" y="274444"/>
            <a:ext cx="850206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dirty="0">
                <a:solidFill>
                  <a:schemeClr val="bg1"/>
                </a:solidFill>
                <a:latin typeface="+mj-lt"/>
                <a:ea typeface="Tahoma"/>
                <a:cs typeface="Tahoma"/>
              </a:rPr>
              <a:t>Tips for Evaluation : RADAR Test</a:t>
            </a:r>
            <a:endParaRPr lang="en-US" sz="4800" dirty="0">
              <a:solidFill>
                <a:schemeClr val="bg1"/>
              </a:solidFill>
              <a:latin typeface="+mj-lt"/>
            </a:endParaRPr>
          </a:p>
        </p:txBody>
      </p:sp>
    </p:spTree>
    <p:extLst>
      <p:ext uri="{BB962C8B-B14F-4D97-AF65-F5344CB8AC3E}">
        <p14:creationId xmlns:p14="http://schemas.microsoft.com/office/powerpoint/2010/main" val="4005927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5FAC50C-CD59-68B4-D2FE-486E434B765A}"/>
              </a:ext>
            </a:extLst>
          </p:cNvPr>
          <p:cNvSpPr txBox="1">
            <a:spLocks/>
          </p:cNvSpPr>
          <p:nvPr/>
        </p:nvSpPr>
        <p:spPr>
          <a:xfrm>
            <a:off x="860486" y="1502434"/>
            <a:ext cx="10880410" cy="4428466"/>
          </a:xfrm>
          <a:prstGeom prst="rect">
            <a:avLst/>
          </a:prstGeom>
        </p:spPr>
        <p:txBody>
          <a:bodyPr vert="horz" lIns="0" tIns="0" rIns="0" bIns="0" rtlCol="0" anchor="t">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200000"/>
              </a:lnSpc>
              <a:buFont typeface="Arial" panose="020B0604020202020204" pitchFamily="34" charset="0"/>
              <a:buChar char="•"/>
            </a:pPr>
            <a:r>
              <a:rPr lang="en-US" sz="2000" kern="0" dirty="0">
                <a:solidFill>
                  <a:srgbClr val="002060"/>
                </a:solidFill>
                <a:latin typeface="Tahoma"/>
                <a:ea typeface="Tahoma"/>
                <a:cs typeface="Tahoma"/>
              </a:rPr>
              <a:t>The information timeline, also known as the information cycle, illustrates the progression of information from the occurrence of an event to its transformation into different types of information.</a:t>
            </a:r>
          </a:p>
          <a:p>
            <a:pPr marL="285750" indent="-285750">
              <a:lnSpc>
                <a:spcPct val="200000"/>
              </a:lnSpc>
              <a:buFont typeface="Arial" panose="020B0604020202020204" pitchFamily="34" charset="0"/>
              <a:buChar char="•"/>
            </a:pPr>
            <a:r>
              <a:rPr lang="en-US" sz="2000" kern="0" dirty="0">
                <a:solidFill>
                  <a:srgbClr val="002060"/>
                </a:solidFill>
                <a:latin typeface="Tahoma"/>
                <a:ea typeface="Tahoma"/>
                <a:cs typeface="Tahoma"/>
              </a:rPr>
              <a:t> Initially emerging through informal channels or mass media, facts evolve as they are discussed, leading to a richer understanding of the event. </a:t>
            </a:r>
            <a:endParaRPr lang="en-US" sz="3200" kern="0" dirty="0">
              <a:solidFill>
                <a:srgbClr val="002060"/>
              </a:solidFill>
              <a:latin typeface="Tahoma"/>
              <a:ea typeface="Tahoma"/>
              <a:cs typeface="Tahoma"/>
            </a:endParaRPr>
          </a:p>
          <a:p>
            <a:pPr marL="285750" indent="-285750">
              <a:lnSpc>
                <a:spcPct val="200000"/>
              </a:lnSpc>
              <a:buFont typeface="Arial" panose="020B0604020202020204" pitchFamily="34" charset="0"/>
              <a:buChar char="•"/>
            </a:pPr>
            <a:r>
              <a:rPr lang="en-US" sz="2000" kern="0" dirty="0">
                <a:solidFill>
                  <a:srgbClr val="002060"/>
                </a:solidFill>
                <a:latin typeface="Tahoma"/>
                <a:ea typeface="Tahoma"/>
                <a:cs typeface="Tahoma"/>
              </a:rPr>
              <a:t>Over time, popular and scholarly sources may address the event, though not all events warrant scholarly research. Additionally, information can cycle back to earlier stages if related events bring it back into public focus</a:t>
            </a:r>
            <a:r>
              <a:rPr lang="en-US" sz="1800" kern="0" dirty="0">
                <a:solidFill>
                  <a:srgbClr val="002060"/>
                </a:solidFill>
                <a:latin typeface="Tahoma"/>
                <a:ea typeface="Tahoma"/>
                <a:cs typeface="Tahoma"/>
              </a:rPr>
              <a:t>.</a:t>
            </a:r>
            <a:endParaRPr lang="en-US" sz="2000" kern="0" dirty="0">
              <a:solidFill>
                <a:srgbClr val="002060"/>
              </a:solidFill>
              <a:latin typeface="Tahoma"/>
              <a:ea typeface="Tahoma"/>
              <a:cs typeface="Tahoma"/>
            </a:endParaRPr>
          </a:p>
        </p:txBody>
      </p:sp>
      <p:sp>
        <p:nvSpPr>
          <p:cNvPr id="3" name="Title 1">
            <a:extLst>
              <a:ext uri="{FF2B5EF4-FFF2-40B4-BE49-F238E27FC236}">
                <a16:creationId xmlns:a16="http://schemas.microsoft.com/office/drawing/2014/main" id="{38889330-5958-9494-09CE-2AB59E346C3A}"/>
              </a:ext>
            </a:extLst>
          </p:cNvPr>
          <p:cNvSpPr txBox="1">
            <a:spLocks/>
          </p:cNvSpPr>
          <p:nvPr/>
        </p:nvSpPr>
        <p:spPr>
          <a:xfrm>
            <a:off x="714933" y="446150"/>
            <a:ext cx="6560806" cy="96189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kern="0" dirty="0">
                <a:solidFill>
                  <a:schemeClr val="bg1"/>
                </a:solidFill>
                <a:latin typeface="Tahoma"/>
                <a:ea typeface="Tahoma"/>
                <a:cs typeface="Tahoma"/>
              </a:rPr>
              <a:t>The Information Timeline</a:t>
            </a:r>
          </a:p>
          <a:p>
            <a:endParaRPr lang="en-US" sz="4000" kern="0" dirty="0">
              <a:solidFill>
                <a:schemeClr val="bg1"/>
              </a:solidFill>
              <a:latin typeface="Tahoma"/>
              <a:ea typeface="Tahoma"/>
              <a:cs typeface="Tahoma"/>
            </a:endParaRPr>
          </a:p>
        </p:txBody>
      </p:sp>
    </p:spTree>
    <p:extLst>
      <p:ext uri="{BB962C8B-B14F-4D97-AF65-F5344CB8AC3E}">
        <p14:creationId xmlns:p14="http://schemas.microsoft.com/office/powerpoint/2010/main" val="3926343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048FBD2-E8C5-4BA0-0356-02D4FF0CDAB1}"/>
              </a:ext>
            </a:extLst>
          </p:cNvPr>
          <p:cNvGraphicFramePr/>
          <p:nvPr>
            <p:extLst>
              <p:ext uri="{D42A27DB-BD31-4B8C-83A1-F6EECF244321}">
                <p14:modId xmlns:p14="http://schemas.microsoft.com/office/powerpoint/2010/main" val="2311525734"/>
              </p:ext>
            </p:extLst>
          </p:nvPr>
        </p:nvGraphicFramePr>
        <p:xfrm>
          <a:off x="619974" y="1408049"/>
          <a:ext cx="10952051" cy="4992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744D484F-A923-A604-C1C4-F11F02AD8382}"/>
              </a:ext>
            </a:extLst>
          </p:cNvPr>
          <p:cNvSpPr txBox="1">
            <a:spLocks/>
          </p:cNvSpPr>
          <p:nvPr/>
        </p:nvSpPr>
        <p:spPr>
          <a:xfrm>
            <a:off x="714933" y="446150"/>
            <a:ext cx="6560806" cy="96189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kern="0" dirty="0">
                <a:solidFill>
                  <a:schemeClr val="bg1"/>
                </a:solidFill>
                <a:latin typeface="Tahoma"/>
                <a:ea typeface="Tahoma"/>
                <a:cs typeface="Tahoma"/>
              </a:rPr>
              <a:t>The Information Timeline</a:t>
            </a:r>
          </a:p>
          <a:p>
            <a:endParaRPr lang="en-US" sz="4000" kern="0" dirty="0">
              <a:solidFill>
                <a:schemeClr val="bg1"/>
              </a:solidFill>
              <a:latin typeface="Tahoma"/>
              <a:ea typeface="Tahoma"/>
              <a:cs typeface="Tahoma"/>
            </a:endParaRPr>
          </a:p>
        </p:txBody>
      </p:sp>
    </p:spTree>
    <p:extLst>
      <p:ext uri="{BB962C8B-B14F-4D97-AF65-F5344CB8AC3E}">
        <p14:creationId xmlns:p14="http://schemas.microsoft.com/office/powerpoint/2010/main" val="912046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85E7425D-694C-7B77-C99B-C23A7F932745}"/>
              </a:ext>
            </a:extLst>
          </p:cNvPr>
          <p:cNvSpPr txBox="1">
            <a:spLocks/>
          </p:cNvSpPr>
          <p:nvPr/>
        </p:nvSpPr>
        <p:spPr>
          <a:xfrm>
            <a:off x="832201" y="6465173"/>
            <a:ext cx="9290367" cy="617158"/>
          </a:xfrm>
          <a:prstGeom prst="rect">
            <a:avLst/>
          </a:prstGeom>
        </p:spPr>
        <p:txBody>
          <a:bodyPr vert="horz" lIns="0" tIns="0" rIns="0" bIns="0" rtlCol="0" anchor="t">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i="1" kern="0" dirty="0">
                <a:solidFill>
                  <a:srgbClr val="002060"/>
                </a:solidFill>
                <a:latin typeface="Tahoma"/>
                <a:ea typeface="Tahoma"/>
                <a:cs typeface="Tahoma"/>
              </a:rPr>
              <a:t>A well-rounded research project will consult multiple format types. </a:t>
            </a:r>
            <a:r>
              <a:rPr lang="en-US" i="1" kern="0" dirty="0" err="1">
                <a:solidFill>
                  <a:srgbClr val="002060"/>
                </a:solidFill>
                <a:latin typeface="Tahoma"/>
                <a:ea typeface="Tahoma"/>
                <a:cs typeface="Tahoma"/>
              </a:rPr>
              <a:t>Organisation</a:t>
            </a:r>
            <a:r>
              <a:rPr lang="en-US" i="1" kern="0" dirty="0">
                <a:solidFill>
                  <a:srgbClr val="002060"/>
                </a:solidFill>
                <a:latin typeface="Tahoma"/>
                <a:ea typeface="Tahoma"/>
                <a:cs typeface="Tahoma"/>
              </a:rPr>
              <a:t>, intended audience, length, and publication standards define the format type of information. </a:t>
            </a:r>
          </a:p>
        </p:txBody>
      </p:sp>
      <p:sp>
        <p:nvSpPr>
          <p:cNvPr id="3" name="Title 11">
            <a:extLst>
              <a:ext uri="{FF2B5EF4-FFF2-40B4-BE49-F238E27FC236}">
                <a16:creationId xmlns:a16="http://schemas.microsoft.com/office/drawing/2014/main" id="{AB1F596D-6F0C-3A57-7E7A-C6A58BAA3032}"/>
              </a:ext>
            </a:extLst>
          </p:cNvPr>
          <p:cNvSpPr txBox="1">
            <a:spLocks/>
          </p:cNvSpPr>
          <p:nvPr/>
        </p:nvSpPr>
        <p:spPr>
          <a:xfrm>
            <a:off x="605409" y="121997"/>
            <a:ext cx="8268117" cy="96189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kern="0" dirty="0">
                <a:solidFill>
                  <a:schemeClr val="bg1"/>
                </a:solidFill>
                <a:latin typeface="Tahoma"/>
                <a:ea typeface="Tahoma"/>
                <a:cs typeface="Tahoma"/>
              </a:rPr>
              <a:t>Formats and Hierarchy of Information Sources</a:t>
            </a:r>
          </a:p>
        </p:txBody>
      </p:sp>
      <p:sp>
        <p:nvSpPr>
          <p:cNvPr id="4" name="Arrow: Right 73">
            <a:extLst>
              <a:ext uri="{FF2B5EF4-FFF2-40B4-BE49-F238E27FC236}">
                <a16:creationId xmlns:a16="http://schemas.microsoft.com/office/drawing/2014/main" id="{5A0FE440-6029-4924-AB85-A46C9B50600B}"/>
              </a:ext>
            </a:extLst>
          </p:cNvPr>
          <p:cNvSpPr/>
          <p:nvPr/>
        </p:nvSpPr>
        <p:spPr>
          <a:xfrm rot="-5400000">
            <a:off x="-944976" y="3276705"/>
            <a:ext cx="4987636" cy="1473971"/>
          </a:xfrm>
          <a:prstGeom prst="rightArrow">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060"/>
                </a:solidFill>
                <a:latin typeface="Tahoma"/>
              </a:rPr>
              <a:t>Relatively e</a:t>
            </a:r>
            <a:r>
              <a:rPr lang="en-US" sz="2800" b="1" baseline="0" dirty="0">
                <a:solidFill>
                  <a:srgbClr val="002060"/>
                </a:solidFill>
                <a:latin typeface="Tahoma"/>
              </a:rPr>
              <a:t>asier Source </a:t>
            </a:r>
            <a:endParaRPr lang="en-US" sz="3600" b="1" dirty="0">
              <a:solidFill>
                <a:srgbClr val="002060"/>
              </a:solidFill>
              <a:latin typeface="Tahoma"/>
              <a:ea typeface="Tahoma"/>
              <a:cs typeface="Tahoma"/>
            </a:endParaRPr>
          </a:p>
        </p:txBody>
      </p:sp>
      <p:sp>
        <p:nvSpPr>
          <p:cNvPr id="5" name="Arrow: Right 74">
            <a:extLst>
              <a:ext uri="{FF2B5EF4-FFF2-40B4-BE49-F238E27FC236}">
                <a16:creationId xmlns:a16="http://schemas.microsoft.com/office/drawing/2014/main" id="{55644369-CE7A-36A8-393A-BE0A2ED6B8BC}"/>
              </a:ext>
            </a:extLst>
          </p:cNvPr>
          <p:cNvSpPr/>
          <p:nvPr/>
        </p:nvSpPr>
        <p:spPr>
          <a:xfrm rot="5400000">
            <a:off x="7015615" y="3224748"/>
            <a:ext cx="4987636" cy="1493213"/>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bg1"/>
                </a:solidFill>
                <a:latin typeface="Tahoma"/>
              </a:rPr>
              <a:t>Better Academic</a:t>
            </a:r>
            <a:r>
              <a:rPr lang="en-US" sz="2400" b="1" baseline="0" dirty="0">
                <a:solidFill>
                  <a:schemeClr val="bg1"/>
                </a:solidFill>
                <a:latin typeface="Tahoma"/>
              </a:rPr>
              <a:t> Source </a:t>
            </a:r>
            <a:endParaRPr lang="en-US" sz="3200" b="1" dirty="0">
              <a:solidFill>
                <a:schemeClr val="bg1"/>
              </a:solidFill>
              <a:latin typeface="Tahoma"/>
              <a:ea typeface="Tahoma"/>
              <a:cs typeface="Tahoma"/>
            </a:endParaRPr>
          </a:p>
        </p:txBody>
      </p:sp>
      <p:sp>
        <p:nvSpPr>
          <p:cNvPr id="6" name="TextBox 5">
            <a:extLst>
              <a:ext uri="{FF2B5EF4-FFF2-40B4-BE49-F238E27FC236}">
                <a16:creationId xmlns:a16="http://schemas.microsoft.com/office/drawing/2014/main" id="{0CA7095C-8679-F1DE-D8C4-A5B63A023F84}"/>
              </a:ext>
            </a:extLst>
          </p:cNvPr>
          <p:cNvSpPr txBox="1"/>
          <p:nvPr/>
        </p:nvSpPr>
        <p:spPr>
          <a:xfrm>
            <a:off x="2595385" y="1814263"/>
            <a:ext cx="5987679"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Wingdings"/>
              <a:buChar char="§"/>
            </a:pPr>
            <a:r>
              <a:rPr lang="en-US" sz="1400" b="1" dirty="0">
                <a:solidFill>
                  <a:srgbClr val="002060"/>
                </a:solidFill>
                <a:latin typeface="Tahoma"/>
                <a:ea typeface="Tahoma"/>
                <a:cs typeface="Tahoma"/>
              </a:rPr>
              <a:t>Personal opinions </a:t>
            </a:r>
            <a:r>
              <a:rPr lang="en-US" sz="1400" dirty="0">
                <a:solidFill>
                  <a:srgbClr val="002060"/>
                </a:solidFill>
                <a:latin typeface="Tahoma"/>
                <a:ea typeface="Tahoma"/>
                <a:cs typeface="Tahoma"/>
              </a:rPr>
              <a:t>e.g. blog post, letters to the editors</a:t>
            </a:r>
            <a:endParaRPr lang="en-US" dirty="0">
              <a:solidFill>
                <a:srgbClr val="002060"/>
              </a:solidFill>
            </a:endParaRPr>
          </a:p>
          <a:p>
            <a:pPr marL="285750" indent="-285750">
              <a:lnSpc>
                <a:spcPct val="150000"/>
              </a:lnSpc>
              <a:buFont typeface="Wingdings"/>
              <a:buChar char="§"/>
            </a:pPr>
            <a:r>
              <a:rPr lang="en-US" sz="1400" b="1" dirty="0">
                <a:solidFill>
                  <a:srgbClr val="002060"/>
                </a:solidFill>
                <a:latin typeface="Tahoma"/>
                <a:ea typeface="Tahoma"/>
                <a:cs typeface="Tahoma"/>
              </a:rPr>
              <a:t>Information from an individual </a:t>
            </a:r>
            <a:r>
              <a:rPr lang="en-US" sz="1400" dirty="0">
                <a:solidFill>
                  <a:srgbClr val="002060"/>
                </a:solidFill>
                <a:latin typeface="Tahoma"/>
                <a:ea typeface="Tahoma"/>
                <a:cs typeface="Tahoma"/>
              </a:rPr>
              <a:t>e.g. individuals' social media</a:t>
            </a:r>
            <a:endParaRPr lang="en-US" dirty="0">
              <a:solidFill>
                <a:srgbClr val="002060"/>
              </a:solidFill>
              <a:latin typeface="Tahoma"/>
              <a:ea typeface="Tahoma"/>
              <a:cs typeface="Tahoma"/>
            </a:endParaRPr>
          </a:p>
          <a:p>
            <a:pPr marL="285750" indent="-285750">
              <a:lnSpc>
                <a:spcPct val="150000"/>
              </a:lnSpc>
              <a:buFont typeface="Wingdings"/>
              <a:buChar char="§"/>
            </a:pPr>
            <a:r>
              <a:rPr lang="en-US" sz="1400" b="1" dirty="0">
                <a:solidFill>
                  <a:srgbClr val="002060"/>
                </a:solidFill>
                <a:latin typeface="Tahoma"/>
                <a:ea typeface="Tahoma"/>
                <a:cs typeface="Tahoma"/>
              </a:rPr>
              <a:t>Information from crowdsourced information</a:t>
            </a:r>
            <a:r>
              <a:rPr lang="en-US" sz="1400" dirty="0">
                <a:solidFill>
                  <a:srgbClr val="002060"/>
                </a:solidFill>
                <a:latin typeface="Tahoma"/>
                <a:ea typeface="Tahoma"/>
                <a:cs typeface="Tahoma"/>
              </a:rPr>
              <a:t> (i.e. Wikipedia, Quora or Reddit) </a:t>
            </a:r>
            <a:endParaRPr lang="en-US" dirty="0">
              <a:solidFill>
                <a:srgbClr val="002060"/>
              </a:solidFill>
              <a:latin typeface="Tahoma"/>
              <a:ea typeface="Tahoma"/>
              <a:cs typeface="Tahoma"/>
            </a:endParaRPr>
          </a:p>
          <a:p>
            <a:pPr marL="285750" indent="-285750">
              <a:lnSpc>
                <a:spcPct val="150000"/>
              </a:lnSpc>
              <a:buFont typeface="Wingdings"/>
              <a:buChar char="§"/>
            </a:pPr>
            <a:r>
              <a:rPr lang="en-US" sz="1400" dirty="0">
                <a:solidFill>
                  <a:srgbClr val="002060"/>
                </a:solidFill>
                <a:latin typeface="Tahoma"/>
                <a:ea typeface="Tahoma"/>
                <a:cs typeface="Tahoma"/>
              </a:rPr>
              <a:t> </a:t>
            </a:r>
            <a:r>
              <a:rPr lang="en-US" sz="1400" b="1" dirty="0">
                <a:solidFill>
                  <a:srgbClr val="002060"/>
                </a:solidFill>
                <a:latin typeface="Tahoma"/>
                <a:ea typeface="Tahoma"/>
                <a:cs typeface="Tahoma"/>
              </a:rPr>
              <a:t>Information from an </a:t>
            </a:r>
            <a:r>
              <a:rPr lang="en-US" sz="1400" b="1" dirty="0" err="1">
                <a:solidFill>
                  <a:srgbClr val="002060"/>
                </a:solidFill>
                <a:latin typeface="Tahoma"/>
                <a:ea typeface="Tahoma"/>
                <a:cs typeface="Tahoma"/>
              </a:rPr>
              <a:t>organisation</a:t>
            </a:r>
            <a:r>
              <a:rPr lang="en-US" sz="1400" dirty="0">
                <a:solidFill>
                  <a:srgbClr val="002060"/>
                </a:solidFill>
                <a:latin typeface="Tahoma"/>
                <a:ea typeface="Tahoma"/>
                <a:cs typeface="Tahoma"/>
              </a:rPr>
              <a:t> e.g. Marriott International, United Nations</a:t>
            </a:r>
            <a:endParaRPr lang="en-US" dirty="0">
              <a:solidFill>
                <a:srgbClr val="002060"/>
              </a:solidFill>
              <a:latin typeface="Tahoma"/>
              <a:ea typeface="Tahoma"/>
              <a:cs typeface="Tahoma"/>
            </a:endParaRPr>
          </a:p>
          <a:p>
            <a:pPr marL="285750" indent="-285750">
              <a:lnSpc>
                <a:spcPct val="150000"/>
              </a:lnSpc>
              <a:buFont typeface="Wingdings"/>
              <a:buChar char="§"/>
            </a:pPr>
            <a:r>
              <a:rPr lang="en-US" sz="1400" dirty="0">
                <a:solidFill>
                  <a:srgbClr val="002060"/>
                </a:solidFill>
                <a:latin typeface="Tahoma"/>
                <a:ea typeface="Tahoma"/>
                <a:cs typeface="Tahoma"/>
              </a:rPr>
              <a:t> </a:t>
            </a:r>
            <a:r>
              <a:rPr lang="en-US" sz="1400" b="1" dirty="0">
                <a:solidFill>
                  <a:srgbClr val="002060"/>
                </a:solidFill>
                <a:latin typeface="Tahoma"/>
                <a:ea typeface="Tahoma"/>
                <a:cs typeface="Tahoma"/>
              </a:rPr>
              <a:t>Information from a governmental </a:t>
            </a:r>
            <a:r>
              <a:rPr lang="en-US" sz="1400" b="1" dirty="0" err="1">
                <a:solidFill>
                  <a:srgbClr val="002060"/>
                </a:solidFill>
                <a:latin typeface="Tahoma"/>
                <a:ea typeface="Tahoma"/>
                <a:cs typeface="Tahoma"/>
              </a:rPr>
              <a:t>organisation</a:t>
            </a:r>
            <a:r>
              <a:rPr lang="en-US" sz="1400" dirty="0">
                <a:solidFill>
                  <a:srgbClr val="002060"/>
                </a:solidFill>
                <a:latin typeface="Tahoma"/>
                <a:ea typeface="Tahoma"/>
                <a:cs typeface="Tahoma"/>
              </a:rPr>
              <a:t> e.g. Bureau of Statistics, Tourism Development Authority</a:t>
            </a:r>
            <a:endParaRPr lang="en-US" dirty="0">
              <a:solidFill>
                <a:srgbClr val="002060"/>
              </a:solidFill>
              <a:latin typeface="Tahoma"/>
              <a:ea typeface="Tahoma"/>
              <a:cs typeface="Tahoma"/>
            </a:endParaRPr>
          </a:p>
          <a:p>
            <a:pPr marL="285750" indent="-285750">
              <a:lnSpc>
                <a:spcPct val="150000"/>
              </a:lnSpc>
              <a:buFont typeface="Wingdings"/>
              <a:buChar char="§"/>
            </a:pPr>
            <a:r>
              <a:rPr lang="en-US" sz="1400" b="1" dirty="0">
                <a:solidFill>
                  <a:srgbClr val="002060"/>
                </a:solidFill>
                <a:latin typeface="Tahoma"/>
                <a:ea typeface="Tahoma"/>
                <a:cs typeface="Tahoma"/>
              </a:rPr>
              <a:t>Information from academic source </a:t>
            </a:r>
            <a:r>
              <a:rPr lang="en-US" sz="1400" dirty="0">
                <a:solidFill>
                  <a:srgbClr val="002060"/>
                </a:solidFill>
                <a:latin typeface="Tahoma"/>
                <a:ea typeface="Tahoma"/>
                <a:cs typeface="Tahoma"/>
              </a:rPr>
              <a:t>e.g. Textbooks, Dictionaries</a:t>
            </a:r>
            <a:endParaRPr lang="en-US" dirty="0">
              <a:solidFill>
                <a:srgbClr val="002060"/>
              </a:solidFill>
              <a:latin typeface="Tahoma"/>
              <a:ea typeface="Tahoma"/>
              <a:cs typeface="Tahoma"/>
            </a:endParaRPr>
          </a:p>
          <a:p>
            <a:pPr marL="285750" indent="-285750">
              <a:lnSpc>
                <a:spcPct val="150000"/>
              </a:lnSpc>
              <a:buFont typeface="Wingdings"/>
              <a:buChar char="§"/>
            </a:pPr>
            <a:r>
              <a:rPr lang="en-US" sz="1400" b="1" dirty="0">
                <a:solidFill>
                  <a:srgbClr val="002060"/>
                </a:solidFill>
                <a:latin typeface="Tahoma"/>
                <a:ea typeface="Tahoma"/>
                <a:cs typeface="Tahoma"/>
              </a:rPr>
              <a:t>Laws or other such primary sources</a:t>
            </a:r>
            <a:r>
              <a:rPr lang="en-US" sz="1400" dirty="0">
                <a:solidFill>
                  <a:srgbClr val="002060"/>
                </a:solidFill>
                <a:latin typeface="Tahoma"/>
                <a:ea typeface="Tahoma"/>
                <a:cs typeface="Tahoma"/>
              </a:rPr>
              <a:t> e.g. UAE Federal or Emirate –Level Laws, International Treaties and Conventions</a:t>
            </a:r>
            <a:endParaRPr lang="en-US" dirty="0">
              <a:solidFill>
                <a:srgbClr val="002060"/>
              </a:solidFill>
              <a:latin typeface="Tahoma"/>
              <a:ea typeface="Tahoma"/>
              <a:cs typeface="Tahoma"/>
            </a:endParaRPr>
          </a:p>
          <a:p>
            <a:pPr marL="285750" indent="-285750">
              <a:lnSpc>
                <a:spcPct val="150000"/>
              </a:lnSpc>
              <a:buFont typeface="Arial"/>
              <a:buChar char="•"/>
            </a:pPr>
            <a:r>
              <a:rPr lang="en-US" sz="1400" b="1" dirty="0">
                <a:solidFill>
                  <a:srgbClr val="002060"/>
                </a:solidFill>
                <a:latin typeface="Tahoma"/>
                <a:ea typeface="Tahoma"/>
                <a:cs typeface="Tahoma"/>
              </a:rPr>
              <a:t>Peer-reviewed, scholarly sources</a:t>
            </a:r>
            <a:r>
              <a:rPr lang="en-US" sz="1400" dirty="0">
                <a:solidFill>
                  <a:srgbClr val="002060"/>
                </a:solidFill>
                <a:latin typeface="Tahoma"/>
                <a:ea typeface="Tahoma"/>
                <a:cs typeface="Tahoma"/>
              </a:rPr>
              <a:t> e.g. Journal of Foodservice Business Research, Anatolia</a:t>
            </a:r>
          </a:p>
          <a:p>
            <a:pPr marL="285750" indent="-285750">
              <a:lnSpc>
                <a:spcPct val="150000"/>
              </a:lnSpc>
              <a:buFont typeface="Wingdings"/>
              <a:buChar char="§"/>
            </a:pPr>
            <a:endParaRPr lang="en-US" sz="1400" dirty="0">
              <a:solidFill>
                <a:srgbClr val="002060"/>
              </a:solidFill>
              <a:latin typeface="Tahoma"/>
              <a:ea typeface="Tahoma"/>
              <a:cs typeface="Tahoma"/>
            </a:endParaRPr>
          </a:p>
          <a:p>
            <a:pPr marL="285750" indent="-285750">
              <a:buFont typeface="Wingdings"/>
              <a:buChar char="§"/>
            </a:pPr>
            <a:endParaRPr lang="en-US" sz="1400" dirty="0">
              <a:solidFill>
                <a:srgbClr val="002060"/>
              </a:solidFill>
              <a:latin typeface="Tahoma"/>
              <a:ea typeface="Tahoma"/>
              <a:cs typeface="Tahoma"/>
            </a:endParaRPr>
          </a:p>
        </p:txBody>
      </p:sp>
    </p:spTree>
    <p:extLst>
      <p:ext uri="{BB962C8B-B14F-4D97-AF65-F5344CB8AC3E}">
        <p14:creationId xmlns:p14="http://schemas.microsoft.com/office/powerpoint/2010/main" val="4217944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CDA8-A2EF-0782-B2EB-7D44B2B5F5C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18919C4-084D-E5D9-6050-FE8E9FAC69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3" name="Freeform 5">
              <a:extLst>
                <a:ext uri="{FF2B5EF4-FFF2-40B4-BE49-F238E27FC236}">
                  <a16:creationId xmlns:a16="http://schemas.microsoft.com/office/drawing/2014/main" id="{183C3590-DF43-C7D7-A4CB-7EBD90ACC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4" name="Freeform 6">
              <a:extLst>
                <a:ext uri="{FF2B5EF4-FFF2-40B4-BE49-F238E27FC236}">
                  <a16:creationId xmlns:a16="http://schemas.microsoft.com/office/drawing/2014/main" id="{6046F179-B376-F30F-0A35-4F016ACC7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5" name="Freeform 7">
              <a:extLst>
                <a:ext uri="{FF2B5EF4-FFF2-40B4-BE49-F238E27FC236}">
                  <a16:creationId xmlns:a16="http://schemas.microsoft.com/office/drawing/2014/main" id="{B92F9962-FCEA-A66A-131D-511EE56CC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6" name="Freeform 8">
              <a:extLst>
                <a:ext uri="{FF2B5EF4-FFF2-40B4-BE49-F238E27FC236}">
                  <a16:creationId xmlns:a16="http://schemas.microsoft.com/office/drawing/2014/main" id="{01D735A1-51F3-1290-F2FD-2878ADA98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7" name="Freeform 9">
              <a:extLst>
                <a:ext uri="{FF2B5EF4-FFF2-40B4-BE49-F238E27FC236}">
                  <a16:creationId xmlns:a16="http://schemas.microsoft.com/office/drawing/2014/main" id="{E2147F52-8C9C-D525-FCE0-0E02D3CDA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8" name="Freeform 10">
              <a:extLst>
                <a:ext uri="{FF2B5EF4-FFF2-40B4-BE49-F238E27FC236}">
                  <a16:creationId xmlns:a16="http://schemas.microsoft.com/office/drawing/2014/main" id="{060ABC6C-1397-A906-49C9-EAF07731E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9" name="Freeform 11">
              <a:extLst>
                <a:ext uri="{FF2B5EF4-FFF2-40B4-BE49-F238E27FC236}">
                  <a16:creationId xmlns:a16="http://schemas.microsoft.com/office/drawing/2014/main" id="{EF86929A-0F81-199F-F811-F9F8333065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0" name="Freeform 12">
              <a:extLst>
                <a:ext uri="{FF2B5EF4-FFF2-40B4-BE49-F238E27FC236}">
                  <a16:creationId xmlns:a16="http://schemas.microsoft.com/office/drawing/2014/main" id="{C6FCD9DB-B48D-1948-E2F7-2B43C7FF7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1" name="Freeform 13">
              <a:extLst>
                <a:ext uri="{FF2B5EF4-FFF2-40B4-BE49-F238E27FC236}">
                  <a16:creationId xmlns:a16="http://schemas.microsoft.com/office/drawing/2014/main" id="{4258641B-DEE4-6A60-B77E-2C94ADE3D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2" name="Freeform 14">
              <a:extLst>
                <a:ext uri="{FF2B5EF4-FFF2-40B4-BE49-F238E27FC236}">
                  <a16:creationId xmlns:a16="http://schemas.microsoft.com/office/drawing/2014/main" id="{A80E41FB-7D76-2775-D371-A7AEAF0AAA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3" name="Freeform 15">
              <a:extLst>
                <a:ext uri="{FF2B5EF4-FFF2-40B4-BE49-F238E27FC236}">
                  <a16:creationId xmlns:a16="http://schemas.microsoft.com/office/drawing/2014/main" id="{547640CF-7C23-E403-078B-44F7C38FB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4" name="Freeform 16">
              <a:extLst>
                <a:ext uri="{FF2B5EF4-FFF2-40B4-BE49-F238E27FC236}">
                  <a16:creationId xmlns:a16="http://schemas.microsoft.com/office/drawing/2014/main" id="{0BEC8CDF-D534-DE62-9AF3-27721F222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5" name="Freeform 17">
              <a:extLst>
                <a:ext uri="{FF2B5EF4-FFF2-40B4-BE49-F238E27FC236}">
                  <a16:creationId xmlns:a16="http://schemas.microsoft.com/office/drawing/2014/main" id="{2F8315F6-F068-6137-1988-5E2F8529F1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6" name="Freeform 18">
              <a:extLst>
                <a:ext uri="{FF2B5EF4-FFF2-40B4-BE49-F238E27FC236}">
                  <a16:creationId xmlns:a16="http://schemas.microsoft.com/office/drawing/2014/main" id="{6F4A461F-0360-3BA5-C857-B642F15DB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7" name="Freeform 19">
              <a:extLst>
                <a:ext uri="{FF2B5EF4-FFF2-40B4-BE49-F238E27FC236}">
                  <a16:creationId xmlns:a16="http://schemas.microsoft.com/office/drawing/2014/main" id="{2E1FBD0F-E4BD-5F51-0387-BC04A2D5C7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8" name="Freeform 20">
              <a:extLst>
                <a:ext uri="{FF2B5EF4-FFF2-40B4-BE49-F238E27FC236}">
                  <a16:creationId xmlns:a16="http://schemas.microsoft.com/office/drawing/2014/main" id="{20702FC6-7E43-2151-7211-11C29DFE6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19" name="Freeform 21">
              <a:extLst>
                <a:ext uri="{FF2B5EF4-FFF2-40B4-BE49-F238E27FC236}">
                  <a16:creationId xmlns:a16="http://schemas.microsoft.com/office/drawing/2014/main" id="{9F08A964-7703-E222-E90F-840243593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20" name="Freeform 22">
              <a:extLst>
                <a:ext uri="{FF2B5EF4-FFF2-40B4-BE49-F238E27FC236}">
                  <a16:creationId xmlns:a16="http://schemas.microsoft.com/office/drawing/2014/main" id="{7E23C03F-1E05-0D83-23F2-FDC199546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sp>
          <p:nvSpPr>
            <p:cNvPr id="21" name="Freeform 23">
              <a:extLst>
                <a:ext uri="{FF2B5EF4-FFF2-40B4-BE49-F238E27FC236}">
                  <a16:creationId xmlns:a16="http://schemas.microsoft.com/office/drawing/2014/main" id="{64FFB156-DFB2-6A08-97A1-7C99DA65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E"/>
            </a:p>
          </p:txBody>
        </p:sp>
      </p:grpSp>
      <p:grpSp>
        <p:nvGrpSpPr>
          <p:cNvPr id="22" name="Group 21">
            <a:extLst>
              <a:ext uri="{FF2B5EF4-FFF2-40B4-BE49-F238E27FC236}">
                <a16:creationId xmlns:a16="http://schemas.microsoft.com/office/drawing/2014/main" id="{D2309839-61AF-B711-0F14-A3A760E2B67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23" name="Rectangle 22">
              <a:extLst>
                <a:ext uri="{FF2B5EF4-FFF2-40B4-BE49-F238E27FC236}">
                  <a16:creationId xmlns:a16="http://schemas.microsoft.com/office/drawing/2014/main" id="{4B1F0147-3BF0-1B86-B263-F21A747A0B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sp>
          <p:nvSpPr>
            <p:cNvPr id="24" name="Isosceles Triangle 44">
              <a:extLst>
                <a:ext uri="{FF2B5EF4-FFF2-40B4-BE49-F238E27FC236}">
                  <a16:creationId xmlns:a16="http://schemas.microsoft.com/office/drawing/2014/main" id="{5A5F9EC6-B349-78BF-2716-31BFE42BF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sp>
          <p:nvSpPr>
            <p:cNvPr id="25" name="Rectangle 24">
              <a:extLst>
                <a:ext uri="{FF2B5EF4-FFF2-40B4-BE49-F238E27FC236}">
                  <a16:creationId xmlns:a16="http://schemas.microsoft.com/office/drawing/2014/main" id="{CC34E811-0880-5A81-C04E-1DB71AC18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grpSp>
      <p:sp useBgFill="1">
        <p:nvSpPr>
          <p:cNvPr id="26" name="Rectangle 25">
            <a:extLst>
              <a:ext uri="{FF2B5EF4-FFF2-40B4-BE49-F238E27FC236}">
                <a16:creationId xmlns:a16="http://schemas.microsoft.com/office/drawing/2014/main" id="{0FC1FBCD-7E4F-8DF5-276D-10D44F5C2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15D5969A-F6B4-D77F-2107-8EE6D2156AC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28" name="Freeform 5">
              <a:extLst>
                <a:ext uri="{FF2B5EF4-FFF2-40B4-BE49-F238E27FC236}">
                  <a16:creationId xmlns:a16="http://schemas.microsoft.com/office/drawing/2014/main" id="{E9A3A164-ABF2-378C-3188-4D3F9646ACE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6">
              <a:extLst>
                <a:ext uri="{FF2B5EF4-FFF2-40B4-BE49-F238E27FC236}">
                  <a16:creationId xmlns:a16="http://schemas.microsoft.com/office/drawing/2014/main" id="{8B16F446-CE2B-5DB3-9729-2A3577C04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7">
              <a:extLst>
                <a:ext uri="{FF2B5EF4-FFF2-40B4-BE49-F238E27FC236}">
                  <a16:creationId xmlns:a16="http://schemas.microsoft.com/office/drawing/2014/main" id="{87D67FC0-E3A5-063E-B173-08207BB4AA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8">
              <a:extLst>
                <a:ext uri="{FF2B5EF4-FFF2-40B4-BE49-F238E27FC236}">
                  <a16:creationId xmlns:a16="http://schemas.microsoft.com/office/drawing/2014/main" id="{5E2D9C6B-9D7C-26D3-8D62-C893CBED32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9">
              <a:extLst>
                <a:ext uri="{FF2B5EF4-FFF2-40B4-BE49-F238E27FC236}">
                  <a16:creationId xmlns:a16="http://schemas.microsoft.com/office/drawing/2014/main" id="{AE15FF98-5A9E-F89C-3D1B-93248E21FD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a:extLst>
                <a:ext uri="{FF2B5EF4-FFF2-40B4-BE49-F238E27FC236}">
                  <a16:creationId xmlns:a16="http://schemas.microsoft.com/office/drawing/2014/main" id="{CCEFDF1D-6BD2-7C87-A0C4-6C09C207F5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a:extLst>
                <a:ext uri="{FF2B5EF4-FFF2-40B4-BE49-F238E27FC236}">
                  <a16:creationId xmlns:a16="http://schemas.microsoft.com/office/drawing/2014/main" id="{06A5FEC6-255F-778E-FCA2-1C11F563ED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12">
              <a:extLst>
                <a:ext uri="{FF2B5EF4-FFF2-40B4-BE49-F238E27FC236}">
                  <a16:creationId xmlns:a16="http://schemas.microsoft.com/office/drawing/2014/main" id="{4105FFB3-C96B-0112-B0A9-FFCF5B73A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13">
              <a:extLst>
                <a:ext uri="{FF2B5EF4-FFF2-40B4-BE49-F238E27FC236}">
                  <a16:creationId xmlns:a16="http://schemas.microsoft.com/office/drawing/2014/main" id="{E76DFC61-8BB1-9D3B-ED13-561AEA8A76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14">
              <a:extLst>
                <a:ext uri="{FF2B5EF4-FFF2-40B4-BE49-F238E27FC236}">
                  <a16:creationId xmlns:a16="http://schemas.microsoft.com/office/drawing/2014/main" id="{714CEB73-9BA5-F664-BA20-071A6C94C0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Freeform 15">
              <a:extLst>
                <a:ext uri="{FF2B5EF4-FFF2-40B4-BE49-F238E27FC236}">
                  <a16:creationId xmlns:a16="http://schemas.microsoft.com/office/drawing/2014/main" id="{CBA9C202-069C-0D7A-8CDE-A6C0688E325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508D7E41-8B32-ED49-D48A-CC135F9B5B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17">
              <a:extLst>
                <a:ext uri="{FF2B5EF4-FFF2-40B4-BE49-F238E27FC236}">
                  <a16:creationId xmlns:a16="http://schemas.microsoft.com/office/drawing/2014/main" id="{8A0D123A-1023-FFD2-E7A9-3809DBB5B3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18">
              <a:extLst>
                <a:ext uri="{FF2B5EF4-FFF2-40B4-BE49-F238E27FC236}">
                  <a16:creationId xmlns:a16="http://schemas.microsoft.com/office/drawing/2014/main" id="{6666DAE0-B968-EA5A-9F97-63687B3286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19">
              <a:extLst>
                <a:ext uri="{FF2B5EF4-FFF2-40B4-BE49-F238E27FC236}">
                  <a16:creationId xmlns:a16="http://schemas.microsoft.com/office/drawing/2014/main" id="{BB1720D8-806C-45FC-9BF4-3F988197FB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20">
              <a:extLst>
                <a:ext uri="{FF2B5EF4-FFF2-40B4-BE49-F238E27FC236}">
                  <a16:creationId xmlns:a16="http://schemas.microsoft.com/office/drawing/2014/main" id="{E21EFD59-1940-0F5A-7B15-F2954EFE92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21">
              <a:extLst>
                <a:ext uri="{FF2B5EF4-FFF2-40B4-BE49-F238E27FC236}">
                  <a16:creationId xmlns:a16="http://schemas.microsoft.com/office/drawing/2014/main" id="{0BC06F9E-6304-9700-A7F0-7AC0B5DCA6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22">
              <a:extLst>
                <a:ext uri="{FF2B5EF4-FFF2-40B4-BE49-F238E27FC236}">
                  <a16:creationId xmlns:a16="http://schemas.microsoft.com/office/drawing/2014/main" id="{CFDE20A7-BE2D-453D-1AC7-8F3780B62C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Freeform 23">
              <a:extLst>
                <a:ext uri="{FF2B5EF4-FFF2-40B4-BE49-F238E27FC236}">
                  <a16:creationId xmlns:a16="http://schemas.microsoft.com/office/drawing/2014/main" id="{F73AF480-47A3-2BD8-0F81-56AB78B849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47" name="Rectangle 46">
            <a:extLst>
              <a:ext uri="{FF2B5EF4-FFF2-40B4-BE49-F238E27FC236}">
                <a16:creationId xmlns:a16="http://schemas.microsoft.com/office/drawing/2014/main" id="{A05B9FB2-9AFE-E3E0-7154-9CA8BB6C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 y="-6706"/>
            <a:ext cx="12194680" cy="4127711"/>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2D8E56F1-4915-BFA8-9826-3017D3DBEC7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509" y="5034108"/>
            <a:ext cx="12192755" cy="1322045"/>
            <a:chOff x="-57509" y="4720957"/>
            <a:chExt cx="12192755" cy="1322045"/>
          </a:xfrm>
        </p:grpSpPr>
        <p:sp>
          <p:nvSpPr>
            <p:cNvPr id="49" name="Isosceles Triangle 39">
              <a:extLst>
                <a:ext uri="{FF2B5EF4-FFF2-40B4-BE49-F238E27FC236}">
                  <a16:creationId xmlns:a16="http://schemas.microsoft.com/office/drawing/2014/main" id="{7E639443-4D7F-D0F1-04B8-02469A77D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4460000">
              <a:off x="5723450" y="4749042"/>
              <a:ext cx="407233" cy="351063"/>
            </a:xfrm>
            <a:prstGeom prs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99F2833-A858-7259-5C35-5AD34F0FC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09" y="5003792"/>
              <a:ext cx="12192755" cy="103921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Title 1">
            <a:extLst>
              <a:ext uri="{FF2B5EF4-FFF2-40B4-BE49-F238E27FC236}">
                <a16:creationId xmlns:a16="http://schemas.microsoft.com/office/drawing/2014/main" id="{945FFBFE-B90D-BC94-C98A-93DD46B7DE67}"/>
              </a:ext>
            </a:extLst>
          </p:cNvPr>
          <p:cNvSpPr txBox="1">
            <a:spLocks/>
          </p:cNvSpPr>
          <p:nvPr/>
        </p:nvSpPr>
        <p:spPr>
          <a:xfrm>
            <a:off x="1353303" y="5533435"/>
            <a:ext cx="8833655" cy="727748"/>
          </a:xfrm>
          <a:prstGeom prst="rect">
            <a:avLst/>
          </a:prstGeom>
        </p:spPr>
        <p:txBody>
          <a:bodyPr vert="horz" lIns="228600" tIns="228600" rIns="228600" bIns="0" rtlCol="0" anchor="b">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80000"/>
              </a:lnSpc>
            </a:pPr>
            <a:r>
              <a:rPr lang="en-US" sz="4400" kern="0">
                <a:solidFill>
                  <a:srgbClr val="FFFEFF"/>
                </a:solidFill>
              </a:rPr>
              <a:t>Advanced Search Tips, Tricks &amp; Strategies</a:t>
            </a:r>
            <a:br>
              <a:rPr lang="en-US" sz="1900" kern="0"/>
            </a:br>
            <a:endParaRPr lang="en-US" sz="1900" kern="0">
              <a:solidFill>
                <a:srgbClr val="FFFEFF"/>
              </a:solidFill>
            </a:endParaRPr>
          </a:p>
        </p:txBody>
      </p:sp>
      <p:sp>
        <p:nvSpPr>
          <p:cNvPr id="52" name="Slide Number Placeholder 7">
            <a:extLst>
              <a:ext uri="{FF2B5EF4-FFF2-40B4-BE49-F238E27FC236}">
                <a16:creationId xmlns:a16="http://schemas.microsoft.com/office/drawing/2014/main" id="{F26A7069-BC8A-A25E-6EE4-669B8DF5B93F}"/>
              </a:ext>
            </a:extLst>
          </p:cNvPr>
          <p:cNvSpPr txBox="1">
            <a:spLocks/>
          </p:cNvSpPr>
          <p:nvPr/>
        </p:nvSpPr>
        <p:spPr>
          <a:xfrm>
            <a:off x="10469880" y="320040"/>
            <a:ext cx="914400" cy="320040"/>
          </a:xfrm>
          <a:prstGeom prst="rect">
            <a:avLst/>
          </a:prstGeom>
        </p:spPr>
        <p:txBody>
          <a:bodyPr vert="horz" lIns="91440" tIns="45720" rIns="91440" bIns="45720" rtlCol="0" anchor="ctr">
            <a:normAutofit fontScale="9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spcAft>
                <a:spcPts val="600"/>
              </a:spcAft>
            </a:pPr>
            <a:fld id="{B5CEABB6-07DC-46E8-9B57-56EC44A396E5}" type="slidenum">
              <a:rPr lang="en-US" b="1" smtClean="0"/>
              <a:pPr defTabSz="457200">
                <a:spcAft>
                  <a:spcPts val="600"/>
                </a:spcAft>
              </a:pPr>
              <a:t>21</a:t>
            </a:fld>
            <a:endParaRPr lang="en-US" b="1"/>
          </a:p>
        </p:txBody>
      </p:sp>
      <p:graphicFrame>
        <p:nvGraphicFramePr>
          <p:cNvPr id="54" name="Table 53">
            <a:extLst>
              <a:ext uri="{FF2B5EF4-FFF2-40B4-BE49-F238E27FC236}">
                <a16:creationId xmlns:a16="http://schemas.microsoft.com/office/drawing/2014/main" id="{80BA5965-3795-A073-5F56-9A2F720B92D8}"/>
              </a:ext>
            </a:extLst>
          </p:cNvPr>
          <p:cNvGraphicFramePr>
            <a:graphicFrameLocks noGrp="1"/>
          </p:cNvGraphicFramePr>
          <p:nvPr>
            <p:extLst>
              <p:ext uri="{D42A27DB-BD31-4B8C-83A1-F6EECF244321}">
                <p14:modId xmlns:p14="http://schemas.microsoft.com/office/powerpoint/2010/main" val="3466446497"/>
              </p:ext>
            </p:extLst>
          </p:nvPr>
        </p:nvGraphicFramePr>
        <p:xfrm>
          <a:off x="0" y="0"/>
          <a:ext cx="12180630" cy="5449742"/>
        </p:xfrm>
        <a:graphic>
          <a:graphicData uri="http://schemas.openxmlformats.org/drawingml/2006/table">
            <a:tbl>
              <a:tblPr firstRow="1" bandRow="1">
                <a:tableStyleId>{46F890A9-2807-4EBB-B81D-B2AA78EC7F39}</a:tableStyleId>
              </a:tblPr>
              <a:tblGrid>
                <a:gridCol w="2201113">
                  <a:extLst>
                    <a:ext uri="{9D8B030D-6E8A-4147-A177-3AD203B41FA5}">
                      <a16:colId xmlns:a16="http://schemas.microsoft.com/office/drawing/2014/main" val="3696740327"/>
                    </a:ext>
                  </a:extLst>
                </a:gridCol>
                <a:gridCol w="4633958">
                  <a:extLst>
                    <a:ext uri="{9D8B030D-6E8A-4147-A177-3AD203B41FA5}">
                      <a16:colId xmlns:a16="http://schemas.microsoft.com/office/drawing/2014/main" val="742159314"/>
                    </a:ext>
                  </a:extLst>
                </a:gridCol>
                <a:gridCol w="5345559">
                  <a:extLst>
                    <a:ext uri="{9D8B030D-6E8A-4147-A177-3AD203B41FA5}">
                      <a16:colId xmlns:a16="http://schemas.microsoft.com/office/drawing/2014/main" val="764318131"/>
                    </a:ext>
                  </a:extLst>
                </a:gridCol>
              </a:tblGrid>
              <a:tr h="433524">
                <a:tc>
                  <a:txBody>
                    <a:bodyPr/>
                    <a:lstStyle/>
                    <a:p>
                      <a:pPr fontAlgn="b"/>
                      <a:r>
                        <a:rPr lang="en-US" sz="1800" dirty="0">
                          <a:effectLst/>
                          <a:latin typeface="+mn-lt"/>
                        </a:rPr>
                        <a:t>Category</a:t>
                      </a:r>
                    </a:p>
                  </a:txBody>
                  <a:tcPr marL="60402" marR="60402" marT="30201" marB="30201" anchor="b"/>
                </a:tc>
                <a:tc>
                  <a:txBody>
                    <a:bodyPr/>
                    <a:lstStyle/>
                    <a:p>
                      <a:pPr fontAlgn="b"/>
                      <a:r>
                        <a:rPr lang="en-US" sz="1800" dirty="0">
                          <a:effectLst/>
                          <a:latin typeface="+mn-lt"/>
                        </a:rPr>
                        <a:t>Tip/Trick/Strategy</a:t>
                      </a:r>
                    </a:p>
                  </a:txBody>
                  <a:tcPr marL="60402" marR="60402" marT="30201" marB="30201" anchor="b"/>
                </a:tc>
                <a:tc>
                  <a:txBody>
                    <a:bodyPr/>
                    <a:lstStyle/>
                    <a:p>
                      <a:pPr fontAlgn="b"/>
                      <a:r>
                        <a:rPr lang="en-US" sz="1800" dirty="0">
                          <a:effectLst/>
                          <a:latin typeface="+mn-lt"/>
                        </a:rPr>
                        <a:t>Illustrated Example</a:t>
                      </a:r>
                    </a:p>
                  </a:txBody>
                  <a:tcPr marL="60402" marR="60402" marT="30201" marB="30201" anchor="b"/>
                </a:tc>
                <a:extLst>
                  <a:ext uri="{0D108BD9-81ED-4DB2-BD59-A6C34878D82A}">
                    <a16:rowId xmlns:a16="http://schemas.microsoft.com/office/drawing/2014/main" val="2214763528"/>
                  </a:ext>
                </a:extLst>
              </a:tr>
              <a:tr h="363762">
                <a:tc>
                  <a:txBody>
                    <a:bodyPr/>
                    <a:lstStyle/>
                    <a:p>
                      <a:pPr fontAlgn="base"/>
                      <a:r>
                        <a:rPr lang="en-US" sz="1400" dirty="0">
                          <a:solidFill>
                            <a:schemeClr val="tx1"/>
                          </a:solidFill>
                          <a:effectLst/>
                          <a:latin typeface="+mn-lt"/>
                        </a:rPr>
                        <a:t>Keyword Selection</a:t>
                      </a:r>
                    </a:p>
                  </a:txBody>
                  <a:tcPr marL="60402" marR="60402" marT="30201" marB="30201" anchor="ctr"/>
                </a:tc>
                <a:tc>
                  <a:txBody>
                    <a:bodyPr/>
                    <a:lstStyle/>
                    <a:p>
                      <a:pPr fontAlgn="base"/>
                      <a:r>
                        <a:rPr lang="en-US" sz="1400" dirty="0">
                          <a:solidFill>
                            <a:schemeClr val="tx1"/>
                          </a:solidFill>
                          <a:effectLst/>
                          <a:latin typeface="+mn-lt"/>
                        </a:rPr>
                        <a:t>Use relevant keywords; avoid common words like "the" "is"</a:t>
                      </a:r>
                    </a:p>
                  </a:txBody>
                  <a:tcPr marL="60402" marR="60402" marT="30201" marB="30201" anchor="ctr"/>
                </a:tc>
                <a:tc>
                  <a:txBody>
                    <a:bodyPr/>
                    <a:lstStyle/>
                    <a:p>
                      <a:pPr fontAlgn="base"/>
                      <a:r>
                        <a:rPr lang="en-US" sz="1400" dirty="0">
                          <a:solidFill>
                            <a:schemeClr val="tx1"/>
                          </a:solidFill>
                          <a:effectLst/>
                          <a:latin typeface="+mn-lt"/>
                        </a:rPr>
                        <a:t>  Use "solar effects" and not </a:t>
                      </a:r>
                      <a:r>
                        <a:rPr lang="en-US" sz="1400" u="none" strike="noStrike" noProof="0" dirty="0">
                          <a:solidFill>
                            <a:schemeClr val="tx1"/>
                          </a:solidFill>
                          <a:effectLst/>
                          <a:latin typeface="+mn-lt"/>
                        </a:rPr>
                        <a:t>Instead of "effects of the sun"</a:t>
                      </a:r>
                      <a:endParaRPr lang="en-US" sz="1400" dirty="0">
                        <a:solidFill>
                          <a:schemeClr val="tx1"/>
                        </a:solidFill>
                        <a:effectLst/>
                        <a:latin typeface="+mn-lt"/>
                      </a:endParaRPr>
                    </a:p>
                  </a:txBody>
                  <a:tcPr marL="60402" marR="60402" marT="30201" marB="30201" anchor="ctr"/>
                </a:tc>
                <a:extLst>
                  <a:ext uri="{0D108BD9-81ED-4DB2-BD59-A6C34878D82A}">
                    <a16:rowId xmlns:a16="http://schemas.microsoft.com/office/drawing/2014/main" val="3552240697"/>
                  </a:ext>
                </a:extLst>
              </a:tr>
              <a:tr h="363762">
                <a:tc>
                  <a:txBody>
                    <a:bodyPr/>
                    <a:lstStyle/>
                    <a:p>
                      <a:pPr fontAlgn="base"/>
                      <a:r>
                        <a:rPr lang="en-US" sz="1400" dirty="0">
                          <a:solidFill>
                            <a:schemeClr val="tx1"/>
                          </a:solidFill>
                          <a:effectLst/>
                          <a:latin typeface="+mn-lt"/>
                        </a:rPr>
                        <a:t>Boolean Operators</a:t>
                      </a:r>
                    </a:p>
                  </a:txBody>
                  <a:tcPr marL="60402" marR="60402" marT="30201" marB="30201" anchor="ctr"/>
                </a:tc>
                <a:tc>
                  <a:txBody>
                    <a:bodyPr/>
                    <a:lstStyle/>
                    <a:p>
                      <a:pPr fontAlgn="base"/>
                      <a:r>
                        <a:rPr lang="en-US" sz="1400" dirty="0">
                          <a:solidFill>
                            <a:schemeClr val="tx1"/>
                          </a:solidFill>
                          <a:effectLst/>
                          <a:latin typeface="+mn-lt"/>
                        </a:rPr>
                        <a:t>Combine keywords with </a:t>
                      </a:r>
                      <a:r>
                        <a:rPr lang="en-US" sz="1400" b="1" dirty="0">
                          <a:solidFill>
                            <a:schemeClr val="tx1"/>
                          </a:solidFill>
                          <a:effectLst/>
                          <a:latin typeface="+mn-lt"/>
                        </a:rPr>
                        <a:t>AND, OR, NOT</a:t>
                      </a:r>
                      <a:r>
                        <a:rPr lang="en-US" sz="1400" dirty="0">
                          <a:solidFill>
                            <a:schemeClr val="tx1"/>
                          </a:solidFill>
                          <a:effectLst/>
                          <a:latin typeface="+mn-lt"/>
                        </a:rPr>
                        <a:t> for precise results</a:t>
                      </a:r>
                    </a:p>
                  </a:txBody>
                  <a:tcPr marL="60402" marR="60402" marT="30201" marB="30201" anchor="ctr"/>
                </a:tc>
                <a:tc>
                  <a:txBody>
                    <a:bodyPr/>
                    <a:lstStyle/>
                    <a:p>
                      <a:pPr fontAlgn="base"/>
                      <a:r>
                        <a:rPr lang="en-US" sz="1400" dirty="0">
                          <a:solidFill>
                            <a:schemeClr val="tx1"/>
                          </a:solidFill>
                          <a:effectLst/>
                          <a:latin typeface="+mn-lt"/>
                        </a:rPr>
                        <a:t>"climate change AND tourism"; hospitality industry NOT aviation</a:t>
                      </a:r>
                    </a:p>
                  </a:txBody>
                  <a:tcPr marL="60402" marR="60402" marT="30201" marB="30201" anchor="ctr"/>
                </a:tc>
                <a:extLst>
                  <a:ext uri="{0D108BD9-81ED-4DB2-BD59-A6C34878D82A}">
                    <a16:rowId xmlns:a16="http://schemas.microsoft.com/office/drawing/2014/main" val="1258219478"/>
                  </a:ext>
                </a:extLst>
              </a:tr>
              <a:tr h="363762">
                <a:tc>
                  <a:txBody>
                    <a:bodyPr/>
                    <a:lstStyle/>
                    <a:p>
                      <a:pPr fontAlgn="base"/>
                      <a:r>
                        <a:rPr lang="en-US" sz="1400" dirty="0">
                          <a:solidFill>
                            <a:schemeClr val="tx1"/>
                          </a:solidFill>
                          <a:effectLst/>
                          <a:latin typeface="+mn-lt"/>
                        </a:rPr>
                        <a:t>Quotation Marks</a:t>
                      </a:r>
                    </a:p>
                  </a:txBody>
                  <a:tcPr marL="60402" marR="60402" marT="30201" marB="30201" anchor="ctr"/>
                </a:tc>
                <a:tc>
                  <a:txBody>
                    <a:bodyPr/>
                    <a:lstStyle/>
                    <a:p>
                      <a:pPr fontAlgn="base"/>
                      <a:r>
                        <a:rPr lang="en-US" sz="1400" dirty="0">
                          <a:solidFill>
                            <a:schemeClr val="tx1"/>
                          </a:solidFill>
                          <a:effectLst/>
                          <a:latin typeface="+mn-lt"/>
                        </a:rPr>
                        <a:t>Use quotes for exact phrase searches</a:t>
                      </a:r>
                    </a:p>
                  </a:txBody>
                  <a:tcPr marL="60402" marR="60402" marT="30201" marB="30201" anchor="ctr"/>
                </a:tc>
                <a:tc>
                  <a:txBody>
                    <a:bodyPr/>
                    <a:lstStyle/>
                    <a:p>
                      <a:pPr fontAlgn="base"/>
                      <a:r>
                        <a:rPr lang="en-US" sz="1400" dirty="0">
                          <a:solidFill>
                            <a:schemeClr val="tx1"/>
                          </a:solidFill>
                          <a:effectLst/>
                          <a:latin typeface="+mn-lt"/>
                        </a:rPr>
                        <a:t> "global warming"</a:t>
                      </a:r>
                    </a:p>
                  </a:txBody>
                  <a:tcPr marL="60402" marR="60402" marT="30201" marB="30201" anchor="ctr"/>
                </a:tc>
                <a:extLst>
                  <a:ext uri="{0D108BD9-81ED-4DB2-BD59-A6C34878D82A}">
                    <a16:rowId xmlns:a16="http://schemas.microsoft.com/office/drawing/2014/main" val="1979974073"/>
                  </a:ext>
                </a:extLst>
              </a:tr>
              <a:tr h="592981">
                <a:tc>
                  <a:txBody>
                    <a:bodyPr/>
                    <a:lstStyle/>
                    <a:p>
                      <a:pPr fontAlgn="base"/>
                      <a:r>
                        <a:rPr lang="en-US" sz="1400" dirty="0">
                          <a:solidFill>
                            <a:schemeClr val="tx1"/>
                          </a:solidFill>
                          <a:effectLst/>
                          <a:latin typeface="+mn-lt"/>
                        </a:rPr>
                        <a:t>Wildcard (*)</a:t>
                      </a:r>
                    </a:p>
                  </a:txBody>
                  <a:tcPr marL="60402" marR="60402" marT="30201" marB="30201" anchor="ctr"/>
                </a:tc>
                <a:tc>
                  <a:txBody>
                    <a:bodyPr/>
                    <a:lstStyle/>
                    <a:p>
                      <a:pPr fontAlgn="base"/>
                      <a:r>
                        <a:rPr lang="en-US" sz="1400" dirty="0">
                          <a:solidFill>
                            <a:schemeClr val="tx1"/>
                          </a:solidFill>
                          <a:effectLst/>
                          <a:latin typeface="+mn-lt"/>
                        </a:rPr>
                        <a:t>Substitute a symbol for one letter of a word.</a:t>
                      </a:r>
                    </a:p>
                  </a:txBody>
                  <a:tcPr marL="60402" marR="60402" marT="30201" marB="30201" anchor="ctr"/>
                </a:tc>
                <a:tc>
                  <a:txBody>
                    <a:bodyPr/>
                    <a:lstStyle/>
                    <a:p>
                      <a:pPr fontAlgn="base"/>
                      <a:r>
                        <a:rPr lang="en-US" sz="1400" dirty="0">
                          <a:solidFill>
                            <a:schemeClr val="tx1"/>
                          </a:solidFill>
                          <a:effectLst/>
                          <a:latin typeface="+mn-lt"/>
                        </a:rPr>
                        <a:t> </a:t>
                      </a:r>
                      <a:r>
                        <a:rPr lang="en-US" sz="1400" err="1">
                          <a:solidFill>
                            <a:schemeClr val="tx1"/>
                          </a:solidFill>
                          <a:effectLst/>
                          <a:latin typeface="+mn-lt"/>
                        </a:rPr>
                        <a:t>wom!n</a:t>
                      </a:r>
                      <a:r>
                        <a:rPr lang="en-US" sz="1400" dirty="0">
                          <a:solidFill>
                            <a:schemeClr val="tx1"/>
                          </a:solidFill>
                          <a:effectLst/>
                          <a:latin typeface="+mn-lt"/>
                        </a:rPr>
                        <a:t> = woman, women</a:t>
                      </a:r>
                      <a:br>
                        <a:rPr lang="en-US" sz="1400" dirty="0">
                          <a:solidFill>
                            <a:srgbClr val="000000"/>
                          </a:solidFill>
                          <a:effectLst/>
                          <a:latin typeface="+mn-lt"/>
                        </a:rPr>
                      </a:br>
                      <a:r>
                        <a:rPr lang="en-US" sz="1400" err="1">
                          <a:solidFill>
                            <a:schemeClr val="tx1"/>
                          </a:solidFill>
                          <a:effectLst/>
                          <a:latin typeface="+mn-lt"/>
                        </a:rPr>
                        <a:t>colo?r</a:t>
                      </a:r>
                      <a:r>
                        <a:rPr lang="en-US" sz="1400" dirty="0">
                          <a:solidFill>
                            <a:schemeClr val="tx1"/>
                          </a:solidFill>
                          <a:effectLst/>
                          <a:latin typeface="+mn-lt"/>
                        </a:rPr>
                        <a:t> = color, </a:t>
                      </a:r>
                      <a:r>
                        <a:rPr lang="en-US" sz="1400" err="1">
                          <a:solidFill>
                            <a:schemeClr val="tx1"/>
                          </a:solidFill>
                          <a:effectLst/>
                          <a:latin typeface="+mn-lt"/>
                        </a:rPr>
                        <a:t>colour</a:t>
                      </a:r>
                      <a:endParaRPr lang="en-US" sz="1400">
                        <a:solidFill>
                          <a:schemeClr val="tx1"/>
                        </a:solidFill>
                        <a:effectLst/>
                        <a:latin typeface="+mn-lt"/>
                      </a:endParaRPr>
                    </a:p>
                  </a:txBody>
                  <a:tcPr marL="60402" marR="60402" marT="30201" marB="30201" anchor="ctr"/>
                </a:tc>
                <a:extLst>
                  <a:ext uri="{0D108BD9-81ED-4DB2-BD59-A6C34878D82A}">
                    <a16:rowId xmlns:a16="http://schemas.microsoft.com/office/drawing/2014/main" val="787310744"/>
                  </a:ext>
                </a:extLst>
              </a:tr>
              <a:tr h="812236">
                <a:tc>
                  <a:txBody>
                    <a:bodyPr/>
                    <a:lstStyle/>
                    <a:p>
                      <a:pPr fontAlgn="base"/>
                      <a:r>
                        <a:rPr lang="en-US" sz="1400" dirty="0">
                          <a:solidFill>
                            <a:schemeClr val="tx1"/>
                          </a:solidFill>
                          <a:effectLst/>
                          <a:latin typeface="+mn-lt"/>
                        </a:rPr>
                        <a:t>Truncation </a:t>
                      </a:r>
                    </a:p>
                  </a:txBody>
                  <a:tcPr marL="60402" marR="60402" marT="30201" marB="30201" anchor="ctr"/>
                </a:tc>
                <a:tc>
                  <a:txBody>
                    <a:bodyPr/>
                    <a:lstStyle/>
                    <a:p>
                      <a:pPr marL="0" lvl="0" indent="0">
                        <a:buNone/>
                      </a:pPr>
                      <a:r>
                        <a:rPr lang="en-US" sz="1400" u="none" strike="noStrike" baseline="0" noProof="0" dirty="0">
                          <a:solidFill>
                            <a:schemeClr val="tx1"/>
                          </a:solidFill>
                          <a:effectLst/>
                          <a:latin typeface="+mn-lt"/>
                        </a:rPr>
                        <a:t> A symbol added to the end of the root of a word to instruct the database to search for all forms of a word. Truncation symbols may vary by database; common symbols include: *, !, ?, or #</a:t>
                      </a:r>
                      <a:endParaRPr lang="en-US" sz="1400" dirty="0">
                        <a:solidFill>
                          <a:schemeClr val="tx1"/>
                        </a:solidFill>
                        <a:effectLst/>
                        <a:latin typeface="+mn-lt"/>
                      </a:endParaRPr>
                    </a:p>
                  </a:txBody>
                  <a:tcPr marL="60402" marR="60402" marT="30201" marB="30201" anchor="ctr"/>
                </a:tc>
                <a:tc>
                  <a:txBody>
                    <a:bodyPr/>
                    <a:lstStyle/>
                    <a:p>
                      <a:pPr lvl="0">
                        <a:buNone/>
                      </a:pPr>
                      <a:r>
                        <a:rPr lang="en-US" sz="1400" u="none" strike="noStrike" baseline="0" noProof="0" dirty="0">
                          <a:solidFill>
                            <a:schemeClr val="tx1"/>
                          </a:solidFill>
                          <a:effectLst/>
                          <a:latin typeface="+mn-lt"/>
                        </a:rPr>
                        <a:t>child* = child, </a:t>
                      </a:r>
                      <a:r>
                        <a:rPr lang="en-US" sz="1400" u="none" strike="noStrike" baseline="0" noProof="0" err="1">
                          <a:solidFill>
                            <a:schemeClr val="tx1"/>
                          </a:solidFill>
                          <a:effectLst/>
                          <a:latin typeface="+mn-lt"/>
                        </a:rPr>
                        <a:t>childs</a:t>
                      </a:r>
                      <a:r>
                        <a:rPr lang="en-US" sz="1400" u="none" strike="noStrike" baseline="0" noProof="0" dirty="0">
                          <a:solidFill>
                            <a:schemeClr val="tx1"/>
                          </a:solidFill>
                          <a:effectLst/>
                          <a:latin typeface="+mn-lt"/>
                        </a:rPr>
                        <a:t>, children, </a:t>
                      </a:r>
                      <a:r>
                        <a:rPr lang="en-US" sz="1400" u="none" strike="noStrike" baseline="0" noProof="0" err="1">
                          <a:solidFill>
                            <a:schemeClr val="tx1"/>
                          </a:solidFill>
                          <a:effectLst/>
                          <a:latin typeface="+mn-lt"/>
                        </a:rPr>
                        <a:t>childrens</a:t>
                      </a:r>
                      <a:r>
                        <a:rPr lang="en-US" sz="1400" u="none" strike="noStrike" baseline="0" noProof="0" dirty="0">
                          <a:solidFill>
                            <a:schemeClr val="tx1"/>
                          </a:solidFill>
                          <a:effectLst/>
                          <a:latin typeface="+mn-lt"/>
                        </a:rPr>
                        <a:t>, childhood</a:t>
                      </a:r>
                      <a:endParaRPr lang="en-US" sz="1400">
                        <a:solidFill>
                          <a:schemeClr val="tx1"/>
                        </a:solidFill>
                        <a:latin typeface="+mn-lt"/>
                      </a:endParaRPr>
                    </a:p>
                  </a:txBody>
                  <a:tcPr marL="60402" marR="60402" marT="30201" marB="30201" anchor="ctr"/>
                </a:tc>
                <a:extLst>
                  <a:ext uri="{0D108BD9-81ED-4DB2-BD59-A6C34878D82A}">
                    <a16:rowId xmlns:a16="http://schemas.microsoft.com/office/drawing/2014/main" val="2795729864"/>
                  </a:ext>
                </a:extLst>
              </a:tr>
              <a:tr h="363762">
                <a:tc>
                  <a:txBody>
                    <a:bodyPr/>
                    <a:lstStyle/>
                    <a:p>
                      <a:pPr fontAlgn="base"/>
                      <a:r>
                        <a:rPr lang="en-US" sz="1400" dirty="0">
                          <a:solidFill>
                            <a:schemeClr val="tx1"/>
                          </a:solidFill>
                          <a:effectLst/>
                          <a:latin typeface="+mn-lt"/>
                        </a:rPr>
                        <a:t>Limiters/Filters</a:t>
                      </a:r>
                    </a:p>
                  </a:txBody>
                  <a:tcPr marL="60402" marR="60402" marT="30201" marB="30201" anchor="ctr"/>
                </a:tc>
                <a:tc>
                  <a:txBody>
                    <a:bodyPr/>
                    <a:lstStyle/>
                    <a:p>
                      <a:pPr fontAlgn="base"/>
                      <a:r>
                        <a:rPr lang="en-US" sz="1400" dirty="0">
                          <a:solidFill>
                            <a:schemeClr val="tx1"/>
                          </a:solidFill>
                          <a:effectLst/>
                          <a:latin typeface="+mn-lt"/>
                        </a:rPr>
                        <a:t>Use filters for date, type, language, etc.</a:t>
                      </a:r>
                    </a:p>
                  </a:txBody>
                  <a:tcPr marL="60402" marR="60402" marT="30201" marB="30201" anchor="ctr"/>
                </a:tc>
                <a:tc>
                  <a:txBody>
                    <a:bodyPr/>
                    <a:lstStyle/>
                    <a:p>
                      <a:pPr fontAlgn="base"/>
                      <a:r>
                        <a:rPr lang="en-US" sz="1400" dirty="0">
                          <a:solidFill>
                            <a:schemeClr val="tx1"/>
                          </a:solidFill>
                          <a:effectLst/>
                          <a:latin typeface="+mn-lt"/>
                        </a:rPr>
                        <a:t>Publication date range 2014 to present; peer-reviewed journals</a:t>
                      </a:r>
                    </a:p>
                  </a:txBody>
                  <a:tcPr marL="60402" marR="60402" marT="30201" marB="30201" anchor="ctr"/>
                </a:tc>
                <a:extLst>
                  <a:ext uri="{0D108BD9-81ED-4DB2-BD59-A6C34878D82A}">
                    <a16:rowId xmlns:a16="http://schemas.microsoft.com/office/drawing/2014/main" val="3826312550"/>
                  </a:ext>
                </a:extLst>
              </a:tr>
              <a:tr h="363762">
                <a:tc>
                  <a:txBody>
                    <a:bodyPr/>
                    <a:lstStyle/>
                    <a:p>
                      <a:pPr fontAlgn="base"/>
                      <a:r>
                        <a:rPr lang="en-US" sz="1400" dirty="0">
                          <a:solidFill>
                            <a:schemeClr val="tx1"/>
                          </a:solidFill>
                          <a:effectLst/>
                          <a:latin typeface="+mn-lt"/>
                        </a:rPr>
                        <a:t>Subject Headings</a:t>
                      </a:r>
                    </a:p>
                  </a:txBody>
                  <a:tcPr marL="60402" marR="60402" marT="30201" marB="30201" anchor="ctr"/>
                </a:tc>
                <a:tc>
                  <a:txBody>
                    <a:bodyPr/>
                    <a:lstStyle/>
                    <a:p>
                      <a:pPr fontAlgn="base"/>
                      <a:r>
                        <a:rPr lang="en-US" sz="1400" dirty="0">
                          <a:solidFill>
                            <a:schemeClr val="tx1"/>
                          </a:solidFill>
                          <a:effectLst/>
                          <a:latin typeface="+mn-lt"/>
                        </a:rPr>
                        <a:t>Identify and use controlled vocabulary</a:t>
                      </a:r>
                    </a:p>
                  </a:txBody>
                  <a:tcPr marL="60402" marR="60402" marT="30201" marB="30201" anchor="ctr"/>
                </a:tc>
                <a:tc>
                  <a:txBody>
                    <a:bodyPr/>
                    <a:lstStyle/>
                    <a:p>
                      <a:pPr fontAlgn="base"/>
                      <a:r>
                        <a:rPr lang="en-US" sz="1400" dirty="0">
                          <a:solidFill>
                            <a:schemeClr val="tx1"/>
                          </a:solidFill>
                          <a:effectLst/>
                          <a:latin typeface="+mn-lt"/>
                        </a:rPr>
                        <a:t>Searching using LCSH terms</a:t>
                      </a:r>
                    </a:p>
                  </a:txBody>
                  <a:tcPr marL="60402" marR="60402" marT="30201" marB="30201" anchor="ctr"/>
                </a:tc>
                <a:extLst>
                  <a:ext uri="{0D108BD9-81ED-4DB2-BD59-A6C34878D82A}">
                    <a16:rowId xmlns:a16="http://schemas.microsoft.com/office/drawing/2014/main" val="4090795869"/>
                  </a:ext>
                </a:extLst>
              </a:tr>
              <a:tr h="363762">
                <a:tc>
                  <a:txBody>
                    <a:bodyPr/>
                    <a:lstStyle/>
                    <a:p>
                      <a:pPr fontAlgn="base"/>
                      <a:r>
                        <a:rPr lang="en-US" sz="1400" dirty="0">
                          <a:solidFill>
                            <a:schemeClr val="tx1"/>
                          </a:solidFill>
                          <a:effectLst/>
                          <a:latin typeface="+mn-lt"/>
                        </a:rPr>
                        <a:t>Boolean Searching</a:t>
                      </a:r>
                    </a:p>
                  </a:txBody>
                  <a:tcPr marL="60402" marR="60402" marT="30201" marB="30201" anchor="ctr"/>
                </a:tc>
                <a:tc>
                  <a:txBody>
                    <a:bodyPr/>
                    <a:lstStyle/>
                    <a:p>
                      <a:pPr fontAlgn="base"/>
                      <a:r>
                        <a:rPr lang="en-US" sz="1400" dirty="0">
                          <a:solidFill>
                            <a:schemeClr val="tx1"/>
                          </a:solidFill>
                          <a:effectLst/>
                          <a:latin typeface="+mn-lt"/>
                        </a:rPr>
                        <a:t>Combine multiple concepts using Boolean logic to create search strings</a:t>
                      </a:r>
                    </a:p>
                  </a:txBody>
                  <a:tcPr marL="60402" marR="60402" marT="30201" marB="30201" anchor="ctr"/>
                </a:tc>
                <a:tc>
                  <a:txBody>
                    <a:bodyPr/>
                    <a:lstStyle/>
                    <a:p>
                      <a:pPr fontAlgn="base"/>
                      <a:r>
                        <a:rPr lang="en-US" sz="1400" dirty="0">
                          <a:solidFill>
                            <a:schemeClr val="tx1"/>
                          </a:solidFill>
                          <a:effectLst/>
                          <a:latin typeface="+mn-lt"/>
                        </a:rPr>
                        <a:t> (social sustainability OR social infrastructure) AND tourism</a:t>
                      </a:r>
                    </a:p>
                  </a:txBody>
                  <a:tcPr marL="60402" marR="60402" marT="30201" marB="30201" anchor="ctr"/>
                </a:tc>
                <a:extLst>
                  <a:ext uri="{0D108BD9-81ED-4DB2-BD59-A6C34878D82A}">
                    <a16:rowId xmlns:a16="http://schemas.microsoft.com/office/drawing/2014/main" val="2793852109"/>
                  </a:ext>
                </a:extLst>
              </a:tr>
              <a:tr h="363762">
                <a:tc>
                  <a:txBody>
                    <a:bodyPr/>
                    <a:lstStyle/>
                    <a:p>
                      <a:pPr fontAlgn="base"/>
                      <a:r>
                        <a:rPr lang="en-US" sz="1400" dirty="0">
                          <a:solidFill>
                            <a:schemeClr val="tx1"/>
                          </a:solidFill>
                          <a:effectLst/>
                          <a:latin typeface="+mn-lt"/>
                        </a:rPr>
                        <a:t>Citation Tracking</a:t>
                      </a:r>
                    </a:p>
                  </a:txBody>
                  <a:tcPr marL="60402" marR="60402" marT="30201" marB="30201" anchor="ctr"/>
                </a:tc>
                <a:tc>
                  <a:txBody>
                    <a:bodyPr/>
                    <a:lstStyle/>
                    <a:p>
                      <a:pPr fontAlgn="base"/>
                      <a:r>
                        <a:rPr lang="en-US" sz="1400" dirty="0">
                          <a:solidFill>
                            <a:schemeClr val="tx1"/>
                          </a:solidFill>
                          <a:effectLst/>
                          <a:latin typeface="+mn-lt"/>
                        </a:rPr>
                        <a:t>Follow cited references for related literature</a:t>
                      </a:r>
                    </a:p>
                  </a:txBody>
                  <a:tcPr marL="60402" marR="60402" marT="30201" marB="30201" anchor="ctr"/>
                </a:tc>
                <a:tc>
                  <a:txBody>
                    <a:bodyPr/>
                    <a:lstStyle/>
                    <a:p>
                      <a:pPr fontAlgn="base"/>
                      <a:r>
                        <a:rPr lang="en-US" sz="1400" dirty="0">
                          <a:solidFill>
                            <a:schemeClr val="tx1"/>
                          </a:solidFill>
                          <a:effectLst/>
                          <a:latin typeface="+mn-lt"/>
                        </a:rPr>
                        <a:t>Check the reference list of your core articles</a:t>
                      </a:r>
                    </a:p>
                  </a:txBody>
                  <a:tcPr marL="60402" marR="60402" marT="30201" marB="30201" anchor="ctr"/>
                </a:tc>
                <a:extLst>
                  <a:ext uri="{0D108BD9-81ED-4DB2-BD59-A6C34878D82A}">
                    <a16:rowId xmlns:a16="http://schemas.microsoft.com/office/drawing/2014/main" val="2269757134"/>
                  </a:ext>
                </a:extLst>
              </a:tr>
              <a:tr h="592981">
                <a:tc>
                  <a:txBody>
                    <a:bodyPr/>
                    <a:lstStyle/>
                    <a:p>
                      <a:pPr fontAlgn="base"/>
                      <a:r>
                        <a:rPr lang="en-US" sz="1400" dirty="0">
                          <a:solidFill>
                            <a:schemeClr val="tx1"/>
                          </a:solidFill>
                          <a:effectLst/>
                          <a:latin typeface="+mn-lt"/>
                        </a:rPr>
                        <a:t>Database Selection</a:t>
                      </a:r>
                    </a:p>
                  </a:txBody>
                  <a:tcPr marL="60402" marR="60402" marT="30201" marB="30201" anchor="ctr"/>
                </a:tc>
                <a:tc>
                  <a:txBody>
                    <a:bodyPr/>
                    <a:lstStyle/>
                    <a:p>
                      <a:pPr fontAlgn="base"/>
                      <a:r>
                        <a:rPr lang="en-US" sz="1400" dirty="0">
                          <a:solidFill>
                            <a:schemeClr val="tx1"/>
                          </a:solidFill>
                          <a:effectLst/>
                          <a:latin typeface="+mn-lt"/>
                        </a:rPr>
                        <a:t>Choose databases based on your research area</a:t>
                      </a:r>
                    </a:p>
                  </a:txBody>
                  <a:tcPr marL="60402" marR="60402" marT="30201" marB="30201" anchor="ctr"/>
                </a:tc>
                <a:tc>
                  <a:txBody>
                    <a:bodyPr/>
                    <a:lstStyle/>
                    <a:p>
                      <a:pPr marL="0" marR="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US" sz="1400" dirty="0">
                          <a:solidFill>
                            <a:schemeClr val="tx1"/>
                          </a:solidFill>
                          <a:effectLst/>
                          <a:latin typeface="+mn-lt"/>
                        </a:rPr>
                        <a:t> SSRN (Social Science Research Network); </a:t>
                      </a:r>
                      <a:r>
                        <a:rPr lang="en-US" sz="1400" dirty="0" err="1">
                          <a:solidFill>
                            <a:schemeClr val="tx1"/>
                          </a:solidFill>
                          <a:effectLst/>
                          <a:latin typeface="+mn-lt"/>
                        </a:rPr>
                        <a:t>EconStor</a:t>
                      </a:r>
                      <a:r>
                        <a:rPr lang="en-US" sz="1400" dirty="0">
                          <a:solidFill>
                            <a:schemeClr val="tx1"/>
                          </a:solidFill>
                          <a:effectLst/>
                          <a:latin typeface="+mn-lt"/>
                        </a:rPr>
                        <a:t>; </a:t>
                      </a:r>
                      <a:r>
                        <a:rPr lang="en-US" sz="1400" b="1" i="0" u="none" strike="noStrike" cap="none" dirty="0">
                          <a:solidFill>
                            <a:schemeClr val="dk1"/>
                          </a:solidFill>
                          <a:effectLst/>
                          <a:latin typeface="+mn-lt"/>
                          <a:ea typeface="+mn-ea"/>
                          <a:cs typeface="+mn-cs"/>
                          <a:sym typeface="Arial"/>
                        </a:rPr>
                        <a:t>IDEAS</a:t>
                      </a:r>
                      <a:endParaRPr lang="en-US" sz="1400" dirty="0">
                        <a:solidFill>
                          <a:schemeClr val="tx1"/>
                        </a:solidFill>
                        <a:effectLst/>
                        <a:latin typeface="+mn-lt"/>
                      </a:endParaRPr>
                    </a:p>
                  </a:txBody>
                  <a:tcPr marL="60402" marR="60402" marT="30201" marB="30201" anchor="ctr"/>
                </a:tc>
                <a:extLst>
                  <a:ext uri="{0D108BD9-81ED-4DB2-BD59-A6C34878D82A}">
                    <a16:rowId xmlns:a16="http://schemas.microsoft.com/office/drawing/2014/main" val="1249673435"/>
                  </a:ext>
                </a:extLst>
              </a:tr>
            </a:tbl>
          </a:graphicData>
        </a:graphic>
      </p:graphicFrame>
    </p:spTree>
    <p:extLst>
      <p:ext uri="{BB962C8B-B14F-4D97-AF65-F5344CB8AC3E}">
        <p14:creationId xmlns:p14="http://schemas.microsoft.com/office/powerpoint/2010/main" val="1280635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9371A-B767-1230-D3B1-D1A5FE7F2D3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905D0B-C4DC-A8BD-A61A-98358BA65051}"/>
              </a:ext>
            </a:extLst>
          </p:cNvPr>
          <p:cNvSpPr txBox="1"/>
          <p:nvPr/>
        </p:nvSpPr>
        <p:spPr>
          <a:xfrm>
            <a:off x="1071563" y="2901435"/>
            <a:ext cx="8986838" cy="1569660"/>
          </a:xfrm>
          <a:prstGeom prst="rect">
            <a:avLst/>
          </a:prstGeom>
          <a:noFill/>
        </p:spPr>
        <p:txBody>
          <a:bodyPr wrap="square">
            <a:spAutoFit/>
          </a:bodyPr>
          <a:lstStyle/>
          <a:p>
            <a:pPr algn="ctr"/>
            <a:r>
              <a:rPr lang="en-US" sz="4800" b="1" kern="0" dirty="0"/>
              <a:t>Part 3</a:t>
            </a:r>
          </a:p>
          <a:p>
            <a:pPr algn="ctr"/>
            <a:r>
              <a:rPr lang="en-US" sz="4800" b="1" kern="0" dirty="0"/>
              <a:t> </a:t>
            </a:r>
            <a:r>
              <a:rPr lang="en-US" sz="4800" kern="0" dirty="0"/>
              <a:t>Reference Management Tools </a:t>
            </a:r>
            <a:endParaRPr lang="en-AE" sz="4800" dirty="0"/>
          </a:p>
        </p:txBody>
      </p:sp>
    </p:spTree>
    <p:extLst>
      <p:ext uri="{BB962C8B-B14F-4D97-AF65-F5344CB8AC3E}">
        <p14:creationId xmlns:p14="http://schemas.microsoft.com/office/powerpoint/2010/main" val="3885569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D7CA8400-A6A7-4DE5-2EC9-10D3F9729BE2}"/>
              </a:ext>
            </a:extLst>
          </p:cNvPr>
          <p:cNvSpPr txBox="1">
            <a:spLocks/>
          </p:cNvSpPr>
          <p:nvPr/>
        </p:nvSpPr>
        <p:spPr>
          <a:xfrm>
            <a:off x="480059" y="160019"/>
            <a:ext cx="9797732" cy="772390"/>
          </a:xfrm>
          <a:prstGeom prst="rect">
            <a:avLst/>
          </a:prstGeom>
        </p:spPr>
        <p:txBody>
          <a:bodyPr vert="horz" wrap="square" lIns="0" tIns="345820"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5880">
              <a:spcBef>
                <a:spcPts val="130"/>
              </a:spcBef>
            </a:pPr>
            <a:r>
              <a:rPr lang="en-US" sz="2750" b="1" kern="0" spc="-105" dirty="0">
                <a:solidFill>
                  <a:schemeClr val="bg1"/>
                </a:solidFill>
                <a:latin typeface="+mj-lt"/>
                <a:cs typeface="Verdana"/>
              </a:rPr>
              <a:t>Paraphrasing,</a:t>
            </a:r>
            <a:r>
              <a:rPr lang="en-US" sz="2750" b="1" kern="0" spc="-120" dirty="0">
                <a:solidFill>
                  <a:schemeClr val="bg1"/>
                </a:solidFill>
                <a:latin typeface="+mj-lt"/>
                <a:cs typeface="Verdana"/>
              </a:rPr>
              <a:t> </a:t>
            </a:r>
            <a:r>
              <a:rPr lang="en-US" sz="2750" b="1" kern="0" spc="-50" dirty="0">
                <a:solidFill>
                  <a:schemeClr val="bg1"/>
                </a:solidFill>
                <a:latin typeface="+mj-lt"/>
                <a:cs typeface="Verdana"/>
              </a:rPr>
              <a:t>quoting</a:t>
            </a:r>
            <a:r>
              <a:rPr lang="en-US" sz="2750" b="1" kern="0" spc="-135" dirty="0">
                <a:solidFill>
                  <a:schemeClr val="bg1"/>
                </a:solidFill>
                <a:latin typeface="+mj-lt"/>
                <a:cs typeface="Verdana"/>
              </a:rPr>
              <a:t> </a:t>
            </a:r>
            <a:r>
              <a:rPr lang="en-US" sz="2750" b="1" kern="0" spc="-10" dirty="0">
                <a:solidFill>
                  <a:schemeClr val="bg1"/>
                </a:solidFill>
                <a:latin typeface="+mj-lt"/>
                <a:cs typeface="Verdana"/>
              </a:rPr>
              <a:t>and</a:t>
            </a:r>
            <a:r>
              <a:rPr lang="en-US" sz="2750" b="1" kern="0" spc="-100" dirty="0">
                <a:solidFill>
                  <a:schemeClr val="bg1"/>
                </a:solidFill>
                <a:latin typeface="+mj-lt"/>
                <a:cs typeface="Verdana"/>
              </a:rPr>
              <a:t> </a:t>
            </a:r>
            <a:r>
              <a:rPr lang="en-US" sz="2750" b="1" kern="0" spc="-55" dirty="0" err="1">
                <a:solidFill>
                  <a:schemeClr val="bg1"/>
                </a:solidFill>
                <a:latin typeface="+mj-lt"/>
                <a:cs typeface="Verdana"/>
              </a:rPr>
              <a:t>summarising</a:t>
            </a:r>
            <a:endParaRPr lang="en-US" sz="2750" kern="0" dirty="0">
              <a:solidFill>
                <a:schemeClr val="bg1"/>
              </a:solidFill>
              <a:latin typeface="+mj-lt"/>
              <a:cs typeface="Verdana"/>
            </a:endParaRPr>
          </a:p>
        </p:txBody>
      </p:sp>
      <p:sp>
        <p:nvSpPr>
          <p:cNvPr id="3" name="object 4">
            <a:extLst>
              <a:ext uri="{FF2B5EF4-FFF2-40B4-BE49-F238E27FC236}">
                <a16:creationId xmlns:a16="http://schemas.microsoft.com/office/drawing/2014/main" id="{750F51EE-CF8A-A433-D4EA-6DD9E08AE946}"/>
              </a:ext>
            </a:extLst>
          </p:cNvPr>
          <p:cNvSpPr txBox="1"/>
          <p:nvPr/>
        </p:nvSpPr>
        <p:spPr>
          <a:xfrm>
            <a:off x="480059" y="1533978"/>
            <a:ext cx="9661525" cy="5324022"/>
          </a:xfrm>
          <a:prstGeom prst="rect">
            <a:avLst/>
          </a:prstGeom>
        </p:spPr>
        <p:txBody>
          <a:bodyPr vert="horz" wrap="square" lIns="0" tIns="10795" rIns="0" bIns="0" rtlCol="0">
            <a:spAutoFit/>
          </a:bodyPr>
          <a:lstStyle/>
          <a:p>
            <a:pPr marL="12700" marR="328295">
              <a:lnSpc>
                <a:spcPct val="100800"/>
              </a:lnSpc>
              <a:spcBef>
                <a:spcPts val="85"/>
              </a:spcBef>
            </a:pPr>
            <a:r>
              <a:rPr sz="2400" dirty="0">
                <a:solidFill>
                  <a:srgbClr val="001641"/>
                </a:solidFill>
                <a:cs typeface="Verdana"/>
              </a:rPr>
              <a:t>Ways</a:t>
            </a:r>
            <a:r>
              <a:rPr sz="2400" spc="-65" dirty="0">
                <a:solidFill>
                  <a:srgbClr val="001641"/>
                </a:solidFill>
                <a:cs typeface="Verdana"/>
              </a:rPr>
              <a:t> </a:t>
            </a:r>
            <a:r>
              <a:rPr sz="2400" dirty="0">
                <a:solidFill>
                  <a:srgbClr val="001641"/>
                </a:solidFill>
                <a:cs typeface="Verdana"/>
              </a:rPr>
              <a:t>to</a:t>
            </a:r>
            <a:r>
              <a:rPr sz="2400" spc="-85" dirty="0">
                <a:solidFill>
                  <a:srgbClr val="001641"/>
                </a:solidFill>
                <a:cs typeface="Verdana"/>
              </a:rPr>
              <a:t> </a:t>
            </a:r>
            <a:r>
              <a:rPr sz="2400" dirty="0">
                <a:solidFill>
                  <a:srgbClr val="001641"/>
                </a:solidFill>
                <a:cs typeface="Verdana"/>
              </a:rPr>
              <a:t>integrate</a:t>
            </a:r>
            <a:r>
              <a:rPr sz="2400" spc="-65" dirty="0">
                <a:solidFill>
                  <a:srgbClr val="001641"/>
                </a:solidFill>
                <a:cs typeface="Verdana"/>
              </a:rPr>
              <a:t>  </a:t>
            </a:r>
            <a:r>
              <a:rPr sz="2400" dirty="0">
                <a:solidFill>
                  <a:srgbClr val="001641"/>
                </a:solidFill>
                <a:cs typeface="Verdana"/>
              </a:rPr>
              <a:t>evidence</a:t>
            </a:r>
            <a:r>
              <a:rPr sz="2400" spc="-130" dirty="0">
                <a:solidFill>
                  <a:srgbClr val="001641"/>
                </a:solidFill>
                <a:cs typeface="Verdana"/>
              </a:rPr>
              <a:t> </a:t>
            </a:r>
            <a:r>
              <a:rPr sz="2400" dirty="0">
                <a:solidFill>
                  <a:srgbClr val="001641"/>
                </a:solidFill>
                <a:cs typeface="Verdana"/>
              </a:rPr>
              <a:t>and</a:t>
            </a:r>
            <a:r>
              <a:rPr sz="2400" spc="-15" dirty="0">
                <a:solidFill>
                  <a:srgbClr val="001641"/>
                </a:solidFill>
                <a:cs typeface="Verdana"/>
              </a:rPr>
              <a:t> </a:t>
            </a:r>
            <a:r>
              <a:rPr sz="2400" dirty="0">
                <a:solidFill>
                  <a:srgbClr val="001641"/>
                </a:solidFill>
                <a:cs typeface="Verdana"/>
              </a:rPr>
              <a:t>support</a:t>
            </a:r>
            <a:r>
              <a:rPr sz="2400" spc="-65" dirty="0">
                <a:solidFill>
                  <a:srgbClr val="001641"/>
                </a:solidFill>
                <a:cs typeface="Verdana"/>
              </a:rPr>
              <a:t> </a:t>
            </a:r>
            <a:r>
              <a:rPr sz="2400" spc="-20" dirty="0">
                <a:solidFill>
                  <a:srgbClr val="001641"/>
                </a:solidFill>
                <a:cs typeface="Verdana"/>
              </a:rPr>
              <a:t>your</a:t>
            </a:r>
            <a:r>
              <a:rPr sz="2400" spc="-50" dirty="0">
                <a:solidFill>
                  <a:srgbClr val="001641"/>
                </a:solidFill>
                <a:cs typeface="Verdana"/>
              </a:rPr>
              <a:t> </a:t>
            </a:r>
            <a:r>
              <a:rPr sz="2400" dirty="0">
                <a:solidFill>
                  <a:srgbClr val="001641"/>
                </a:solidFill>
                <a:cs typeface="Verdana"/>
              </a:rPr>
              <a:t>argument</a:t>
            </a:r>
            <a:r>
              <a:rPr sz="2400" spc="30" dirty="0">
                <a:solidFill>
                  <a:srgbClr val="001641"/>
                </a:solidFill>
                <a:cs typeface="Verdana"/>
              </a:rPr>
              <a:t> </a:t>
            </a:r>
            <a:r>
              <a:rPr sz="2400" dirty="0">
                <a:solidFill>
                  <a:srgbClr val="001641"/>
                </a:solidFill>
                <a:cs typeface="Verdana"/>
              </a:rPr>
              <a:t>and</a:t>
            </a:r>
            <a:r>
              <a:rPr sz="2400" spc="-15" dirty="0">
                <a:solidFill>
                  <a:srgbClr val="001641"/>
                </a:solidFill>
                <a:cs typeface="Verdana"/>
              </a:rPr>
              <a:t> </a:t>
            </a:r>
            <a:r>
              <a:rPr sz="2400" dirty="0">
                <a:solidFill>
                  <a:srgbClr val="001641"/>
                </a:solidFill>
                <a:cs typeface="Verdana"/>
              </a:rPr>
              <a:t>the</a:t>
            </a:r>
            <a:r>
              <a:rPr sz="2400" spc="-40" dirty="0">
                <a:solidFill>
                  <a:srgbClr val="001641"/>
                </a:solidFill>
                <a:cs typeface="Verdana"/>
              </a:rPr>
              <a:t> </a:t>
            </a:r>
            <a:r>
              <a:rPr sz="2400" dirty="0">
                <a:solidFill>
                  <a:srgbClr val="001641"/>
                </a:solidFill>
                <a:cs typeface="Verdana"/>
              </a:rPr>
              <a:t>information</a:t>
            </a:r>
            <a:r>
              <a:rPr sz="2400" spc="75" dirty="0">
                <a:solidFill>
                  <a:srgbClr val="001641"/>
                </a:solidFill>
                <a:cs typeface="Verdana"/>
              </a:rPr>
              <a:t> </a:t>
            </a:r>
            <a:r>
              <a:rPr sz="2400" spc="-25" dirty="0">
                <a:solidFill>
                  <a:srgbClr val="001641"/>
                </a:solidFill>
                <a:cs typeface="Verdana"/>
              </a:rPr>
              <a:t>you </a:t>
            </a:r>
            <a:r>
              <a:rPr sz="2400" dirty="0">
                <a:solidFill>
                  <a:srgbClr val="001641"/>
                </a:solidFill>
                <a:cs typeface="Verdana"/>
              </a:rPr>
              <a:t>present</a:t>
            </a:r>
            <a:r>
              <a:rPr sz="2400" spc="-185" dirty="0">
                <a:solidFill>
                  <a:srgbClr val="001641"/>
                </a:solidFill>
                <a:cs typeface="Verdana"/>
              </a:rPr>
              <a:t> </a:t>
            </a:r>
            <a:r>
              <a:rPr sz="2400" spc="-40" dirty="0">
                <a:solidFill>
                  <a:srgbClr val="001641"/>
                </a:solidFill>
                <a:cs typeface="Verdana"/>
              </a:rPr>
              <a:t>orally</a:t>
            </a:r>
            <a:r>
              <a:rPr sz="2400" spc="-30" dirty="0">
                <a:solidFill>
                  <a:srgbClr val="001641"/>
                </a:solidFill>
                <a:cs typeface="Verdana"/>
              </a:rPr>
              <a:t> </a:t>
            </a:r>
            <a:r>
              <a:rPr sz="2400" dirty="0">
                <a:solidFill>
                  <a:srgbClr val="001641"/>
                </a:solidFill>
                <a:cs typeface="Verdana"/>
              </a:rPr>
              <a:t>and</a:t>
            </a:r>
            <a:r>
              <a:rPr sz="2400" spc="-55" dirty="0">
                <a:solidFill>
                  <a:srgbClr val="001641"/>
                </a:solidFill>
                <a:cs typeface="Verdana"/>
              </a:rPr>
              <a:t> </a:t>
            </a:r>
            <a:r>
              <a:rPr sz="2400" dirty="0">
                <a:solidFill>
                  <a:srgbClr val="001641"/>
                </a:solidFill>
                <a:cs typeface="Verdana"/>
              </a:rPr>
              <a:t>in</a:t>
            </a:r>
            <a:r>
              <a:rPr sz="2400" spc="-50" dirty="0">
                <a:solidFill>
                  <a:srgbClr val="001641"/>
                </a:solidFill>
                <a:cs typeface="Verdana"/>
              </a:rPr>
              <a:t> </a:t>
            </a:r>
            <a:r>
              <a:rPr sz="2400" spc="-10" dirty="0">
                <a:solidFill>
                  <a:srgbClr val="001641"/>
                </a:solidFill>
                <a:cs typeface="Verdana"/>
              </a:rPr>
              <a:t>writing.</a:t>
            </a:r>
            <a:endParaRPr sz="2400" dirty="0">
              <a:cs typeface="Verdana"/>
            </a:endParaRPr>
          </a:p>
          <a:p>
            <a:pPr marL="1910714" indent="-342900">
              <a:lnSpc>
                <a:spcPct val="100000"/>
              </a:lnSpc>
              <a:spcBef>
                <a:spcPts val="1235"/>
              </a:spcBef>
              <a:buFont typeface="Wingdings"/>
              <a:buChar char=""/>
              <a:tabLst>
                <a:tab pos="1910714" algn="l"/>
              </a:tabLst>
            </a:pPr>
            <a:r>
              <a:rPr sz="2400" b="1" spc="-10" dirty="0">
                <a:solidFill>
                  <a:srgbClr val="7E5209"/>
                </a:solidFill>
                <a:cs typeface="Verdana"/>
              </a:rPr>
              <a:t>Paraphrasing:</a:t>
            </a:r>
            <a:endParaRPr sz="2400" dirty="0">
              <a:cs typeface="Verdana"/>
            </a:endParaRPr>
          </a:p>
          <a:p>
            <a:pPr marL="2825750" marR="109220" lvl="1" indent="-342900">
              <a:lnSpc>
                <a:spcPts val="2100"/>
              </a:lnSpc>
              <a:spcBef>
                <a:spcPts val="135"/>
              </a:spcBef>
              <a:buFont typeface="Wingdings"/>
              <a:buChar char=""/>
              <a:tabLst>
                <a:tab pos="2825750" algn="l"/>
              </a:tabLst>
            </a:pPr>
            <a:r>
              <a:rPr sz="2400" dirty="0">
                <a:solidFill>
                  <a:srgbClr val="1F3863"/>
                </a:solidFill>
                <a:cs typeface="Verdana"/>
              </a:rPr>
              <a:t>Using</a:t>
            </a:r>
            <a:r>
              <a:rPr sz="2400" spc="-90" dirty="0">
                <a:solidFill>
                  <a:srgbClr val="1F3863"/>
                </a:solidFill>
                <a:cs typeface="Verdana"/>
              </a:rPr>
              <a:t> </a:t>
            </a:r>
            <a:r>
              <a:rPr sz="2400" b="1" spc="-100" dirty="0">
                <a:solidFill>
                  <a:srgbClr val="1F3863"/>
                </a:solidFill>
                <a:cs typeface="Verdana"/>
              </a:rPr>
              <a:t>your</a:t>
            </a:r>
            <a:r>
              <a:rPr sz="2400" b="1" spc="25" dirty="0">
                <a:solidFill>
                  <a:srgbClr val="1F3863"/>
                </a:solidFill>
                <a:cs typeface="Verdana"/>
              </a:rPr>
              <a:t> </a:t>
            </a:r>
            <a:r>
              <a:rPr sz="2400" b="1" spc="-80" dirty="0">
                <a:solidFill>
                  <a:srgbClr val="1F3863"/>
                </a:solidFill>
                <a:cs typeface="Verdana"/>
              </a:rPr>
              <a:t>own</a:t>
            </a:r>
            <a:r>
              <a:rPr sz="2400" b="1" spc="-75" dirty="0">
                <a:solidFill>
                  <a:srgbClr val="1F3863"/>
                </a:solidFill>
                <a:cs typeface="Verdana"/>
              </a:rPr>
              <a:t> </a:t>
            </a:r>
            <a:r>
              <a:rPr sz="2400" b="1" spc="-90" dirty="0">
                <a:solidFill>
                  <a:srgbClr val="1F3863"/>
                </a:solidFill>
                <a:cs typeface="Verdana"/>
              </a:rPr>
              <a:t>words</a:t>
            </a:r>
            <a:r>
              <a:rPr sz="2400" b="1" spc="10" dirty="0">
                <a:solidFill>
                  <a:srgbClr val="1F3863"/>
                </a:solidFill>
                <a:cs typeface="Verdana"/>
              </a:rPr>
              <a:t> </a:t>
            </a:r>
            <a:r>
              <a:rPr sz="2400" dirty="0">
                <a:solidFill>
                  <a:srgbClr val="1F3863"/>
                </a:solidFill>
                <a:cs typeface="Verdana"/>
              </a:rPr>
              <a:t>to</a:t>
            </a:r>
            <a:r>
              <a:rPr sz="2400" spc="-135" dirty="0">
                <a:solidFill>
                  <a:srgbClr val="1F3863"/>
                </a:solidFill>
                <a:cs typeface="Verdana"/>
              </a:rPr>
              <a:t> </a:t>
            </a:r>
            <a:r>
              <a:rPr sz="2400" spc="-20" dirty="0">
                <a:solidFill>
                  <a:srgbClr val="1F3863"/>
                </a:solidFill>
                <a:cs typeface="Verdana"/>
              </a:rPr>
              <a:t>talk</a:t>
            </a:r>
            <a:r>
              <a:rPr sz="2400" spc="-80" dirty="0">
                <a:solidFill>
                  <a:srgbClr val="1F3863"/>
                </a:solidFill>
                <a:cs typeface="Verdana"/>
              </a:rPr>
              <a:t> </a:t>
            </a:r>
            <a:r>
              <a:rPr sz="2400" dirty="0">
                <a:solidFill>
                  <a:srgbClr val="1F3863"/>
                </a:solidFill>
                <a:cs typeface="Verdana"/>
              </a:rPr>
              <a:t>about</a:t>
            </a:r>
            <a:r>
              <a:rPr sz="2400" spc="-25" dirty="0">
                <a:solidFill>
                  <a:srgbClr val="1F3863"/>
                </a:solidFill>
                <a:cs typeface="Verdana"/>
              </a:rPr>
              <a:t> </a:t>
            </a:r>
            <a:r>
              <a:rPr sz="2400" dirty="0">
                <a:solidFill>
                  <a:srgbClr val="1F3863"/>
                </a:solidFill>
                <a:cs typeface="Verdana"/>
              </a:rPr>
              <a:t>the</a:t>
            </a:r>
            <a:r>
              <a:rPr sz="2400" spc="-90" dirty="0">
                <a:solidFill>
                  <a:srgbClr val="1F3863"/>
                </a:solidFill>
                <a:cs typeface="Verdana"/>
              </a:rPr>
              <a:t> </a:t>
            </a:r>
            <a:r>
              <a:rPr sz="2400" dirty="0">
                <a:solidFill>
                  <a:srgbClr val="1F3863"/>
                </a:solidFill>
                <a:cs typeface="Verdana"/>
              </a:rPr>
              <a:t>work</a:t>
            </a:r>
            <a:r>
              <a:rPr sz="2400" spc="-160" dirty="0">
                <a:solidFill>
                  <a:srgbClr val="1F3863"/>
                </a:solidFill>
                <a:cs typeface="Verdana"/>
              </a:rPr>
              <a:t> </a:t>
            </a:r>
            <a:r>
              <a:rPr sz="2400" dirty="0">
                <a:solidFill>
                  <a:srgbClr val="1F3863"/>
                </a:solidFill>
                <a:cs typeface="Verdana"/>
              </a:rPr>
              <a:t>and</a:t>
            </a:r>
            <a:r>
              <a:rPr sz="2400" spc="-70" dirty="0">
                <a:solidFill>
                  <a:srgbClr val="1F3863"/>
                </a:solidFill>
                <a:cs typeface="Verdana"/>
              </a:rPr>
              <a:t> </a:t>
            </a:r>
            <a:r>
              <a:rPr sz="2400" dirty="0">
                <a:solidFill>
                  <a:srgbClr val="1F3863"/>
                </a:solidFill>
                <a:cs typeface="Verdana"/>
              </a:rPr>
              <a:t>ideas</a:t>
            </a:r>
            <a:r>
              <a:rPr sz="2400" spc="-25" dirty="0">
                <a:solidFill>
                  <a:srgbClr val="1F3863"/>
                </a:solidFill>
                <a:cs typeface="Verdana"/>
              </a:rPr>
              <a:t> </a:t>
            </a:r>
            <a:r>
              <a:rPr sz="2400" spc="-35" dirty="0">
                <a:solidFill>
                  <a:srgbClr val="1F3863"/>
                </a:solidFill>
                <a:cs typeface="Verdana"/>
              </a:rPr>
              <a:t>of </a:t>
            </a:r>
            <a:r>
              <a:rPr sz="2400" dirty="0">
                <a:solidFill>
                  <a:srgbClr val="1F3863"/>
                </a:solidFill>
                <a:cs typeface="Verdana"/>
              </a:rPr>
              <a:t>others</a:t>
            </a:r>
            <a:r>
              <a:rPr sz="2400" spc="-210" dirty="0">
                <a:solidFill>
                  <a:srgbClr val="1F3863"/>
                </a:solidFill>
                <a:cs typeface="Verdana"/>
              </a:rPr>
              <a:t> </a:t>
            </a:r>
            <a:r>
              <a:rPr sz="2400" b="1" spc="-75" dirty="0">
                <a:solidFill>
                  <a:srgbClr val="1F3863"/>
                </a:solidFill>
                <a:cs typeface="Verdana"/>
              </a:rPr>
              <a:t>without</a:t>
            </a:r>
            <a:r>
              <a:rPr sz="2400" b="1" spc="-5" dirty="0">
                <a:solidFill>
                  <a:srgbClr val="1F3863"/>
                </a:solidFill>
                <a:cs typeface="Verdana"/>
              </a:rPr>
              <a:t> </a:t>
            </a:r>
            <a:r>
              <a:rPr sz="2400" b="1" spc="-40" dirty="0">
                <a:solidFill>
                  <a:srgbClr val="1F3863"/>
                </a:solidFill>
                <a:cs typeface="Verdana"/>
              </a:rPr>
              <a:t>changing</a:t>
            </a:r>
            <a:r>
              <a:rPr sz="2400" b="1" spc="-110" dirty="0">
                <a:solidFill>
                  <a:srgbClr val="1F3863"/>
                </a:solidFill>
                <a:cs typeface="Verdana"/>
              </a:rPr>
              <a:t> </a:t>
            </a:r>
            <a:r>
              <a:rPr sz="2400" b="1" spc="-60" dirty="0">
                <a:solidFill>
                  <a:srgbClr val="1F3863"/>
                </a:solidFill>
                <a:cs typeface="Verdana"/>
              </a:rPr>
              <a:t>the </a:t>
            </a:r>
            <a:r>
              <a:rPr sz="2400" b="1" spc="-10" dirty="0">
                <a:solidFill>
                  <a:srgbClr val="1F3863"/>
                </a:solidFill>
                <a:cs typeface="Verdana"/>
              </a:rPr>
              <a:t>meaning</a:t>
            </a:r>
            <a:endParaRPr sz="2400" dirty="0">
              <a:cs typeface="Verdana"/>
            </a:endParaRPr>
          </a:p>
          <a:p>
            <a:pPr marL="1910714" indent="-342900">
              <a:lnSpc>
                <a:spcPct val="100000"/>
              </a:lnSpc>
              <a:spcBef>
                <a:spcPts val="2140"/>
              </a:spcBef>
              <a:buFont typeface="Wingdings"/>
              <a:buChar char=""/>
              <a:tabLst>
                <a:tab pos="1910714" algn="l"/>
              </a:tabLst>
            </a:pPr>
            <a:r>
              <a:rPr sz="2400" b="1" spc="-10" dirty="0">
                <a:solidFill>
                  <a:srgbClr val="7E5209"/>
                </a:solidFill>
                <a:cs typeface="Verdana"/>
              </a:rPr>
              <a:t>Quoting:</a:t>
            </a:r>
            <a:endParaRPr sz="2400" dirty="0">
              <a:cs typeface="Verdana"/>
            </a:endParaRPr>
          </a:p>
          <a:p>
            <a:pPr marL="2825750" marR="87630" lvl="1" indent="-342900">
              <a:lnSpc>
                <a:spcPct val="100800"/>
              </a:lnSpc>
              <a:buFont typeface="Wingdings"/>
              <a:buChar char=""/>
              <a:tabLst>
                <a:tab pos="2825750" algn="l"/>
              </a:tabLst>
            </a:pPr>
            <a:r>
              <a:rPr sz="2400" b="1" spc="-60" dirty="0">
                <a:solidFill>
                  <a:srgbClr val="1F3863"/>
                </a:solidFill>
                <a:cs typeface="Verdana"/>
              </a:rPr>
              <a:t>Using</a:t>
            </a:r>
            <a:r>
              <a:rPr sz="2400" b="1" spc="-90" dirty="0">
                <a:solidFill>
                  <a:srgbClr val="1F3863"/>
                </a:solidFill>
                <a:cs typeface="Verdana"/>
              </a:rPr>
              <a:t> </a:t>
            </a:r>
            <a:r>
              <a:rPr sz="2400" b="1" spc="-60" dirty="0">
                <a:solidFill>
                  <a:srgbClr val="1F3863"/>
                </a:solidFill>
                <a:cs typeface="Verdana"/>
              </a:rPr>
              <a:t>the</a:t>
            </a:r>
            <a:r>
              <a:rPr sz="2400" b="1" spc="-25" dirty="0">
                <a:solidFill>
                  <a:srgbClr val="1F3863"/>
                </a:solidFill>
                <a:cs typeface="Verdana"/>
              </a:rPr>
              <a:t> </a:t>
            </a:r>
            <a:r>
              <a:rPr sz="2400" b="1" spc="-70" dirty="0">
                <a:solidFill>
                  <a:srgbClr val="1F3863"/>
                </a:solidFill>
                <a:cs typeface="Verdana"/>
              </a:rPr>
              <a:t>exact</a:t>
            </a:r>
            <a:r>
              <a:rPr sz="2400" b="1" spc="30" dirty="0">
                <a:solidFill>
                  <a:srgbClr val="1F3863"/>
                </a:solidFill>
                <a:cs typeface="Verdana"/>
              </a:rPr>
              <a:t> </a:t>
            </a:r>
            <a:r>
              <a:rPr sz="2400" b="1" spc="-95" dirty="0">
                <a:solidFill>
                  <a:srgbClr val="1F3863"/>
                </a:solidFill>
                <a:cs typeface="Verdana"/>
              </a:rPr>
              <a:t>words</a:t>
            </a:r>
            <a:r>
              <a:rPr sz="2400" b="1" spc="-15" dirty="0">
                <a:solidFill>
                  <a:srgbClr val="1F3863"/>
                </a:solidFill>
                <a:cs typeface="Verdana"/>
              </a:rPr>
              <a:t> </a:t>
            </a:r>
            <a:r>
              <a:rPr sz="2400" dirty="0">
                <a:solidFill>
                  <a:srgbClr val="1F3863"/>
                </a:solidFill>
                <a:cs typeface="Verdana"/>
              </a:rPr>
              <a:t>from</a:t>
            </a:r>
            <a:r>
              <a:rPr sz="2400" spc="-165" dirty="0">
                <a:solidFill>
                  <a:srgbClr val="1F3863"/>
                </a:solidFill>
                <a:cs typeface="Verdana"/>
              </a:rPr>
              <a:t> </a:t>
            </a:r>
            <a:r>
              <a:rPr sz="2400" dirty="0">
                <a:solidFill>
                  <a:srgbClr val="1F3863"/>
                </a:solidFill>
                <a:cs typeface="Verdana"/>
              </a:rPr>
              <a:t>another</a:t>
            </a:r>
            <a:r>
              <a:rPr sz="2400" spc="-90" dirty="0">
                <a:solidFill>
                  <a:srgbClr val="1F3863"/>
                </a:solidFill>
                <a:cs typeface="Verdana"/>
              </a:rPr>
              <a:t> </a:t>
            </a:r>
            <a:r>
              <a:rPr sz="2400" dirty="0">
                <a:solidFill>
                  <a:srgbClr val="1F3863"/>
                </a:solidFill>
                <a:cs typeface="Verdana"/>
              </a:rPr>
              <a:t>work</a:t>
            </a:r>
            <a:r>
              <a:rPr sz="2400" spc="-70" dirty="0">
                <a:solidFill>
                  <a:srgbClr val="1F3863"/>
                </a:solidFill>
                <a:cs typeface="Verdana"/>
              </a:rPr>
              <a:t> </a:t>
            </a:r>
            <a:r>
              <a:rPr sz="2400" dirty="0">
                <a:solidFill>
                  <a:srgbClr val="1F3863"/>
                </a:solidFill>
                <a:cs typeface="Verdana"/>
              </a:rPr>
              <a:t>and</a:t>
            </a:r>
            <a:r>
              <a:rPr sz="2400" spc="-65" dirty="0">
                <a:solidFill>
                  <a:srgbClr val="1F3863"/>
                </a:solidFill>
                <a:cs typeface="Verdana"/>
              </a:rPr>
              <a:t> </a:t>
            </a:r>
            <a:r>
              <a:rPr sz="2400" spc="-10" dirty="0">
                <a:solidFill>
                  <a:srgbClr val="1F3863"/>
                </a:solidFill>
                <a:cs typeface="Verdana"/>
              </a:rPr>
              <a:t>presenting </a:t>
            </a:r>
            <a:r>
              <a:rPr sz="2400" spc="70" dirty="0">
                <a:solidFill>
                  <a:srgbClr val="1F3863"/>
                </a:solidFill>
                <a:cs typeface="Verdana"/>
              </a:rPr>
              <a:t>them</a:t>
            </a:r>
            <a:r>
              <a:rPr sz="2400" spc="-215" dirty="0">
                <a:solidFill>
                  <a:srgbClr val="1F3863"/>
                </a:solidFill>
                <a:cs typeface="Verdana"/>
              </a:rPr>
              <a:t> </a:t>
            </a:r>
            <a:r>
              <a:rPr sz="2400" dirty="0">
                <a:solidFill>
                  <a:srgbClr val="1F3863"/>
                </a:solidFill>
                <a:cs typeface="Verdana"/>
              </a:rPr>
              <a:t>in</a:t>
            </a:r>
            <a:r>
              <a:rPr sz="2400" spc="-110" dirty="0">
                <a:solidFill>
                  <a:srgbClr val="1F3863"/>
                </a:solidFill>
                <a:cs typeface="Verdana"/>
              </a:rPr>
              <a:t> </a:t>
            </a:r>
            <a:r>
              <a:rPr sz="2400" dirty="0">
                <a:solidFill>
                  <a:srgbClr val="1F3863"/>
                </a:solidFill>
                <a:cs typeface="Verdana"/>
              </a:rPr>
              <a:t>an</a:t>
            </a:r>
            <a:r>
              <a:rPr sz="2400" spc="-125" dirty="0">
                <a:solidFill>
                  <a:srgbClr val="1F3863"/>
                </a:solidFill>
                <a:cs typeface="Verdana"/>
              </a:rPr>
              <a:t> </a:t>
            </a:r>
            <a:r>
              <a:rPr sz="2400" b="1" spc="-85" dirty="0">
                <a:solidFill>
                  <a:srgbClr val="1F3863"/>
                </a:solidFill>
                <a:cs typeface="Verdana"/>
              </a:rPr>
              <a:t>appropriately</a:t>
            </a:r>
            <a:r>
              <a:rPr sz="2400" b="1" spc="-185" dirty="0">
                <a:solidFill>
                  <a:srgbClr val="1F3863"/>
                </a:solidFill>
                <a:cs typeface="Verdana"/>
              </a:rPr>
              <a:t> </a:t>
            </a:r>
            <a:r>
              <a:rPr sz="2400" b="1" spc="-35" dirty="0">
                <a:solidFill>
                  <a:srgbClr val="1F3863"/>
                </a:solidFill>
                <a:cs typeface="Verdana"/>
              </a:rPr>
              <a:t>cited</a:t>
            </a:r>
            <a:r>
              <a:rPr sz="2400" b="1" spc="20" dirty="0">
                <a:solidFill>
                  <a:srgbClr val="1F3863"/>
                </a:solidFill>
                <a:cs typeface="Verdana"/>
              </a:rPr>
              <a:t> </a:t>
            </a:r>
            <a:r>
              <a:rPr sz="2400" b="1" spc="-70" dirty="0">
                <a:solidFill>
                  <a:srgbClr val="1F3863"/>
                </a:solidFill>
                <a:cs typeface="Verdana"/>
              </a:rPr>
              <a:t>format</a:t>
            </a:r>
            <a:r>
              <a:rPr sz="2400" b="1" dirty="0">
                <a:solidFill>
                  <a:srgbClr val="1F3863"/>
                </a:solidFill>
                <a:cs typeface="Verdana"/>
              </a:rPr>
              <a:t> </a:t>
            </a:r>
            <a:r>
              <a:rPr sz="2400" dirty="0">
                <a:solidFill>
                  <a:srgbClr val="1F3863"/>
                </a:solidFill>
                <a:cs typeface="Verdana"/>
              </a:rPr>
              <a:t>in</a:t>
            </a:r>
            <a:r>
              <a:rPr sz="2400" spc="-110" dirty="0">
                <a:solidFill>
                  <a:srgbClr val="1F3863"/>
                </a:solidFill>
                <a:cs typeface="Verdana"/>
              </a:rPr>
              <a:t> </a:t>
            </a:r>
            <a:r>
              <a:rPr sz="2400" spc="-25" dirty="0">
                <a:solidFill>
                  <a:srgbClr val="1F3863"/>
                </a:solidFill>
                <a:cs typeface="Verdana"/>
              </a:rPr>
              <a:t>your</a:t>
            </a:r>
            <a:r>
              <a:rPr sz="2400" spc="-150" dirty="0">
                <a:solidFill>
                  <a:srgbClr val="1F3863"/>
                </a:solidFill>
                <a:cs typeface="Verdana"/>
              </a:rPr>
              <a:t> </a:t>
            </a:r>
            <a:r>
              <a:rPr sz="2400" spc="-10" dirty="0">
                <a:solidFill>
                  <a:srgbClr val="1F3863"/>
                </a:solidFill>
                <a:cs typeface="Verdana"/>
              </a:rPr>
              <a:t>text.</a:t>
            </a:r>
            <a:endParaRPr sz="2400" dirty="0">
              <a:cs typeface="Verdana"/>
            </a:endParaRPr>
          </a:p>
          <a:p>
            <a:pPr marL="1910714" indent="-342900">
              <a:lnSpc>
                <a:spcPct val="100000"/>
              </a:lnSpc>
              <a:spcBef>
                <a:spcPts val="2125"/>
              </a:spcBef>
              <a:buFont typeface="Wingdings"/>
              <a:buChar char=""/>
              <a:tabLst>
                <a:tab pos="1910714" algn="l"/>
              </a:tabLst>
            </a:pPr>
            <a:r>
              <a:rPr sz="2400" b="1" spc="-10" dirty="0">
                <a:solidFill>
                  <a:srgbClr val="7E5209"/>
                </a:solidFill>
                <a:cs typeface="Verdana"/>
              </a:rPr>
              <a:t>Summarising:</a:t>
            </a:r>
            <a:endParaRPr sz="2400" dirty="0">
              <a:cs typeface="Verdana"/>
            </a:endParaRPr>
          </a:p>
          <a:p>
            <a:pPr marL="2825750" marR="5080" lvl="1" indent="-342900">
              <a:lnSpc>
                <a:spcPct val="100800"/>
              </a:lnSpc>
              <a:buFont typeface="Wingdings"/>
              <a:buChar char=""/>
              <a:tabLst>
                <a:tab pos="2825750" algn="l"/>
              </a:tabLst>
            </a:pPr>
            <a:r>
              <a:rPr sz="2400" dirty="0">
                <a:solidFill>
                  <a:srgbClr val="1F3863"/>
                </a:solidFill>
                <a:cs typeface="Verdana"/>
              </a:rPr>
              <a:t>You</a:t>
            </a:r>
            <a:r>
              <a:rPr sz="2400" spc="-140" dirty="0">
                <a:solidFill>
                  <a:srgbClr val="1F3863"/>
                </a:solidFill>
                <a:cs typeface="Verdana"/>
              </a:rPr>
              <a:t> </a:t>
            </a:r>
            <a:r>
              <a:rPr sz="2400" b="1" spc="-90" dirty="0">
                <a:solidFill>
                  <a:srgbClr val="1F3863"/>
                </a:solidFill>
                <a:cs typeface="Verdana"/>
              </a:rPr>
              <a:t>extract</a:t>
            </a:r>
            <a:r>
              <a:rPr sz="2400" b="1" spc="-55" dirty="0">
                <a:solidFill>
                  <a:srgbClr val="1F3863"/>
                </a:solidFill>
                <a:cs typeface="Verdana"/>
              </a:rPr>
              <a:t> </a:t>
            </a:r>
            <a:r>
              <a:rPr sz="2400" b="1" spc="-70" dirty="0">
                <a:solidFill>
                  <a:srgbClr val="1F3863"/>
                </a:solidFill>
                <a:cs typeface="Verdana"/>
              </a:rPr>
              <a:t>from</a:t>
            </a:r>
            <a:r>
              <a:rPr sz="2400" b="1" spc="-40" dirty="0">
                <a:solidFill>
                  <a:srgbClr val="1F3863"/>
                </a:solidFill>
                <a:cs typeface="Verdana"/>
              </a:rPr>
              <a:t> </a:t>
            </a:r>
            <a:r>
              <a:rPr sz="2400" b="1" spc="-105" dirty="0">
                <a:solidFill>
                  <a:srgbClr val="1F3863"/>
                </a:solidFill>
                <a:cs typeface="Verdana"/>
              </a:rPr>
              <a:t>a</a:t>
            </a:r>
            <a:r>
              <a:rPr sz="2400" b="1" spc="-155" dirty="0">
                <a:solidFill>
                  <a:srgbClr val="1F3863"/>
                </a:solidFill>
                <a:cs typeface="Verdana"/>
              </a:rPr>
              <a:t> </a:t>
            </a:r>
            <a:r>
              <a:rPr sz="2400" b="1" spc="-65" dirty="0">
                <a:solidFill>
                  <a:srgbClr val="1F3863"/>
                </a:solidFill>
                <a:cs typeface="Verdana"/>
              </a:rPr>
              <a:t>text</a:t>
            </a:r>
            <a:r>
              <a:rPr sz="2400" b="1" spc="15" dirty="0">
                <a:solidFill>
                  <a:srgbClr val="1F3863"/>
                </a:solidFill>
                <a:cs typeface="Verdana"/>
              </a:rPr>
              <a:t> </a:t>
            </a:r>
            <a:r>
              <a:rPr sz="2400" b="1" spc="-65" dirty="0">
                <a:solidFill>
                  <a:srgbClr val="1F3863"/>
                </a:solidFill>
                <a:cs typeface="Verdana"/>
              </a:rPr>
              <a:t>the</a:t>
            </a:r>
            <a:r>
              <a:rPr sz="2400" b="1" spc="-110" dirty="0">
                <a:solidFill>
                  <a:srgbClr val="1F3863"/>
                </a:solidFill>
                <a:cs typeface="Verdana"/>
              </a:rPr>
              <a:t> </a:t>
            </a:r>
            <a:r>
              <a:rPr sz="2400" b="1" spc="-55" dirty="0">
                <a:solidFill>
                  <a:srgbClr val="1F3863"/>
                </a:solidFill>
                <a:cs typeface="Verdana"/>
              </a:rPr>
              <a:t>most</a:t>
            </a:r>
            <a:r>
              <a:rPr sz="2400" b="1" spc="-130" dirty="0">
                <a:solidFill>
                  <a:srgbClr val="1F3863"/>
                </a:solidFill>
                <a:cs typeface="Verdana"/>
              </a:rPr>
              <a:t> </a:t>
            </a:r>
            <a:r>
              <a:rPr sz="2400" b="1" spc="-95" dirty="0">
                <a:solidFill>
                  <a:srgbClr val="1F3863"/>
                </a:solidFill>
                <a:cs typeface="Verdana"/>
              </a:rPr>
              <a:t>relevant</a:t>
            </a:r>
            <a:r>
              <a:rPr sz="2400" b="1" spc="-60" dirty="0">
                <a:solidFill>
                  <a:srgbClr val="1F3863"/>
                </a:solidFill>
                <a:cs typeface="Verdana"/>
              </a:rPr>
              <a:t> </a:t>
            </a:r>
            <a:r>
              <a:rPr sz="2400" b="1" spc="-65" dirty="0">
                <a:solidFill>
                  <a:srgbClr val="1F3863"/>
                </a:solidFill>
                <a:cs typeface="Verdana"/>
              </a:rPr>
              <a:t>information</a:t>
            </a:r>
            <a:r>
              <a:rPr sz="2400" b="1" spc="10" dirty="0">
                <a:solidFill>
                  <a:srgbClr val="1F3863"/>
                </a:solidFill>
                <a:cs typeface="Verdana"/>
              </a:rPr>
              <a:t> </a:t>
            </a:r>
            <a:r>
              <a:rPr sz="2400" spc="-25" dirty="0">
                <a:solidFill>
                  <a:srgbClr val="1F3863"/>
                </a:solidFill>
                <a:cs typeface="Verdana"/>
              </a:rPr>
              <a:t>for your</a:t>
            </a:r>
            <a:r>
              <a:rPr sz="2400" spc="-140" dirty="0">
                <a:solidFill>
                  <a:srgbClr val="1F3863"/>
                </a:solidFill>
                <a:cs typeface="Verdana"/>
              </a:rPr>
              <a:t> </a:t>
            </a:r>
            <a:r>
              <a:rPr sz="2400" spc="-25" dirty="0">
                <a:solidFill>
                  <a:srgbClr val="1F3863"/>
                </a:solidFill>
                <a:cs typeface="Verdana"/>
              </a:rPr>
              <a:t>needs.</a:t>
            </a:r>
            <a:r>
              <a:rPr sz="2400" spc="-170" dirty="0">
                <a:solidFill>
                  <a:srgbClr val="1F3863"/>
                </a:solidFill>
                <a:cs typeface="Verdana"/>
              </a:rPr>
              <a:t> </a:t>
            </a:r>
            <a:r>
              <a:rPr sz="2400" dirty="0">
                <a:solidFill>
                  <a:srgbClr val="1F3863"/>
                </a:solidFill>
                <a:cs typeface="Verdana"/>
              </a:rPr>
              <a:t>You</a:t>
            </a:r>
            <a:r>
              <a:rPr sz="2400" spc="-175" dirty="0">
                <a:solidFill>
                  <a:srgbClr val="1F3863"/>
                </a:solidFill>
                <a:cs typeface="Verdana"/>
              </a:rPr>
              <a:t> </a:t>
            </a:r>
            <a:r>
              <a:rPr sz="2400" dirty="0">
                <a:solidFill>
                  <a:srgbClr val="1F3863"/>
                </a:solidFill>
                <a:cs typeface="Verdana"/>
              </a:rPr>
              <a:t>probably</a:t>
            </a:r>
            <a:r>
              <a:rPr sz="2400" spc="-5" dirty="0">
                <a:solidFill>
                  <a:srgbClr val="1F3863"/>
                </a:solidFill>
                <a:cs typeface="Verdana"/>
              </a:rPr>
              <a:t> </a:t>
            </a:r>
            <a:r>
              <a:rPr sz="2400" spc="-20" dirty="0">
                <a:solidFill>
                  <a:srgbClr val="1F3863"/>
                </a:solidFill>
                <a:cs typeface="Verdana"/>
              </a:rPr>
              <a:t>already</a:t>
            </a:r>
            <a:r>
              <a:rPr sz="2400" spc="-90" dirty="0">
                <a:solidFill>
                  <a:srgbClr val="1F3863"/>
                </a:solidFill>
                <a:cs typeface="Verdana"/>
              </a:rPr>
              <a:t> </a:t>
            </a:r>
            <a:r>
              <a:rPr sz="2400" spc="50" dirty="0">
                <a:solidFill>
                  <a:srgbClr val="1F3863"/>
                </a:solidFill>
                <a:cs typeface="Verdana"/>
              </a:rPr>
              <a:t>do</a:t>
            </a:r>
            <a:r>
              <a:rPr sz="2400" spc="-170" dirty="0">
                <a:solidFill>
                  <a:srgbClr val="1F3863"/>
                </a:solidFill>
                <a:cs typeface="Verdana"/>
              </a:rPr>
              <a:t> </a:t>
            </a:r>
            <a:r>
              <a:rPr sz="2400" dirty="0">
                <a:solidFill>
                  <a:srgbClr val="1F3863"/>
                </a:solidFill>
                <a:cs typeface="Verdana"/>
              </a:rPr>
              <a:t>this</a:t>
            </a:r>
            <a:r>
              <a:rPr sz="2400" spc="-65" dirty="0">
                <a:solidFill>
                  <a:srgbClr val="1F3863"/>
                </a:solidFill>
                <a:cs typeface="Verdana"/>
              </a:rPr>
              <a:t> </a:t>
            </a:r>
            <a:r>
              <a:rPr sz="2400" dirty="0">
                <a:solidFill>
                  <a:srgbClr val="1F3863"/>
                </a:solidFill>
                <a:cs typeface="Verdana"/>
              </a:rPr>
              <a:t>in</a:t>
            </a:r>
            <a:r>
              <a:rPr sz="2400" spc="-100" dirty="0">
                <a:solidFill>
                  <a:srgbClr val="1F3863"/>
                </a:solidFill>
                <a:cs typeface="Verdana"/>
              </a:rPr>
              <a:t> </a:t>
            </a:r>
            <a:r>
              <a:rPr sz="2400" spc="-25" dirty="0">
                <a:solidFill>
                  <a:srgbClr val="1F3863"/>
                </a:solidFill>
                <a:cs typeface="Verdana"/>
              </a:rPr>
              <a:t>your</a:t>
            </a:r>
            <a:r>
              <a:rPr sz="2400" spc="-135" dirty="0">
                <a:solidFill>
                  <a:srgbClr val="1F3863"/>
                </a:solidFill>
                <a:cs typeface="Verdana"/>
              </a:rPr>
              <a:t> </a:t>
            </a:r>
            <a:r>
              <a:rPr sz="2400" spc="-20" dirty="0">
                <a:solidFill>
                  <a:srgbClr val="1F3863"/>
                </a:solidFill>
                <a:cs typeface="Verdana"/>
              </a:rPr>
              <a:t>daily</a:t>
            </a:r>
            <a:r>
              <a:rPr sz="2400" spc="-10" dirty="0">
                <a:solidFill>
                  <a:srgbClr val="1F3863"/>
                </a:solidFill>
                <a:cs typeface="Verdana"/>
              </a:rPr>
              <a:t> life.</a:t>
            </a:r>
            <a:endParaRPr sz="2400" dirty="0">
              <a:cs typeface="Verdana"/>
            </a:endParaRPr>
          </a:p>
        </p:txBody>
      </p:sp>
    </p:spTree>
    <p:extLst>
      <p:ext uri="{BB962C8B-B14F-4D97-AF65-F5344CB8AC3E}">
        <p14:creationId xmlns:p14="http://schemas.microsoft.com/office/powerpoint/2010/main" val="2052296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73048-AB20-10ED-DB15-DFBC7E491414}"/>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E66F32CF-D18B-75D3-93B5-FA769BC93E9D}"/>
              </a:ext>
            </a:extLst>
          </p:cNvPr>
          <p:cNvSpPr txBox="1">
            <a:spLocks/>
          </p:cNvSpPr>
          <p:nvPr/>
        </p:nvSpPr>
        <p:spPr>
          <a:xfrm>
            <a:off x="137159" y="445769"/>
            <a:ext cx="9797732" cy="810514"/>
          </a:xfrm>
          <a:prstGeom prst="rect">
            <a:avLst/>
          </a:prstGeom>
        </p:spPr>
        <p:txBody>
          <a:bodyPr vert="horz" wrap="square" lIns="0" tIns="308864"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5880">
              <a:spcBef>
                <a:spcPts val="130"/>
              </a:spcBef>
            </a:pPr>
            <a:r>
              <a:rPr lang="en-US" sz="3200" kern="0">
                <a:solidFill>
                  <a:schemeClr val="bg1"/>
                </a:solidFill>
              </a:rPr>
              <a:t>Plagiarism</a:t>
            </a:r>
            <a:r>
              <a:rPr lang="en-US" sz="3200" kern="0" spc="-90">
                <a:solidFill>
                  <a:schemeClr val="bg1"/>
                </a:solidFill>
              </a:rPr>
              <a:t> </a:t>
            </a:r>
            <a:r>
              <a:rPr lang="en-US" sz="3200" kern="0">
                <a:solidFill>
                  <a:schemeClr val="bg1"/>
                </a:solidFill>
              </a:rPr>
              <a:t>and</a:t>
            </a:r>
            <a:r>
              <a:rPr lang="en-US" sz="3200" kern="0" spc="-10">
                <a:solidFill>
                  <a:schemeClr val="bg1"/>
                </a:solidFill>
              </a:rPr>
              <a:t> </a:t>
            </a:r>
            <a:r>
              <a:rPr lang="en-US" sz="3200" kern="0">
                <a:solidFill>
                  <a:schemeClr val="bg1"/>
                </a:solidFill>
              </a:rPr>
              <a:t>Citations</a:t>
            </a:r>
            <a:r>
              <a:rPr lang="en-US" sz="3200" kern="0" spc="-200">
                <a:solidFill>
                  <a:schemeClr val="bg1"/>
                </a:solidFill>
              </a:rPr>
              <a:t> </a:t>
            </a:r>
            <a:r>
              <a:rPr lang="en-US" sz="3200" kern="0" spc="-10">
                <a:solidFill>
                  <a:schemeClr val="bg1"/>
                </a:solidFill>
              </a:rPr>
              <a:t>Management</a:t>
            </a:r>
            <a:endParaRPr lang="en-US" sz="3200" kern="0">
              <a:solidFill>
                <a:schemeClr val="bg1"/>
              </a:solidFill>
            </a:endParaRPr>
          </a:p>
        </p:txBody>
      </p:sp>
      <p:sp>
        <p:nvSpPr>
          <p:cNvPr id="3" name="object 4">
            <a:extLst>
              <a:ext uri="{FF2B5EF4-FFF2-40B4-BE49-F238E27FC236}">
                <a16:creationId xmlns:a16="http://schemas.microsoft.com/office/drawing/2014/main" id="{594A088A-8FE6-661F-6AAD-8B892F13D5A1}"/>
              </a:ext>
            </a:extLst>
          </p:cNvPr>
          <p:cNvSpPr txBox="1"/>
          <p:nvPr/>
        </p:nvSpPr>
        <p:spPr>
          <a:xfrm>
            <a:off x="137159" y="1462976"/>
            <a:ext cx="11035665" cy="4959050"/>
          </a:xfrm>
          <a:prstGeom prst="rect">
            <a:avLst/>
          </a:prstGeom>
        </p:spPr>
        <p:txBody>
          <a:bodyPr vert="horz" wrap="square" lIns="0" tIns="100330" rIns="0" bIns="0" rtlCol="0">
            <a:spAutoFit/>
          </a:bodyPr>
          <a:lstStyle/>
          <a:p>
            <a:pPr marL="12700">
              <a:lnSpc>
                <a:spcPct val="100000"/>
              </a:lnSpc>
              <a:spcBef>
                <a:spcPts val="790"/>
              </a:spcBef>
            </a:pPr>
            <a:r>
              <a:rPr sz="1800" b="1" spc="-10" dirty="0">
                <a:solidFill>
                  <a:srgbClr val="7E5209"/>
                </a:solidFill>
                <a:cs typeface="Verdana"/>
              </a:rPr>
              <a:t>Plagiarism</a:t>
            </a:r>
            <a:endParaRPr sz="1800" dirty="0">
              <a:cs typeface="Verdana"/>
            </a:endParaRPr>
          </a:p>
          <a:p>
            <a:pPr marL="12700">
              <a:lnSpc>
                <a:spcPct val="100000"/>
              </a:lnSpc>
              <a:spcBef>
                <a:spcPts val="695"/>
              </a:spcBef>
            </a:pPr>
            <a:r>
              <a:rPr sz="1800" dirty="0">
                <a:cs typeface="Verdana"/>
              </a:rPr>
              <a:t>Plagiarism</a:t>
            </a:r>
            <a:r>
              <a:rPr sz="1800" spc="85" dirty="0">
                <a:cs typeface="Verdana"/>
              </a:rPr>
              <a:t> </a:t>
            </a:r>
            <a:r>
              <a:rPr sz="1800" dirty="0">
                <a:cs typeface="Verdana"/>
              </a:rPr>
              <a:t>means</a:t>
            </a:r>
            <a:r>
              <a:rPr sz="1800" spc="-105" dirty="0">
                <a:cs typeface="Verdana"/>
              </a:rPr>
              <a:t> </a:t>
            </a:r>
            <a:r>
              <a:rPr sz="1800" dirty="0">
                <a:cs typeface="Verdana"/>
              </a:rPr>
              <a:t>that</a:t>
            </a:r>
            <a:r>
              <a:rPr sz="1800" spc="-105" dirty="0">
                <a:cs typeface="Verdana"/>
              </a:rPr>
              <a:t> </a:t>
            </a:r>
            <a:r>
              <a:rPr sz="1800" dirty="0">
                <a:cs typeface="Verdana"/>
              </a:rPr>
              <a:t>you</a:t>
            </a:r>
            <a:r>
              <a:rPr sz="1800" spc="-140" dirty="0">
                <a:cs typeface="Verdana"/>
              </a:rPr>
              <a:t> </a:t>
            </a:r>
            <a:r>
              <a:rPr sz="1800" dirty="0">
                <a:cs typeface="Verdana"/>
              </a:rPr>
              <a:t>present</a:t>
            </a:r>
            <a:r>
              <a:rPr sz="1800" spc="-190" dirty="0">
                <a:cs typeface="Verdana"/>
              </a:rPr>
              <a:t> </a:t>
            </a:r>
            <a:r>
              <a:rPr sz="1800" dirty="0">
                <a:cs typeface="Verdana"/>
              </a:rPr>
              <a:t>a</a:t>
            </a:r>
            <a:r>
              <a:rPr sz="1800" spc="-50" dirty="0">
                <a:cs typeface="Verdana"/>
              </a:rPr>
              <a:t> </a:t>
            </a:r>
            <a:r>
              <a:rPr sz="1800" dirty="0">
                <a:cs typeface="Verdana"/>
              </a:rPr>
              <a:t>work</a:t>
            </a:r>
            <a:r>
              <a:rPr sz="1800" spc="-160" dirty="0">
                <a:cs typeface="Verdana"/>
              </a:rPr>
              <a:t> </a:t>
            </a:r>
            <a:r>
              <a:rPr sz="1800" dirty="0">
                <a:cs typeface="Verdana"/>
              </a:rPr>
              <a:t>or</a:t>
            </a:r>
            <a:r>
              <a:rPr sz="1800" spc="-100" dirty="0">
                <a:cs typeface="Verdana"/>
              </a:rPr>
              <a:t> </a:t>
            </a:r>
            <a:r>
              <a:rPr sz="1800" dirty="0">
                <a:cs typeface="Verdana"/>
              </a:rPr>
              <a:t>part</a:t>
            </a:r>
            <a:r>
              <a:rPr sz="1800" spc="-20" dirty="0">
                <a:cs typeface="Verdana"/>
              </a:rPr>
              <a:t> </a:t>
            </a:r>
            <a:r>
              <a:rPr sz="1800" dirty="0">
                <a:cs typeface="Verdana"/>
              </a:rPr>
              <a:t>of</a:t>
            </a:r>
            <a:r>
              <a:rPr sz="1800" spc="-140" dirty="0">
                <a:cs typeface="Verdana"/>
              </a:rPr>
              <a:t> </a:t>
            </a:r>
            <a:r>
              <a:rPr sz="1800" dirty="0">
                <a:cs typeface="Verdana"/>
              </a:rPr>
              <a:t>a</a:t>
            </a:r>
            <a:r>
              <a:rPr sz="1800" spc="-55" dirty="0">
                <a:cs typeface="Verdana"/>
              </a:rPr>
              <a:t> </a:t>
            </a:r>
            <a:r>
              <a:rPr sz="1800" dirty="0">
                <a:cs typeface="Verdana"/>
              </a:rPr>
              <a:t>work</a:t>
            </a:r>
            <a:r>
              <a:rPr sz="1800" spc="-160" dirty="0">
                <a:cs typeface="Verdana"/>
              </a:rPr>
              <a:t> </a:t>
            </a:r>
            <a:r>
              <a:rPr sz="1800" spc="-25" dirty="0">
                <a:cs typeface="Verdana"/>
              </a:rPr>
              <a:t>clearly</a:t>
            </a:r>
            <a:r>
              <a:rPr sz="1800" spc="-125" dirty="0">
                <a:cs typeface="Verdana"/>
              </a:rPr>
              <a:t> </a:t>
            </a:r>
            <a:r>
              <a:rPr sz="1800" spc="-10" dirty="0">
                <a:cs typeface="Verdana"/>
              </a:rPr>
              <a:t>without</a:t>
            </a:r>
            <a:endParaRPr sz="1800" dirty="0">
              <a:cs typeface="Verdana"/>
            </a:endParaRPr>
          </a:p>
          <a:p>
            <a:pPr marL="12700">
              <a:lnSpc>
                <a:spcPct val="100000"/>
              </a:lnSpc>
              <a:spcBef>
                <a:spcPts val="1070"/>
              </a:spcBef>
            </a:pPr>
            <a:r>
              <a:rPr sz="1800" dirty="0">
                <a:cs typeface="Verdana"/>
              </a:rPr>
              <a:t>acknowledging</a:t>
            </a:r>
            <a:r>
              <a:rPr sz="1800" spc="155" dirty="0">
                <a:cs typeface="Verdana"/>
              </a:rPr>
              <a:t> </a:t>
            </a:r>
            <a:r>
              <a:rPr sz="1800" dirty="0">
                <a:cs typeface="Verdana"/>
              </a:rPr>
              <a:t>the</a:t>
            </a:r>
            <a:r>
              <a:rPr sz="1800" spc="-125" dirty="0">
                <a:cs typeface="Verdana"/>
              </a:rPr>
              <a:t> </a:t>
            </a:r>
            <a:r>
              <a:rPr sz="1800" spc="-20" dirty="0">
                <a:cs typeface="Verdana"/>
              </a:rPr>
              <a:t>source.</a:t>
            </a:r>
            <a:r>
              <a:rPr sz="1800" spc="-170" dirty="0">
                <a:cs typeface="Verdana"/>
              </a:rPr>
              <a:t> </a:t>
            </a:r>
            <a:r>
              <a:rPr sz="1800" spc="-20" dirty="0">
                <a:cs typeface="Verdana"/>
              </a:rPr>
              <a:t>This</a:t>
            </a:r>
            <a:r>
              <a:rPr sz="1800" spc="40" dirty="0">
                <a:cs typeface="Verdana"/>
              </a:rPr>
              <a:t> </a:t>
            </a:r>
            <a:r>
              <a:rPr sz="1800" spc="50" dirty="0">
                <a:cs typeface="Verdana"/>
              </a:rPr>
              <a:t>can</a:t>
            </a:r>
            <a:r>
              <a:rPr sz="1800" spc="-95" dirty="0">
                <a:cs typeface="Verdana"/>
              </a:rPr>
              <a:t> </a:t>
            </a:r>
            <a:r>
              <a:rPr sz="1800" dirty="0">
                <a:cs typeface="Verdana"/>
              </a:rPr>
              <a:t>be</a:t>
            </a:r>
            <a:r>
              <a:rPr sz="1800" spc="-30" dirty="0">
                <a:cs typeface="Verdana"/>
              </a:rPr>
              <a:t> </a:t>
            </a:r>
            <a:r>
              <a:rPr sz="1800" dirty="0">
                <a:cs typeface="Verdana"/>
              </a:rPr>
              <a:t>using someone</a:t>
            </a:r>
            <a:r>
              <a:rPr sz="1800" spc="-130" dirty="0">
                <a:cs typeface="Verdana"/>
              </a:rPr>
              <a:t> </a:t>
            </a:r>
            <a:r>
              <a:rPr sz="1800" spc="-40" dirty="0">
                <a:cs typeface="Verdana"/>
              </a:rPr>
              <a:t>else's</a:t>
            </a:r>
            <a:r>
              <a:rPr sz="1800" spc="-120" dirty="0">
                <a:cs typeface="Verdana"/>
              </a:rPr>
              <a:t> </a:t>
            </a:r>
            <a:r>
              <a:rPr sz="1800" dirty="0">
                <a:cs typeface="Verdana"/>
              </a:rPr>
              <a:t>work</a:t>
            </a:r>
            <a:r>
              <a:rPr sz="1800" spc="-20" dirty="0">
                <a:cs typeface="Verdana"/>
              </a:rPr>
              <a:t> </a:t>
            </a:r>
            <a:r>
              <a:rPr sz="1800" dirty="0">
                <a:cs typeface="Verdana"/>
              </a:rPr>
              <a:t>without</a:t>
            </a:r>
            <a:r>
              <a:rPr sz="1800" spc="35" dirty="0">
                <a:cs typeface="Verdana"/>
              </a:rPr>
              <a:t> </a:t>
            </a:r>
            <a:r>
              <a:rPr sz="1800" spc="-30" dirty="0">
                <a:cs typeface="Verdana"/>
              </a:rPr>
              <a:t>a</a:t>
            </a:r>
            <a:r>
              <a:rPr sz="1800" spc="-90" dirty="0">
                <a:cs typeface="Verdana"/>
              </a:rPr>
              <a:t> </a:t>
            </a:r>
            <a:r>
              <a:rPr sz="1800" spc="-20" dirty="0">
                <a:cs typeface="Verdana"/>
              </a:rPr>
              <a:t>citation,</a:t>
            </a:r>
            <a:r>
              <a:rPr sz="1800" spc="10" dirty="0">
                <a:cs typeface="Verdana"/>
              </a:rPr>
              <a:t> </a:t>
            </a:r>
            <a:r>
              <a:rPr sz="1800" spc="-25" dirty="0">
                <a:cs typeface="Verdana"/>
              </a:rPr>
              <a:t>or</a:t>
            </a:r>
            <a:endParaRPr sz="1800" dirty="0">
              <a:cs typeface="Verdana"/>
            </a:endParaRPr>
          </a:p>
          <a:p>
            <a:pPr marL="12700" marR="67310">
              <a:lnSpc>
                <a:spcPct val="149500"/>
              </a:lnSpc>
              <a:spcBef>
                <a:spcPts val="75"/>
              </a:spcBef>
            </a:pPr>
            <a:r>
              <a:rPr sz="1800" dirty="0">
                <a:solidFill>
                  <a:srgbClr val="C00000"/>
                </a:solidFill>
                <a:cs typeface="Verdana"/>
              </a:rPr>
              <a:t>using</a:t>
            </a:r>
            <a:r>
              <a:rPr sz="1800" spc="-70" dirty="0">
                <a:solidFill>
                  <a:srgbClr val="C00000"/>
                </a:solidFill>
                <a:cs typeface="Verdana"/>
              </a:rPr>
              <a:t> </a:t>
            </a:r>
            <a:r>
              <a:rPr sz="1800" spc="-20" dirty="0">
                <a:solidFill>
                  <a:srgbClr val="C00000"/>
                </a:solidFill>
                <a:cs typeface="Verdana"/>
              </a:rPr>
              <a:t>your</a:t>
            </a:r>
            <a:r>
              <a:rPr sz="1800" spc="-80" dirty="0">
                <a:solidFill>
                  <a:srgbClr val="C00000"/>
                </a:solidFill>
                <a:cs typeface="Verdana"/>
              </a:rPr>
              <a:t> </a:t>
            </a:r>
            <a:r>
              <a:rPr sz="1800" spc="65" dirty="0">
                <a:solidFill>
                  <a:srgbClr val="C00000"/>
                </a:solidFill>
                <a:cs typeface="Verdana"/>
              </a:rPr>
              <a:t>own</a:t>
            </a:r>
            <a:r>
              <a:rPr sz="1800" spc="-40" dirty="0">
                <a:solidFill>
                  <a:srgbClr val="C00000"/>
                </a:solidFill>
                <a:cs typeface="Verdana"/>
              </a:rPr>
              <a:t> </a:t>
            </a:r>
            <a:r>
              <a:rPr sz="1800" dirty="0">
                <a:solidFill>
                  <a:srgbClr val="C00000"/>
                </a:solidFill>
                <a:cs typeface="Verdana"/>
              </a:rPr>
              <a:t>work</a:t>
            </a:r>
            <a:r>
              <a:rPr sz="1800" spc="-60" dirty="0">
                <a:solidFill>
                  <a:srgbClr val="C00000"/>
                </a:solidFill>
                <a:cs typeface="Verdana"/>
              </a:rPr>
              <a:t> </a:t>
            </a:r>
            <a:r>
              <a:rPr sz="1800" dirty="0">
                <a:solidFill>
                  <a:srgbClr val="C00000"/>
                </a:solidFill>
                <a:cs typeface="Verdana"/>
              </a:rPr>
              <a:t>without</a:t>
            </a:r>
            <a:r>
              <a:rPr sz="1800" spc="-90" dirty="0">
                <a:solidFill>
                  <a:srgbClr val="C00000"/>
                </a:solidFill>
                <a:cs typeface="Verdana"/>
              </a:rPr>
              <a:t> </a:t>
            </a:r>
            <a:r>
              <a:rPr sz="1800" dirty="0">
                <a:solidFill>
                  <a:srgbClr val="C00000"/>
                </a:solidFill>
                <a:cs typeface="Verdana"/>
              </a:rPr>
              <a:t>citing</a:t>
            </a:r>
            <a:r>
              <a:rPr sz="1800" spc="20" dirty="0">
                <a:solidFill>
                  <a:srgbClr val="C00000"/>
                </a:solidFill>
                <a:cs typeface="Verdana"/>
              </a:rPr>
              <a:t> </a:t>
            </a:r>
            <a:r>
              <a:rPr sz="1800" spc="-20" dirty="0">
                <a:solidFill>
                  <a:srgbClr val="C00000"/>
                </a:solidFill>
                <a:cs typeface="Verdana"/>
              </a:rPr>
              <a:t>yourself</a:t>
            </a:r>
            <a:r>
              <a:rPr sz="1800" spc="-120" dirty="0">
                <a:solidFill>
                  <a:srgbClr val="C00000"/>
                </a:solidFill>
                <a:cs typeface="Verdana"/>
              </a:rPr>
              <a:t> </a:t>
            </a:r>
            <a:r>
              <a:rPr sz="1800" spc="-100" dirty="0">
                <a:solidFill>
                  <a:srgbClr val="C00000"/>
                </a:solidFill>
                <a:cs typeface="Verdana"/>
              </a:rPr>
              <a:t>(‘self-</a:t>
            </a:r>
            <a:r>
              <a:rPr sz="1800" spc="-45" dirty="0">
                <a:solidFill>
                  <a:srgbClr val="C00000"/>
                </a:solidFill>
                <a:cs typeface="Verdana"/>
              </a:rPr>
              <a:t>plagiarism’).</a:t>
            </a:r>
            <a:r>
              <a:rPr sz="1800" spc="135" dirty="0">
                <a:solidFill>
                  <a:srgbClr val="C00000"/>
                </a:solidFill>
                <a:cs typeface="Verdana"/>
              </a:rPr>
              <a:t> </a:t>
            </a:r>
            <a:r>
              <a:rPr sz="1800" b="1" dirty="0">
                <a:cs typeface="Verdana"/>
              </a:rPr>
              <a:t>Plagiarism</a:t>
            </a:r>
            <a:r>
              <a:rPr sz="1800" b="1" spc="20" dirty="0">
                <a:cs typeface="Verdana"/>
              </a:rPr>
              <a:t> </a:t>
            </a:r>
            <a:r>
              <a:rPr sz="1800" b="1" spc="-50" dirty="0">
                <a:cs typeface="Verdana"/>
              </a:rPr>
              <a:t>is</a:t>
            </a:r>
            <a:r>
              <a:rPr sz="1800" b="1" spc="-10" dirty="0">
                <a:cs typeface="Verdana"/>
              </a:rPr>
              <a:t> considered </a:t>
            </a:r>
            <a:r>
              <a:rPr sz="1800" b="1" spc="-30" dirty="0">
                <a:cs typeface="Verdana"/>
              </a:rPr>
              <a:t>a</a:t>
            </a:r>
            <a:r>
              <a:rPr sz="1800" b="1" spc="-114" dirty="0">
                <a:cs typeface="Verdana"/>
              </a:rPr>
              <a:t> </a:t>
            </a:r>
            <a:r>
              <a:rPr sz="1800" b="1" spc="-10" dirty="0">
                <a:cs typeface="Verdana"/>
              </a:rPr>
              <a:t>serious</a:t>
            </a:r>
            <a:r>
              <a:rPr sz="1800" b="1" spc="-80" dirty="0">
                <a:cs typeface="Verdana"/>
              </a:rPr>
              <a:t> </a:t>
            </a:r>
            <a:r>
              <a:rPr sz="1800" b="1" dirty="0">
                <a:cs typeface="Verdana"/>
              </a:rPr>
              <a:t>academic</a:t>
            </a:r>
            <a:r>
              <a:rPr sz="1800" b="1" spc="-55" dirty="0">
                <a:cs typeface="Verdana"/>
              </a:rPr>
              <a:t> </a:t>
            </a:r>
            <a:r>
              <a:rPr sz="1800" b="1" spc="-10" dirty="0">
                <a:cs typeface="Verdana"/>
              </a:rPr>
              <a:t>offence,</a:t>
            </a:r>
            <a:r>
              <a:rPr sz="1800" b="1" spc="-110" dirty="0">
                <a:cs typeface="Verdana"/>
              </a:rPr>
              <a:t> </a:t>
            </a:r>
            <a:r>
              <a:rPr sz="1800" b="1" dirty="0">
                <a:cs typeface="Verdana"/>
              </a:rPr>
              <a:t>and</a:t>
            </a:r>
            <a:r>
              <a:rPr sz="1800" b="1" spc="-35" dirty="0">
                <a:cs typeface="Verdana"/>
              </a:rPr>
              <a:t> </a:t>
            </a:r>
            <a:r>
              <a:rPr lang="en-US" b="1" spc="105" dirty="0">
                <a:cs typeface="Verdana"/>
              </a:rPr>
              <a:t>universities often</a:t>
            </a:r>
            <a:r>
              <a:rPr sz="1800" b="1" spc="-100" dirty="0">
                <a:cs typeface="Verdana"/>
              </a:rPr>
              <a:t> </a:t>
            </a:r>
            <a:r>
              <a:rPr sz="1800" b="1" dirty="0">
                <a:cs typeface="Verdana"/>
              </a:rPr>
              <a:t>perform</a:t>
            </a:r>
            <a:r>
              <a:rPr sz="1800" b="1" spc="-75" dirty="0">
                <a:cs typeface="Verdana"/>
              </a:rPr>
              <a:t> </a:t>
            </a:r>
            <a:r>
              <a:rPr sz="1800" b="1" dirty="0">
                <a:cs typeface="Verdana"/>
              </a:rPr>
              <a:t>plagiarism</a:t>
            </a:r>
            <a:r>
              <a:rPr sz="1800" b="1" spc="120" dirty="0">
                <a:cs typeface="Verdana"/>
              </a:rPr>
              <a:t> </a:t>
            </a:r>
            <a:r>
              <a:rPr sz="1800" b="1" dirty="0">
                <a:cs typeface="Verdana"/>
              </a:rPr>
              <a:t>checks</a:t>
            </a:r>
            <a:r>
              <a:rPr sz="1800" b="1" spc="-170" dirty="0">
                <a:cs typeface="Verdana"/>
              </a:rPr>
              <a:t> </a:t>
            </a:r>
            <a:r>
              <a:rPr sz="1800" b="1" spc="55" dirty="0">
                <a:cs typeface="Verdana"/>
              </a:rPr>
              <a:t>on</a:t>
            </a:r>
            <a:r>
              <a:rPr sz="1800" b="1" spc="-125" dirty="0">
                <a:cs typeface="Verdana"/>
              </a:rPr>
              <a:t> </a:t>
            </a:r>
            <a:r>
              <a:rPr sz="1800" b="1" spc="-10" dirty="0">
                <a:cs typeface="Verdana"/>
              </a:rPr>
              <a:t>student assignments.</a:t>
            </a:r>
            <a:endParaRPr lang="en-US" sz="1800" b="1" spc="-10" dirty="0">
              <a:cs typeface="Verdana"/>
            </a:endParaRPr>
          </a:p>
          <a:p>
            <a:pPr marL="12700" marR="67310">
              <a:lnSpc>
                <a:spcPct val="149500"/>
              </a:lnSpc>
              <a:spcBef>
                <a:spcPts val="75"/>
              </a:spcBef>
            </a:pPr>
            <a:endParaRPr sz="1800" dirty="0">
              <a:cs typeface="Verdana"/>
            </a:endParaRPr>
          </a:p>
          <a:p>
            <a:pPr marL="12700" marR="12700">
              <a:lnSpc>
                <a:spcPts val="3229"/>
              </a:lnSpc>
              <a:spcBef>
                <a:spcPts val="285"/>
              </a:spcBef>
            </a:pPr>
            <a:r>
              <a:rPr sz="1800" spc="50" dirty="0">
                <a:solidFill>
                  <a:srgbClr val="7E5209"/>
                </a:solidFill>
                <a:cs typeface="Verdana"/>
              </a:rPr>
              <a:t>Most</a:t>
            </a:r>
            <a:r>
              <a:rPr sz="1800" spc="-100" dirty="0">
                <a:solidFill>
                  <a:srgbClr val="7E5209"/>
                </a:solidFill>
                <a:cs typeface="Verdana"/>
              </a:rPr>
              <a:t> </a:t>
            </a:r>
            <a:r>
              <a:rPr sz="1800" dirty="0">
                <a:solidFill>
                  <a:srgbClr val="7E5209"/>
                </a:solidFill>
                <a:cs typeface="Verdana"/>
              </a:rPr>
              <a:t>scientific</a:t>
            </a:r>
            <a:r>
              <a:rPr sz="1800" spc="-80" dirty="0">
                <a:solidFill>
                  <a:srgbClr val="7E5209"/>
                </a:solidFill>
                <a:cs typeface="Verdana"/>
              </a:rPr>
              <a:t> </a:t>
            </a:r>
            <a:r>
              <a:rPr sz="1800" spc="-20" dirty="0">
                <a:solidFill>
                  <a:srgbClr val="7E5209"/>
                </a:solidFill>
                <a:cs typeface="Verdana"/>
              </a:rPr>
              <a:t>journals</a:t>
            </a:r>
            <a:r>
              <a:rPr sz="1800" spc="-100" dirty="0">
                <a:solidFill>
                  <a:srgbClr val="7E5209"/>
                </a:solidFill>
                <a:cs typeface="Verdana"/>
              </a:rPr>
              <a:t> </a:t>
            </a:r>
            <a:r>
              <a:rPr sz="1800" spc="-35" dirty="0">
                <a:solidFill>
                  <a:srgbClr val="7E5209"/>
                </a:solidFill>
                <a:cs typeface="Verdana"/>
              </a:rPr>
              <a:t>also</a:t>
            </a:r>
            <a:r>
              <a:rPr sz="1800" spc="-120" dirty="0">
                <a:solidFill>
                  <a:srgbClr val="7E5209"/>
                </a:solidFill>
                <a:cs typeface="Verdana"/>
              </a:rPr>
              <a:t> </a:t>
            </a:r>
            <a:r>
              <a:rPr sz="1800" dirty="0">
                <a:solidFill>
                  <a:srgbClr val="7E5209"/>
                </a:solidFill>
                <a:cs typeface="Verdana"/>
              </a:rPr>
              <a:t>use</a:t>
            </a:r>
            <a:r>
              <a:rPr sz="1800" b="1" spc="-80" dirty="0">
                <a:solidFill>
                  <a:srgbClr val="7E5209"/>
                </a:solidFill>
                <a:cs typeface="Verdana"/>
              </a:rPr>
              <a:t> </a:t>
            </a:r>
            <a:r>
              <a:rPr sz="1800" b="1" dirty="0">
                <a:solidFill>
                  <a:srgbClr val="7E5209"/>
                </a:solidFill>
                <a:cs typeface="Verdana"/>
              </a:rPr>
              <a:t>plagiarism</a:t>
            </a:r>
            <a:r>
              <a:rPr sz="1800" b="1" spc="95" dirty="0">
                <a:solidFill>
                  <a:srgbClr val="7E5209"/>
                </a:solidFill>
                <a:cs typeface="Verdana"/>
              </a:rPr>
              <a:t> </a:t>
            </a:r>
            <a:r>
              <a:rPr sz="1800" b="1" dirty="0">
                <a:solidFill>
                  <a:srgbClr val="7E5209"/>
                </a:solidFill>
                <a:cs typeface="Verdana"/>
              </a:rPr>
              <a:t>detection</a:t>
            </a:r>
            <a:r>
              <a:rPr sz="1800" b="1" spc="-229" dirty="0">
                <a:solidFill>
                  <a:srgbClr val="7E5209"/>
                </a:solidFill>
                <a:cs typeface="Verdana"/>
              </a:rPr>
              <a:t> </a:t>
            </a:r>
            <a:r>
              <a:rPr sz="1800" b="1" dirty="0">
                <a:solidFill>
                  <a:srgbClr val="7E5209"/>
                </a:solidFill>
                <a:cs typeface="Verdana"/>
              </a:rPr>
              <a:t>software</a:t>
            </a:r>
            <a:r>
              <a:rPr sz="1800" b="1" spc="-240" dirty="0">
                <a:solidFill>
                  <a:srgbClr val="7E5209"/>
                </a:solidFill>
                <a:cs typeface="Verdana"/>
              </a:rPr>
              <a:t> </a:t>
            </a:r>
            <a:r>
              <a:rPr sz="1800" b="1" dirty="0">
                <a:solidFill>
                  <a:srgbClr val="7E5209"/>
                </a:solidFill>
                <a:cs typeface="Verdana"/>
              </a:rPr>
              <a:t>such</a:t>
            </a:r>
            <a:r>
              <a:rPr sz="1800" b="1" spc="-145" dirty="0">
                <a:solidFill>
                  <a:srgbClr val="7E5209"/>
                </a:solidFill>
                <a:cs typeface="Verdana"/>
              </a:rPr>
              <a:t> </a:t>
            </a:r>
            <a:r>
              <a:rPr sz="1800" b="1" spc="-55" dirty="0">
                <a:solidFill>
                  <a:srgbClr val="7E5209"/>
                </a:solidFill>
                <a:cs typeface="Verdana"/>
              </a:rPr>
              <a:t>as</a:t>
            </a:r>
            <a:r>
              <a:rPr sz="1800" b="1" spc="-105" dirty="0">
                <a:solidFill>
                  <a:srgbClr val="7E5209"/>
                </a:solidFill>
                <a:cs typeface="Verdana"/>
              </a:rPr>
              <a:t> </a:t>
            </a:r>
            <a:r>
              <a:rPr sz="1800" b="1" spc="-25" dirty="0">
                <a:solidFill>
                  <a:srgbClr val="7E5209"/>
                </a:solidFill>
                <a:cs typeface="Verdana"/>
              </a:rPr>
              <a:t>Turnitin.</a:t>
            </a:r>
            <a:r>
              <a:rPr sz="1800" b="1" spc="35" dirty="0">
                <a:solidFill>
                  <a:srgbClr val="7E5209"/>
                </a:solidFill>
                <a:cs typeface="Verdana"/>
              </a:rPr>
              <a:t> </a:t>
            </a:r>
            <a:r>
              <a:rPr sz="1800" spc="-25" dirty="0">
                <a:solidFill>
                  <a:srgbClr val="7E5209"/>
                </a:solidFill>
                <a:cs typeface="Verdana"/>
              </a:rPr>
              <a:t>To</a:t>
            </a:r>
            <a:r>
              <a:rPr sz="1800" spc="-130" dirty="0">
                <a:solidFill>
                  <a:srgbClr val="7E5209"/>
                </a:solidFill>
                <a:cs typeface="Verdana"/>
              </a:rPr>
              <a:t> </a:t>
            </a:r>
            <a:r>
              <a:rPr sz="1800" spc="-10" dirty="0">
                <a:solidFill>
                  <a:srgbClr val="7E5209"/>
                </a:solidFill>
                <a:cs typeface="Verdana"/>
              </a:rPr>
              <a:t>avoid </a:t>
            </a:r>
            <a:r>
              <a:rPr sz="1800" spc="-20" dirty="0">
                <a:solidFill>
                  <a:srgbClr val="7E5209"/>
                </a:solidFill>
                <a:cs typeface="Verdana"/>
              </a:rPr>
              <a:t>plagiarism,</a:t>
            </a:r>
            <a:r>
              <a:rPr sz="1800" spc="5" dirty="0">
                <a:solidFill>
                  <a:srgbClr val="7E5209"/>
                </a:solidFill>
                <a:cs typeface="Verdana"/>
              </a:rPr>
              <a:t> </a:t>
            </a:r>
            <a:r>
              <a:rPr sz="1800" dirty="0">
                <a:solidFill>
                  <a:srgbClr val="7E5209"/>
                </a:solidFill>
                <a:cs typeface="Verdana"/>
              </a:rPr>
              <a:t>you</a:t>
            </a:r>
            <a:r>
              <a:rPr sz="1800" spc="-215" dirty="0">
                <a:solidFill>
                  <a:srgbClr val="7E5209"/>
                </a:solidFill>
                <a:cs typeface="Verdana"/>
              </a:rPr>
              <a:t> </a:t>
            </a:r>
            <a:r>
              <a:rPr sz="1800" b="1" spc="-60" dirty="0">
                <a:solidFill>
                  <a:srgbClr val="C00000"/>
                </a:solidFill>
                <a:cs typeface="Verdana"/>
              </a:rPr>
              <a:t>must </a:t>
            </a:r>
            <a:r>
              <a:rPr sz="1800" b="1" spc="-50" dirty="0">
                <a:solidFill>
                  <a:srgbClr val="C00000"/>
                </a:solidFill>
                <a:cs typeface="Verdana"/>
              </a:rPr>
              <a:t>cite</a:t>
            </a:r>
            <a:r>
              <a:rPr sz="1800" b="1" spc="-30" dirty="0">
                <a:solidFill>
                  <a:srgbClr val="C00000"/>
                </a:solidFill>
                <a:cs typeface="Verdana"/>
              </a:rPr>
              <a:t> </a:t>
            </a:r>
            <a:r>
              <a:rPr sz="1800" b="1" spc="-80" dirty="0">
                <a:solidFill>
                  <a:srgbClr val="C00000"/>
                </a:solidFill>
                <a:cs typeface="Verdana"/>
              </a:rPr>
              <a:t>any</a:t>
            </a:r>
            <a:r>
              <a:rPr sz="1800" b="1" spc="-120" dirty="0">
                <a:solidFill>
                  <a:srgbClr val="C00000"/>
                </a:solidFill>
                <a:cs typeface="Verdana"/>
              </a:rPr>
              <a:t> text,</a:t>
            </a:r>
            <a:r>
              <a:rPr sz="1800" b="1" spc="-40" dirty="0">
                <a:solidFill>
                  <a:srgbClr val="C00000"/>
                </a:solidFill>
                <a:cs typeface="Verdana"/>
              </a:rPr>
              <a:t> </a:t>
            </a:r>
            <a:r>
              <a:rPr sz="1800" b="1" spc="-90" dirty="0">
                <a:solidFill>
                  <a:srgbClr val="C00000"/>
                </a:solidFill>
                <a:cs typeface="Verdana"/>
              </a:rPr>
              <a:t>idea,</a:t>
            </a:r>
            <a:r>
              <a:rPr sz="1800" b="1" spc="-114" dirty="0">
                <a:solidFill>
                  <a:srgbClr val="C00000"/>
                </a:solidFill>
                <a:cs typeface="Verdana"/>
              </a:rPr>
              <a:t> </a:t>
            </a:r>
            <a:r>
              <a:rPr sz="1800" b="1" spc="-80" dirty="0">
                <a:solidFill>
                  <a:srgbClr val="C00000"/>
                </a:solidFill>
                <a:cs typeface="Verdana"/>
              </a:rPr>
              <a:t>image,</a:t>
            </a:r>
            <a:r>
              <a:rPr sz="1800" b="1" spc="-45" dirty="0">
                <a:solidFill>
                  <a:srgbClr val="C00000"/>
                </a:solidFill>
                <a:cs typeface="Verdana"/>
              </a:rPr>
              <a:t> </a:t>
            </a:r>
            <a:r>
              <a:rPr sz="1800" b="1" spc="-95" dirty="0">
                <a:solidFill>
                  <a:srgbClr val="C00000"/>
                </a:solidFill>
                <a:cs typeface="Verdana"/>
              </a:rPr>
              <a:t>or</a:t>
            </a:r>
            <a:r>
              <a:rPr sz="1800" b="1" spc="-195" dirty="0">
                <a:solidFill>
                  <a:srgbClr val="C00000"/>
                </a:solidFill>
                <a:cs typeface="Verdana"/>
              </a:rPr>
              <a:t> </a:t>
            </a:r>
            <a:r>
              <a:rPr sz="1800" b="1" spc="-65" dirty="0">
                <a:solidFill>
                  <a:srgbClr val="C00000"/>
                </a:solidFill>
                <a:cs typeface="Verdana"/>
              </a:rPr>
              <a:t>data</a:t>
            </a:r>
            <a:r>
              <a:rPr sz="1800" b="1" spc="-85" dirty="0">
                <a:solidFill>
                  <a:srgbClr val="C00000"/>
                </a:solidFill>
                <a:cs typeface="Verdana"/>
              </a:rPr>
              <a:t> </a:t>
            </a:r>
            <a:r>
              <a:rPr sz="1800" b="1" spc="-60" dirty="0">
                <a:solidFill>
                  <a:srgbClr val="C00000"/>
                </a:solidFill>
                <a:cs typeface="Verdana"/>
              </a:rPr>
              <a:t>that</a:t>
            </a:r>
            <a:r>
              <a:rPr sz="1800" b="1" spc="-130" dirty="0">
                <a:solidFill>
                  <a:srgbClr val="C00000"/>
                </a:solidFill>
                <a:cs typeface="Verdana"/>
              </a:rPr>
              <a:t> </a:t>
            </a:r>
            <a:r>
              <a:rPr sz="1800" b="1" spc="-100" dirty="0">
                <a:solidFill>
                  <a:srgbClr val="C00000"/>
                </a:solidFill>
                <a:cs typeface="Verdana"/>
              </a:rPr>
              <a:t>is</a:t>
            </a:r>
            <a:r>
              <a:rPr sz="1800" b="1" spc="-80" dirty="0">
                <a:solidFill>
                  <a:srgbClr val="C00000"/>
                </a:solidFill>
                <a:cs typeface="Verdana"/>
              </a:rPr>
              <a:t> </a:t>
            </a:r>
            <a:r>
              <a:rPr sz="1800" b="1" spc="-40" dirty="0">
                <a:solidFill>
                  <a:srgbClr val="C00000"/>
                </a:solidFill>
                <a:cs typeface="Verdana"/>
              </a:rPr>
              <a:t>not</a:t>
            </a:r>
            <a:r>
              <a:rPr sz="1800" b="1" spc="-130" dirty="0">
                <a:solidFill>
                  <a:srgbClr val="C00000"/>
                </a:solidFill>
                <a:cs typeface="Verdana"/>
              </a:rPr>
              <a:t> </a:t>
            </a:r>
            <a:r>
              <a:rPr sz="1800" b="1" spc="-110" dirty="0">
                <a:solidFill>
                  <a:srgbClr val="C00000"/>
                </a:solidFill>
                <a:cs typeface="Verdana"/>
              </a:rPr>
              <a:t>your</a:t>
            </a:r>
            <a:r>
              <a:rPr sz="1800" b="1" spc="-120" dirty="0">
                <a:solidFill>
                  <a:srgbClr val="C00000"/>
                </a:solidFill>
                <a:cs typeface="Verdana"/>
              </a:rPr>
              <a:t> </a:t>
            </a:r>
            <a:r>
              <a:rPr sz="1800" b="1" spc="-100" dirty="0">
                <a:solidFill>
                  <a:srgbClr val="C00000"/>
                </a:solidFill>
                <a:cs typeface="Verdana"/>
              </a:rPr>
              <a:t>own</a:t>
            </a:r>
            <a:r>
              <a:rPr sz="1800" spc="-100" dirty="0">
                <a:solidFill>
                  <a:srgbClr val="7E5209"/>
                </a:solidFill>
                <a:cs typeface="Verdana"/>
              </a:rPr>
              <a:t>.</a:t>
            </a:r>
            <a:r>
              <a:rPr sz="1800" spc="-120" dirty="0">
                <a:solidFill>
                  <a:srgbClr val="7E5209"/>
                </a:solidFill>
                <a:cs typeface="Verdana"/>
              </a:rPr>
              <a:t> </a:t>
            </a:r>
            <a:r>
              <a:rPr sz="1800" spc="-10" dirty="0">
                <a:solidFill>
                  <a:srgbClr val="7E5209"/>
                </a:solidFill>
                <a:cs typeface="Verdana"/>
              </a:rPr>
              <a:t>Check</a:t>
            </a:r>
            <a:endParaRPr sz="1800" dirty="0">
              <a:cs typeface="Verdana"/>
            </a:endParaRPr>
          </a:p>
          <a:p>
            <a:pPr marL="12700" marR="46355">
              <a:lnSpc>
                <a:spcPts val="3229"/>
              </a:lnSpc>
              <a:spcBef>
                <a:spcPts val="75"/>
              </a:spcBef>
            </a:pPr>
            <a:r>
              <a:rPr sz="1800" dirty="0">
                <a:solidFill>
                  <a:srgbClr val="7E5209"/>
                </a:solidFill>
                <a:cs typeface="Verdana"/>
              </a:rPr>
              <a:t>the</a:t>
            </a:r>
            <a:r>
              <a:rPr sz="1800" spc="-40" dirty="0">
                <a:solidFill>
                  <a:srgbClr val="7E5209"/>
                </a:solidFill>
                <a:cs typeface="Verdana"/>
              </a:rPr>
              <a:t> </a:t>
            </a:r>
            <a:r>
              <a:rPr lang="en-US" sz="1800" spc="-25" dirty="0">
                <a:solidFill>
                  <a:srgbClr val="7E5209"/>
                </a:solidFill>
                <a:highlight>
                  <a:srgbClr val="FFFF00"/>
                </a:highlight>
                <a:cs typeface="Verdana"/>
              </a:rPr>
              <a:t>Purdue OWL</a:t>
            </a:r>
            <a:r>
              <a:rPr sz="1800" spc="-35" dirty="0">
                <a:solidFill>
                  <a:srgbClr val="7E5209"/>
                </a:solidFill>
                <a:cs typeface="Verdana"/>
              </a:rPr>
              <a:t> </a:t>
            </a:r>
            <a:r>
              <a:rPr sz="1800" dirty="0">
                <a:solidFill>
                  <a:srgbClr val="7E5209"/>
                </a:solidFill>
                <a:cs typeface="Verdana"/>
              </a:rPr>
              <a:t>to</a:t>
            </a:r>
            <a:r>
              <a:rPr sz="1800" spc="-85" dirty="0">
                <a:solidFill>
                  <a:srgbClr val="7E5209"/>
                </a:solidFill>
                <a:cs typeface="Verdana"/>
              </a:rPr>
              <a:t> </a:t>
            </a:r>
            <a:r>
              <a:rPr sz="1800" dirty="0">
                <a:solidFill>
                  <a:srgbClr val="7E5209"/>
                </a:solidFill>
                <a:cs typeface="Verdana"/>
              </a:rPr>
              <a:t>learn</a:t>
            </a:r>
            <a:r>
              <a:rPr sz="1800" spc="-15" dirty="0">
                <a:solidFill>
                  <a:srgbClr val="7E5209"/>
                </a:solidFill>
                <a:cs typeface="Verdana"/>
              </a:rPr>
              <a:t> </a:t>
            </a:r>
            <a:r>
              <a:rPr sz="1800" dirty="0">
                <a:solidFill>
                  <a:srgbClr val="7E5209"/>
                </a:solidFill>
                <a:cs typeface="Verdana"/>
              </a:rPr>
              <a:t>more</a:t>
            </a:r>
            <a:r>
              <a:rPr sz="1800" spc="-35" dirty="0">
                <a:solidFill>
                  <a:srgbClr val="7E5209"/>
                </a:solidFill>
                <a:cs typeface="Verdana"/>
              </a:rPr>
              <a:t> </a:t>
            </a:r>
            <a:r>
              <a:rPr sz="1800" dirty="0">
                <a:solidFill>
                  <a:srgbClr val="7E5209"/>
                </a:solidFill>
                <a:cs typeface="Verdana"/>
              </a:rPr>
              <a:t>about</a:t>
            </a:r>
            <a:r>
              <a:rPr sz="1800" spc="-60" dirty="0">
                <a:solidFill>
                  <a:srgbClr val="7E5209"/>
                </a:solidFill>
                <a:cs typeface="Verdana"/>
              </a:rPr>
              <a:t> </a:t>
            </a:r>
            <a:r>
              <a:rPr sz="1800" spc="-25" dirty="0">
                <a:solidFill>
                  <a:srgbClr val="7E5209"/>
                </a:solidFill>
                <a:cs typeface="Verdana"/>
              </a:rPr>
              <a:t>the what, </a:t>
            </a:r>
            <a:r>
              <a:rPr sz="1800" dirty="0">
                <a:solidFill>
                  <a:srgbClr val="7E5209"/>
                </a:solidFill>
                <a:cs typeface="Verdana"/>
              </a:rPr>
              <a:t>where</a:t>
            </a:r>
            <a:r>
              <a:rPr sz="1800" spc="-145" dirty="0">
                <a:solidFill>
                  <a:srgbClr val="7E5209"/>
                </a:solidFill>
                <a:cs typeface="Verdana"/>
              </a:rPr>
              <a:t> </a:t>
            </a:r>
            <a:r>
              <a:rPr sz="1800" spc="65" dirty="0">
                <a:solidFill>
                  <a:srgbClr val="7E5209"/>
                </a:solidFill>
                <a:cs typeface="Verdana"/>
              </a:rPr>
              <a:t>when</a:t>
            </a:r>
            <a:r>
              <a:rPr sz="1800" spc="-120" dirty="0">
                <a:solidFill>
                  <a:srgbClr val="7E5209"/>
                </a:solidFill>
                <a:cs typeface="Verdana"/>
              </a:rPr>
              <a:t> </a:t>
            </a:r>
            <a:r>
              <a:rPr sz="1800" dirty="0">
                <a:solidFill>
                  <a:srgbClr val="7E5209"/>
                </a:solidFill>
                <a:cs typeface="Verdana"/>
              </a:rPr>
              <a:t>and</a:t>
            </a:r>
            <a:r>
              <a:rPr sz="1800" spc="-40" dirty="0">
                <a:solidFill>
                  <a:srgbClr val="7E5209"/>
                </a:solidFill>
                <a:cs typeface="Verdana"/>
              </a:rPr>
              <a:t> </a:t>
            </a:r>
            <a:r>
              <a:rPr sz="1800" spc="60" dirty="0">
                <a:solidFill>
                  <a:srgbClr val="7E5209"/>
                </a:solidFill>
                <a:cs typeface="Verdana"/>
              </a:rPr>
              <a:t>how</a:t>
            </a:r>
            <a:r>
              <a:rPr sz="1800" spc="-25" dirty="0">
                <a:solidFill>
                  <a:srgbClr val="7E5209"/>
                </a:solidFill>
                <a:cs typeface="Verdana"/>
              </a:rPr>
              <a:t> </a:t>
            </a:r>
            <a:r>
              <a:rPr sz="1800" dirty="0">
                <a:solidFill>
                  <a:srgbClr val="7E5209"/>
                </a:solidFill>
                <a:cs typeface="Verdana"/>
              </a:rPr>
              <a:t>to</a:t>
            </a:r>
            <a:r>
              <a:rPr sz="1800" spc="390" dirty="0">
                <a:solidFill>
                  <a:srgbClr val="7E5209"/>
                </a:solidFill>
                <a:cs typeface="Verdana"/>
              </a:rPr>
              <a:t> </a:t>
            </a:r>
            <a:r>
              <a:rPr sz="1800" dirty="0">
                <a:solidFill>
                  <a:srgbClr val="7E5209"/>
                </a:solidFill>
                <a:cs typeface="Verdana"/>
              </a:rPr>
              <a:t>cite</a:t>
            </a:r>
            <a:r>
              <a:rPr sz="1800" spc="-55" dirty="0">
                <a:solidFill>
                  <a:srgbClr val="7E5209"/>
                </a:solidFill>
                <a:cs typeface="Verdana"/>
              </a:rPr>
              <a:t> </a:t>
            </a:r>
            <a:r>
              <a:rPr sz="1800" dirty="0">
                <a:solidFill>
                  <a:srgbClr val="7E5209"/>
                </a:solidFill>
                <a:cs typeface="Verdana"/>
              </a:rPr>
              <a:t>and</a:t>
            </a:r>
            <a:r>
              <a:rPr sz="1800" spc="-40" dirty="0">
                <a:solidFill>
                  <a:srgbClr val="7E5209"/>
                </a:solidFill>
                <a:cs typeface="Verdana"/>
              </a:rPr>
              <a:t> </a:t>
            </a:r>
            <a:r>
              <a:rPr sz="1800" dirty="0">
                <a:solidFill>
                  <a:srgbClr val="7E5209"/>
                </a:solidFill>
                <a:cs typeface="Verdana"/>
              </a:rPr>
              <a:t>reference</a:t>
            </a:r>
            <a:r>
              <a:rPr sz="1800" spc="-240" dirty="0">
                <a:solidFill>
                  <a:srgbClr val="7E5209"/>
                </a:solidFill>
                <a:cs typeface="Verdana"/>
              </a:rPr>
              <a:t> </a:t>
            </a:r>
            <a:r>
              <a:rPr sz="1800" spc="-25" dirty="0">
                <a:solidFill>
                  <a:srgbClr val="7E5209"/>
                </a:solidFill>
                <a:cs typeface="Verdana"/>
              </a:rPr>
              <a:t>your</a:t>
            </a:r>
            <a:r>
              <a:rPr sz="1800" spc="-165" dirty="0">
                <a:solidFill>
                  <a:srgbClr val="7E5209"/>
                </a:solidFill>
                <a:cs typeface="Verdana"/>
              </a:rPr>
              <a:t> </a:t>
            </a:r>
            <a:r>
              <a:rPr sz="1800" dirty="0">
                <a:solidFill>
                  <a:srgbClr val="7E5209"/>
                </a:solidFill>
                <a:cs typeface="Verdana"/>
              </a:rPr>
              <a:t>information</a:t>
            </a:r>
            <a:r>
              <a:rPr sz="1800" spc="50" dirty="0">
                <a:solidFill>
                  <a:srgbClr val="7E5209"/>
                </a:solidFill>
                <a:cs typeface="Verdana"/>
              </a:rPr>
              <a:t> </a:t>
            </a:r>
            <a:r>
              <a:rPr sz="1800" spc="-10" dirty="0">
                <a:solidFill>
                  <a:srgbClr val="7E5209"/>
                </a:solidFill>
                <a:cs typeface="Verdana"/>
              </a:rPr>
              <a:t>sources.</a:t>
            </a:r>
            <a:endParaRPr sz="1800" dirty="0">
              <a:cs typeface="Verdana"/>
            </a:endParaRPr>
          </a:p>
          <a:p>
            <a:pPr>
              <a:lnSpc>
                <a:spcPct val="100000"/>
              </a:lnSpc>
            </a:pPr>
            <a:endParaRPr sz="1800" dirty="0">
              <a:cs typeface="Verdana"/>
            </a:endParaRPr>
          </a:p>
          <a:p>
            <a:pPr>
              <a:lnSpc>
                <a:spcPct val="100000"/>
              </a:lnSpc>
              <a:spcBef>
                <a:spcPts val="10"/>
              </a:spcBef>
            </a:pPr>
            <a:endParaRPr sz="1800" dirty="0">
              <a:cs typeface="Verdana"/>
            </a:endParaRPr>
          </a:p>
          <a:p>
            <a:pPr marL="1385570">
              <a:lnSpc>
                <a:spcPct val="100000"/>
              </a:lnSpc>
            </a:pPr>
            <a:r>
              <a:rPr sz="1800" b="1" spc="-125" dirty="0">
                <a:solidFill>
                  <a:srgbClr val="00B050"/>
                </a:solidFill>
                <a:cs typeface="Verdana"/>
              </a:rPr>
              <a:t>Tip:</a:t>
            </a:r>
            <a:r>
              <a:rPr sz="1800" b="1" spc="-114" dirty="0">
                <a:solidFill>
                  <a:srgbClr val="00B050"/>
                </a:solidFill>
                <a:cs typeface="Verdana"/>
              </a:rPr>
              <a:t> </a:t>
            </a:r>
            <a:r>
              <a:rPr sz="1800" b="1" spc="-90" dirty="0">
                <a:solidFill>
                  <a:srgbClr val="00B050"/>
                </a:solidFill>
                <a:cs typeface="Verdana"/>
              </a:rPr>
              <a:t>use</a:t>
            </a:r>
            <a:r>
              <a:rPr sz="1800" b="1" spc="-110" dirty="0">
                <a:solidFill>
                  <a:srgbClr val="00B050"/>
                </a:solidFill>
                <a:cs typeface="Verdana"/>
              </a:rPr>
              <a:t> </a:t>
            </a:r>
            <a:r>
              <a:rPr sz="1800" b="1" spc="-105" dirty="0">
                <a:solidFill>
                  <a:srgbClr val="00B050"/>
                </a:solidFill>
                <a:cs typeface="Verdana"/>
              </a:rPr>
              <a:t>a</a:t>
            </a:r>
            <a:r>
              <a:rPr sz="1800" b="1" spc="-155" dirty="0">
                <a:solidFill>
                  <a:srgbClr val="00B050"/>
                </a:solidFill>
                <a:cs typeface="Verdana"/>
              </a:rPr>
              <a:t> </a:t>
            </a:r>
            <a:r>
              <a:rPr sz="1800" b="1" spc="-75" dirty="0">
                <a:solidFill>
                  <a:srgbClr val="00B050"/>
                </a:solidFill>
                <a:cs typeface="Verdana"/>
              </a:rPr>
              <a:t>reference</a:t>
            </a:r>
            <a:r>
              <a:rPr sz="1800" b="1" spc="-10" dirty="0">
                <a:solidFill>
                  <a:srgbClr val="00B050"/>
                </a:solidFill>
                <a:cs typeface="Verdana"/>
              </a:rPr>
              <a:t> manager</a:t>
            </a:r>
            <a:endParaRPr sz="1800" dirty="0">
              <a:solidFill>
                <a:srgbClr val="00B050"/>
              </a:solidFill>
              <a:cs typeface="Verdana"/>
            </a:endParaRPr>
          </a:p>
        </p:txBody>
      </p:sp>
      <p:sp>
        <p:nvSpPr>
          <p:cNvPr id="4" name="object 5">
            <a:extLst>
              <a:ext uri="{FF2B5EF4-FFF2-40B4-BE49-F238E27FC236}">
                <a16:creationId xmlns:a16="http://schemas.microsoft.com/office/drawing/2014/main" id="{7F1799DA-5F15-65FB-43C0-3A5247ECA9D7}"/>
              </a:ext>
            </a:extLst>
          </p:cNvPr>
          <p:cNvSpPr/>
          <p:nvPr/>
        </p:nvSpPr>
        <p:spPr>
          <a:xfrm>
            <a:off x="314326" y="5721927"/>
            <a:ext cx="544656" cy="703587"/>
          </a:xfrm>
          <a:custGeom>
            <a:avLst/>
            <a:gdLst/>
            <a:ahLst/>
            <a:cxnLst/>
            <a:rect l="l" t="t" r="r" b="b"/>
            <a:pathLst>
              <a:path w="490219" h="791845">
                <a:moveTo>
                  <a:pt x="306324" y="735152"/>
                </a:moveTo>
                <a:lnTo>
                  <a:pt x="183794" y="735152"/>
                </a:lnTo>
                <a:lnTo>
                  <a:pt x="190055" y="757504"/>
                </a:lnTo>
                <a:lnTo>
                  <a:pt x="203466" y="775449"/>
                </a:lnTo>
                <a:lnTo>
                  <a:pt x="222364" y="787374"/>
                </a:lnTo>
                <a:lnTo>
                  <a:pt x="245059" y="791705"/>
                </a:lnTo>
                <a:lnTo>
                  <a:pt x="267754" y="787374"/>
                </a:lnTo>
                <a:lnTo>
                  <a:pt x="286651" y="775449"/>
                </a:lnTo>
                <a:lnTo>
                  <a:pt x="300062" y="757504"/>
                </a:lnTo>
                <a:lnTo>
                  <a:pt x="306324" y="735152"/>
                </a:lnTo>
                <a:close/>
              </a:path>
              <a:path w="490219" h="791845">
                <a:moveTo>
                  <a:pt x="367588" y="669175"/>
                </a:moveTo>
                <a:lnTo>
                  <a:pt x="365429" y="657999"/>
                </a:lnTo>
                <a:lnTo>
                  <a:pt x="359460" y="649033"/>
                </a:lnTo>
                <a:lnTo>
                  <a:pt x="350494" y="643064"/>
                </a:lnTo>
                <a:lnTo>
                  <a:pt x="339318" y="640905"/>
                </a:lnTo>
                <a:lnTo>
                  <a:pt x="150812" y="640905"/>
                </a:lnTo>
                <a:lnTo>
                  <a:pt x="139623" y="643064"/>
                </a:lnTo>
                <a:lnTo>
                  <a:pt x="130657" y="649033"/>
                </a:lnTo>
                <a:lnTo>
                  <a:pt x="124701" y="657999"/>
                </a:lnTo>
                <a:lnTo>
                  <a:pt x="122529" y="669175"/>
                </a:lnTo>
                <a:lnTo>
                  <a:pt x="124701" y="680351"/>
                </a:lnTo>
                <a:lnTo>
                  <a:pt x="130657" y="689317"/>
                </a:lnTo>
                <a:lnTo>
                  <a:pt x="139623" y="695286"/>
                </a:lnTo>
                <a:lnTo>
                  <a:pt x="150812" y="697445"/>
                </a:lnTo>
                <a:lnTo>
                  <a:pt x="339318" y="697445"/>
                </a:lnTo>
                <a:lnTo>
                  <a:pt x="350494" y="695286"/>
                </a:lnTo>
                <a:lnTo>
                  <a:pt x="359460" y="689317"/>
                </a:lnTo>
                <a:lnTo>
                  <a:pt x="365429" y="680351"/>
                </a:lnTo>
                <a:lnTo>
                  <a:pt x="367588" y="669175"/>
                </a:lnTo>
                <a:close/>
              </a:path>
              <a:path w="490219" h="791845">
                <a:moveTo>
                  <a:pt x="367588" y="574929"/>
                </a:moveTo>
                <a:lnTo>
                  <a:pt x="365429" y="563753"/>
                </a:lnTo>
                <a:lnTo>
                  <a:pt x="359460" y="554774"/>
                </a:lnTo>
                <a:lnTo>
                  <a:pt x="350494" y="548817"/>
                </a:lnTo>
                <a:lnTo>
                  <a:pt x="339318" y="546646"/>
                </a:lnTo>
                <a:lnTo>
                  <a:pt x="150812" y="546646"/>
                </a:lnTo>
                <a:lnTo>
                  <a:pt x="139623" y="548817"/>
                </a:lnTo>
                <a:lnTo>
                  <a:pt x="130657" y="554774"/>
                </a:lnTo>
                <a:lnTo>
                  <a:pt x="124688" y="563753"/>
                </a:lnTo>
                <a:lnTo>
                  <a:pt x="122529" y="574929"/>
                </a:lnTo>
                <a:lnTo>
                  <a:pt x="124701" y="586105"/>
                </a:lnTo>
                <a:lnTo>
                  <a:pt x="130657" y="595071"/>
                </a:lnTo>
                <a:lnTo>
                  <a:pt x="139623" y="601040"/>
                </a:lnTo>
                <a:lnTo>
                  <a:pt x="150812" y="603199"/>
                </a:lnTo>
                <a:lnTo>
                  <a:pt x="339318" y="603199"/>
                </a:lnTo>
                <a:lnTo>
                  <a:pt x="350494" y="601040"/>
                </a:lnTo>
                <a:lnTo>
                  <a:pt x="359460" y="595071"/>
                </a:lnTo>
                <a:lnTo>
                  <a:pt x="365429" y="586105"/>
                </a:lnTo>
                <a:lnTo>
                  <a:pt x="367588" y="574929"/>
                </a:lnTo>
                <a:close/>
              </a:path>
              <a:path w="490219" h="791845">
                <a:moveTo>
                  <a:pt x="490118" y="242227"/>
                </a:moveTo>
                <a:lnTo>
                  <a:pt x="484276" y="193433"/>
                </a:lnTo>
                <a:lnTo>
                  <a:pt x="469569" y="148386"/>
                </a:lnTo>
                <a:lnTo>
                  <a:pt x="446633" y="107022"/>
                </a:lnTo>
                <a:lnTo>
                  <a:pt x="434517" y="92544"/>
                </a:lnTo>
                <a:lnTo>
                  <a:pt x="434517" y="242227"/>
                </a:lnTo>
                <a:lnTo>
                  <a:pt x="434517" y="249758"/>
                </a:lnTo>
                <a:lnTo>
                  <a:pt x="433565" y="249758"/>
                </a:lnTo>
                <a:lnTo>
                  <a:pt x="432168" y="266700"/>
                </a:lnTo>
                <a:lnTo>
                  <a:pt x="429450" y="283464"/>
                </a:lnTo>
                <a:lnTo>
                  <a:pt x="414172" y="329666"/>
                </a:lnTo>
                <a:lnTo>
                  <a:pt x="388327" y="367576"/>
                </a:lnTo>
                <a:lnTo>
                  <a:pt x="372630" y="387718"/>
                </a:lnTo>
                <a:lnTo>
                  <a:pt x="358165" y="408571"/>
                </a:lnTo>
                <a:lnTo>
                  <a:pt x="345122" y="430136"/>
                </a:lnTo>
                <a:lnTo>
                  <a:pt x="333654" y="452399"/>
                </a:lnTo>
                <a:lnTo>
                  <a:pt x="157403" y="452399"/>
                </a:lnTo>
                <a:lnTo>
                  <a:pt x="132194" y="408571"/>
                </a:lnTo>
                <a:lnTo>
                  <a:pt x="102730" y="367576"/>
                </a:lnTo>
                <a:lnTo>
                  <a:pt x="93218" y="355765"/>
                </a:lnTo>
                <a:lnTo>
                  <a:pt x="84594" y="343065"/>
                </a:lnTo>
                <a:lnTo>
                  <a:pt x="65176" y="299859"/>
                </a:lnTo>
                <a:lnTo>
                  <a:pt x="57569" y="250710"/>
                </a:lnTo>
                <a:lnTo>
                  <a:pt x="57492" y="242227"/>
                </a:lnTo>
                <a:lnTo>
                  <a:pt x="64884" y="193433"/>
                </a:lnTo>
                <a:lnTo>
                  <a:pt x="64973" y="192798"/>
                </a:lnTo>
                <a:lnTo>
                  <a:pt x="84378" y="148386"/>
                </a:lnTo>
                <a:lnTo>
                  <a:pt x="113931" y="110744"/>
                </a:lnTo>
                <a:lnTo>
                  <a:pt x="151892" y="81584"/>
                </a:lnTo>
                <a:lnTo>
                  <a:pt x="196494" y="62623"/>
                </a:lnTo>
                <a:lnTo>
                  <a:pt x="245999" y="55613"/>
                </a:lnTo>
                <a:lnTo>
                  <a:pt x="295973" y="62623"/>
                </a:lnTo>
                <a:lnTo>
                  <a:pt x="295668" y="62623"/>
                </a:lnTo>
                <a:lnTo>
                  <a:pt x="340118" y="81368"/>
                </a:lnTo>
                <a:lnTo>
                  <a:pt x="378079" y="110388"/>
                </a:lnTo>
                <a:lnTo>
                  <a:pt x="407670" y="148043"/>
                </a:lnTo>
                <a:lnTo>
                  <a:pt x="427024" y="192468"/>
                </a:lnTo>
                <a:lnTo>
                  <a:pt x="434517" y="242227"/>
                </a:lnTo>
                <a:lnTo>
                  <a:pt x="434517" y="92544"/>
                </a:lnTo>
                <a:lnTo>
                  <a:pt x="416725" y="71272"/>
                </a:lnTo>
                <a:lnTo>
                  <a:pt x="397586" y="55613"/>
                </a:lnTo>
                <a:lnTo>
                  <a:pt x="380669" y="41770"/>
                </a:lnTo>
                <a:lnTo>
                  <a:pt x="339420" y="19431"/>
                </a:lnTo>
                <a:lnTo>
                  <a:pt x="293903" y="5194"/>
                </a:lnTo>
                <a:lnTo>
                  <a:pt x="245059" y="0"/>
                </a:lnTo>
                <a:lnTo>
                  <a:pt x="196215" y="5194"/>
                </a:lnTo>
                <a:lnTo>
                  <a:pt x="150698" y="19431"/>
                </a:lnTo>
                <a:lnTo>
                  <a:pt x="109448" y="41770"/>
                </a:lnTo>
                <a:lnTo>
                  <a:pt x="73406" y="71272"/>
                </a:lnTo>
                <a:lnTo>
                  <a:pt x="43484" y="107022"/>
                </a:lnTo>
                <a:lnTo>
                  <a:pt x="20662" y="148043"/>
                </a:lnTo>
                <a:lnTo>
                  <a:pt x="5854" y="193433"/>
                </a:lnTo>
                <a:lnTo>
                  <a:pt x="0" y="242227"/>
                </a:lnTo>
                <a:lnTo>
                  <a:pt x="0" y="250710"/>
                </a:lnTo>
                <a:lnTo>
                  <a:pt x="4953" y="293827"/>
                </a:lnTo>
                <a:lnTo>
                  <a:pt x="16967" y="335534"/>
                </a:lnTo>
                <a:lnTo>
                  <a:pt x="35344" y="372173"/>
                </a:lnTo>
                <a:lnTo>
                  <a:pt x="59385" y="405269"/>
                </a:lnTo>
                <a:lnTo>
                  <a:pt x="76454" y="427278"/>
                </a:lnTo>
                <a:lnTo>
                  <a:pt x="92722" y="453339"/>
                </a:lnTo>
                <a:lnTo>
                  <a:pt x="106692" y="478701"/>
                </a:lnTo>
                <a:lnTo>
                  <a:pt x="116878" y="498589"/>
                </a:lnTo>
                <a:lnTo>
                  <a:pt x="119697" y="505180"/>
                </a:lnTo>
                <a:lnTo>
                  <a:pt x="126301" y="508952"/>
                </a:lnTo>
                <a:lnTo>
                  <a:pt x="363816" y="508952"/>
                </a:lnTo>
                <a:lnTo>
                  <a:pt x="370420" y="505180"/>
                </a:lnTo>
                <a:lnTo>
                  <a:pt x="373253" y="498589"/>
                </a:lnTo>
                <a:lnTo>
                  <a:pt x="383425" y="478701"/>
                </a:lnTo>
                <a:lnTo>
                  <a:pt x="397395" y="453339"/>
                </a:lnTo>
                <a:lnTo>
                  <a:pt x="397992" y="452399"/>
                </a:lnTo>
                <a:lnTo>
                  <a:pt x="413677" y="427278"/>
                </a:lnTo>
                <a:lnTo>
                  <a:pt x="430745" y="405269"/>
                </a:lnTo>
                <a:lnTo>
                  <a:pt x="443598" y="389204"/>
                </a:lnTo>
                <a:lnTo>
                  <a:pt x="455129" y="372173"/>
                </a:lnTo>
                <a:lnTo>
                  <a:pt x="473151" y="335534"/>
                </a:lnTo>
                <a:lnTo>
                  <a:pt x="485178" y="293827"/>
                </a:lnTo>
                <a:lnTo>
                  <a:pt x="490118" y="250710"/>
                </a:lnTo>
                <a:lnTo>
                  <a:pt x="490118" y="242227"/>
                </a:lnTo>
                <a:close/>
              </a:path>
            </a:pathLst>
          </a:custGeom>
          <a:solidFill>
            <a:srgbClr val="D24625"/>
          </a:solidFill>
        </p:spPr>
        <p:txBody>
          <a:bodyPr wrap="square" lIns="0" tIns="0" rIns="0" bIns="0" rtlCol="0"/>
          <a:lstStyle/>
          <a:p>
            <a:endParaRPr/>
          </a:p>
        </p:txBody>
      </p:sp>
    </p:spTree>
    <p:extLst>
      <p:ext uri="{BB962C8B-B14F-4D97-AF65-F5344CB8AC3E}">
        <p14:creationId xmlns:p14="http://schemas.microsoft.com/office/powerpoint/2010/main" val="3551451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DA8B7-3F4A-06C8-7063-7EBC70CD5B84}"/>
              </a:ext>
            </a:extLst>
          </p:cNvPr>
          <p:cNvSpPr txBox="1">
            <a:spLocks/>
          </p:cNvSpPr>
          <p:nvPr/>
        </p:nvSpPr>
        <p:spPr>
          <a:xfrm>
            <a:off x="457200" y="274638"/>
            <a:ext cx="954405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dirty="0">
                <a:solidFill>
                  <a:schemeClr val="bg1"/>
                </a:solidFill>
              </a:rPr>
              <a:t>Reference Management Tools Overview</a:t>
            </a:r>
          </a:p>
        </p:txBody>
      </p:sp>
      <p:sp>
        <p:nvSpPr>
          <p:cNvPr id="3" name="Content Placeholder 2">
            <a:extLst>
              <a:ext uri="{FF2B5EF4-FFF2-40B4-BE49-F238E27FC236}">
                <a16:creationId xmlns:a16="http://schemas.microsoft.com/office/drawing/2014/main" id="{6ABB94D6-7DDB-B75E-FFEB-734F9308E001}"/>
              </a:ext>
            </a:extLst>
          </p:cNvPr>
          <p:cNvSpPr txBox="1">
            <a:spLocks/>
          </p:cNvSpPr>
          <p:nvPr/>
        </p:nvSpPr>
        <p:spPr>
          <a:xfrm>
            <a:off x="457199" y="1600200"/>
            <a:ext cx="10258425" cy="482917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kern="0" dirty="0"/>
              <a:t>Reference management tools</a:t>
            </a:r>
            <a:r>
              <a:rPr lang="en-US" sz="2000" kern="0" dirty="0"/>
              <a:t> help researchers:</a:t>
            </a:r>
          </a:p>
          <a:p>
            <a:pPr marL="800100" lvl="1" indent="-342900">
              <a:buFont typeface="Arial" panose="020B0604020202020204" pitchFamily="34" charset="0"/>
              <a:buChar char="•"/>
            </a:pPr>
            <a:r>
              <a:rPr lang="en-US" sz="2000" kern="0" dirty="0"/>
              <a:t>Organize and store references</a:t>
            </a:r>
          </a:p>
          <a:p>
            <a:pPr marL="800100" lvl="1" indent="-342900">
              <a:buFont typeface="Arial" panose="020B0604020202020204" pitchFamily="34" charset="0"/>
              <a:buChar char="•"/>
            </a:pPr>
            <a:r>
              <a:rPr lang="en-US" sz="2000" kern="0" dirty="0"/>
              <a:t>Generate citations and bibliographies</a:t>
            </a:r>
          </a:p>
          <a:p>
            <a:pPr marL="800100" lvl="1" indent="-342900">
              <a:buFont typeface="Arial" panose="020B0604020202020204" pitchFamily="34" charset="0"/>
              <a:buChar char="•"/>
            </a:pPr>
            <a:r>
              <a:rPr lang="en-US" sz="2000" kern="0" dirty="0"/>
              <a:t>Integrate with word processors</a:t>
            </a:r>
          </a:p>
          <a:p>
            <a:endParaRPr lang="en-US" sz="2000" kern="0" dirty="0"/>
          </a:p>
          <a:p>
            <a:r>
              <a:rPr lang="en-US" sz="2000" b="1" kern="0" dirty="0"/>
              <a:t>Comparison:</a:t>
            </a:r>
          </a:p>
          <a:p>
            <a:pPr lvl="1">
              <a:lnSpc>
                <a:spcPct val="150000"/>
              </a:lnSpc>
            </a:pPr>
            <a:r>
              <a:rPr lang="en-US" sz="2000" b="1" kern="0" dirty="0">
                <a:solidFill>
                  <a:schemeClr val="accent2">
                    <a:lumMod val="50000"/>
                  </a:schemeClr>
                </a:solidFill>
              </a:rPr>
              <a:t>• Zotero: </a:t>
            </a:r>
            <a:r>
              <a:rPr lang="en-US" sz="2000" kern="0" dirty="0"/>
              <a:t>Free, open-source, browser integration, good for collaboration</a:t>
            </a:r>
          </a:p>
          <a:p>
            <a:pPr lvl="1">
              <a:lnSpc>
                <a:spcPct val="150000"/>
              </a:lnSpc>
            </a:pPr>
            <a:r>
              <a:rPr lang="en-US" sz="2000" b="1" kern="0" dirty="0">
                <a:solidFill>
                  <a:schemeClr val="accent6">
                    <a:lumMod val="75000"/>
                  </a:schemeClr>
                </a:solidFill>
              </a:rPr>
              <a:t>• Mendeley: </a:t>
            </a:r>
            <a:r>
              <a:rPr lang="en-US" sz="2000" kern="0" dirty="0"/>
              <a:t>Free, PDF annotation, social features, owned by Elsevier</a:t>
            </a:r>
          </a:p>
          <a:p>
            <a:pPr lvl="1">
              <a:lnSpc>
                <a:spcPct val="150000"/>
              </a:lnSpc>
            </a:pPr>
            <a:r>
              <a:rPr lang="en-US" sz="2000" b="1" kern="0" dirty="0">
                <a:solidFill>
                  <a:srgbClr val="0070C0"/>
                </a:solidFill>
              </a:rPr>
              <a:t>• EndNote: </a:t>
            </a:r>
            <a:r>
              <a:rPr lang="en-US" sz="2000" kern="0" dirty="0"/>
              <a:t>Paid, advanced features, widely used in academia</a:t>
            </a:r>
          </a:p>
          <a:p>
            <a:endParaRPr lang="en-US" sz="2000" kern="0" dirty="0"/>
          </a:p>
          <a:p>
            <a:r>
              <a:rPr lang="en-US" sz="2000" b="1" kern="0" dirty="0"/>
              <a:t>Example:</a:t>
            </a:r>
          </a:p>
          <a:p>
            <a:r>
              <a:rPr lang="en-US" sz="2000" kern="0" dirty="0"/>
              <a:t>With Zotero plugin you can automatically save a journal article from Google Scholar and cite it in APA 7th format in Word.</a:t>
            </a:r>
          </a:p>
        </p:txBody>
      </p:sp>
    </p:spTree>
    <p:extLst>
      <p:ext uri="{BB962C8B-B14F-4D97-AF65-F5344CB8AC3E}">
        <p14:creationId xmlns:p14="http://schemas.microsoft.com/office/powerpoint/2010/main" val="4099081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6787F72C-DA8A-E5BD-3C08-57C6C7520FA9}"/>
              </a:ext>
            </a:extLst>
          </p:cNvPr>
          <p:cNvSpPr txBox="1">
            <a:spLocks/>
          </p:cNvSpPr>
          <p:nvPr/>
        </p:nvSpPr>
        <p:spPr>
          <a:xfrm>
            <a:off x="170337" y="188594"/>
            <a:ext cx="9488013" cy="748602"/>
          </a:xfrm>
          <a:prstGeom prst="rect">
            <a:avLst/>
          </a:prstGeom>
        </p:spPr>
        <p:txBody>
          <a:bodyPr vert="horz" wrap="square" lIns="0" tIns="375602"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5880">
              <a:spcBef>
                <a:spcPts val="125"/>
              </a:spcBef>
            </a:pPr>
            <a:r>
              <a:rPr lang="en-US" sz="2400" b="1" kern="0" dirty="0">
                <a:solidFill>
                  <a:schemeClr val="bg1"/>
                </a:solidFill>
              </a:rPr>
              <a:t>Using</a:t>
            </a:r>
            <a:r>
              <a:rPr lang="en-US" sz="2400" b="1" kern="0" spc="135" dirty="0">
                <a:solidFill>
                  <a:schemeClr val="bg1"/>
                </a:solidFill>
              </a:rPr>
              <a:t> </a:t>
            </a:r>
            <a:r>
              <a:rPr lang="en-US" sz="2400" b="1" kern="0" dirty="0">
                <a:solidFill>
                  <a:schemeClr val="bg1"/>
                </a:solidFill>
              </a:rPr>
              <a:t>Mendeley</a:t>
            </a:r>
            <a:r>
              <a:rPr lang="en-US" sz="2400" b="1" kern="0" spc="70" dirty="0">
                <a:solidFill>
                  <a:schemeClr val="bg1"/>
                </a:solidFill>
              </a:rPr>
              <a:t> </a:t>
            </a:r>
            <a:r>
              <a:rPr lang="en-US" sz="2400" b="1" kern="0" dirty="0">
                <a:solidFill>
                  <a:schemeClr val="bg1"/>
                </a:solidFill>
              </a:rPr>
              <a:t>to</a:t>
            </a:r>
            <a:r>
              <a:rPr lang="en-US" sz="2400" b="1" kern="0" spc="-5" dirty="0">
                <a:solidFill>
                  <a:schemeClr val="bg1"/>
                </a:solidFill>
              </a:rPr>
              <a:t> </a:t>
            </a:r>
            <a:r>
              <a:rPr lang="en-US" sz="2400" b="1" kern="0" dirty="0">
                <a:solidFill>
                  <a:schemeClr val="bg1"/>
                </a:solidFill>
              </a:rPr>
              <a:t>manage,</a:t>
            </a:r>
            <a:r>
              <a:rPr lang="en-US" sz="2400" b="1" kern="0" spc="220" dirty="0">
                <a:solidFill>
                  <a:schemeClr val="bg1"/>
                </a:solidFill>
              </a:rPr>
              <a:t> </a:t>
            </a:r>
            <a:r>
              <a:rPr lang="en-US" sz="2400" b="1" kern="0" dirty="0">
                <a:solidFill>
                  <a:schemeClr val="bg1"/>
                </a:solidFill>
              </a:rPr>
              <a:t>annotate</a:t>
            </a:r>
            <a:r>
              <a:rPr lang="en-US" sz="2400" b="1" kern="0" spc="170" dirty="0">
                <a:solidFill>
                  <a:schemeClr val="bg1"/>
                </a:solidFill>
              </a:rPr>
              <a:t> </a:t>
            </a:r>
            <a:r>
              <a:rPr lang="en-US" sz="2400" b="1" kern="0" dirty="0">
                <a:solidFill>
                  <a:schemeClr val="bg1"/>
                </a:solidFill>
              </a:rPr>
              <a:t>and</a:t>
            </a:r>
            <a:r>
              <a:rPr lang="en-US" sz="2400" b="1" kern="0" spc="135" dirty="0">
                <a:solidFill>
                  <a:schemeClr val="bg1"/>
                </a:solidFill>
              </a:rPr>
              <a:t> </a:t>
            </a:r>
            <a:r>
              <a:rPr lang="en-US" sz="2400" b="1" kern="0" dirty="0">
                <a:solidFill>
                  <a:schemeClr val="bg1"/>
                </a:solidFill>
              </a:rPr>
              <a:t>cite</a:t>
            </a:r>
            <a:r>
              <a:rPr lang="en-US" sz="2400" b="1" kern="0" spc="20" dirty="0">
                <a:solidFill>
                  <a:schemeClr val="bg1"/>
                </a:solidFill>
              </a:rPr>
              <a:t> </a:t>
            </a:r>
            <a:r>
              <a:rPr lang="en-US" sz="2400" b="1" kern="0" dirty="0">
                <a:solidFill>
                  <a:schemeClr val="bg1"/>
                </a:solidFill>
              </a:rPr>
              <a:t>your</a:t>
            </a:r>
            <a:r>
              <a:rPr lang="en-US" sz="2400" b="1" kern="0" spc="110" dirty="0">
                <a:solidFill>
                  <a:schemeClr val="bg1"/>
                </a:solidFill>
              </a:rPr>
              <a:t> </a:t>
            </a:r>
            <a:r>
              <a:rPr lang="en-US" sz="2400" b="1" kern="0" spc="-10" dirty="0">
                <a:solidFill>
                  <a:schemeClr val="bg1"/>
                </a:solidFill>
              </a:rPr>
              <a:t>research</a:t>
            </a:r>
          </a:p>
        </p:txBody>
      </p:sp>
      <p:sp>
        <p:nvSpPr>
          <p:cNvPr id="3" name="object 4">
            <a:extLst>
              <a:ext uri="{FF2B5EF4-FFF2-40B4-BE49-F238E27FC236}">
                <a16:creationId xmlns:a16="http://schemas.microsoft.com/office/drawing/2014/main" id="{A0B65085-9C71-8309-F6BC-B53081CAA9E3}"/>
              </a:ext>
            </a:extLst>
          </p:cNvPr>
          <p:cNvSpPr txBox="1"/>
          <p:nvPr/>
        </p:nvSpPr>
        <p:spPr>
          <a:xfrm>
            <a:off x="480058" y="1623060"/>
            <a:ext cx="9797732" cy="4519314"/>
          </a:xfrm>
          <a:prstGeom prst="rect">
            <a:avLst/>
          </a:prstGeom>
        </p:spPr>
        <p:txBody>
          <a:bodyPr vert="horz" wrap="square" lIns="0" tIns="12700" rIns="0" bIns="0" rtlCol="0">
            <a:spAutoFit/>
          </a:bodyPr>
          <a:lstStyle/>
          <a:p>
            <a:pPr marL="183515" indent="-170815">
              <a:lnSpc>
                <a:spcPct val="100000"/>
              </a:lnSpc>
              <a:spcBef>
                <a:spcPts val="100"/>
              </a:spcBef>
              <a:buFont typeface="Arial MT"/>
              <a:buChar char="•"/>
              <a:tabLst>
                <a:tab pos="183515" algn="l"/>
              </a:tabLst>
            </a:pPr>
            <a:r>
              <a:rPr sz="2400" b="1" spc="-75" dirty="0">
                <a:cs typeface="Verdana"/>
              </a:rPr>
              <a:t>Create</a:t>
            </a:r>
            <a:r>
              <a:rPr sz="2400" b="1" spc="-110" dirty="0">
                <a:cs typeface="Verdana"/>
              </a:rPr>
              <a:t> </a:t>
            </a:r>
            <a:r>
              <a:rPr sz="2400" b="1" spc="-55" dirty="0">
                <a:cs typeface="Verdana"/>
              </a:rPr>
              <a:t>an</a:t>
            </a:r>
            <a:r>
              <a:rPr sz="2400" b="1" spc="-90" dirty="0">
                <a:cs typeface="Verdana"/>
              </a:rPr>
              <a:t> </a:t>
            </a:r>
            <a:r>
              <a:rPr sz="2400" b="1" spc="-10" dirty="0">
                <a:cs typeface="Verdana"/>
              </a:rPr>
              <a:t>Account</a:t>
            </a:r>
            <a:r>
              <a:rPr sz="2400" spc="-10" dirty="0">
                <a:solidFill>
                  <a:srgbClr val="374151"/>
                </a:solidFill>
                <a:cs typeface="Verdana"/>
              </a:rPr>
              <a:t>:</a:t>
            </a:r>
            <a:endParaRPr sz="2400" dirty="0">
              <a:cs typeface="Verdana"/>
            </a:endParaRPr>
          </a:p>
          <a:p>
            <a:pPr marL="469900" marR="97155">
              <a:lnSpc>
                <a:spcPts val="2100"/>
              </a:lnSpc>
              <a:spcBef>
                <a:spcPts val="140"/>
              </a:spcBef>
            </a:pPr>
            <a:r>
              <a:rPr sz="2400" dirty="0">
                <a:solidFill>
                  <a:srgbClr val="374151"/>
                </a:solidFill>
                <a:cs typeface="Verdana"/>
              </a:rPr>
              <a:t>Go</a:t>
            </a:r>
            <a:r>
              <a:rPr sz="2400" spc="-114" dirty="0">
                <a:solidFill>
                  <a:srgbClr val="374151"/>
                </a:solidFill>
                <a:cs typeface="Verdana"/>
              </a:rPr>
              <a:t> </a:t>
            </a:r>
            <a:r>
              <a:rPr sz="2400" dirty="0">
                <a:solidFill>
                  <a:srgbClr val="374151"/>
                </a:solidFill>
                <a:cs typeface="Verdana"/>
              </a:rPr>
              <a:t>to</a:t>
            </a:r>
            <a:r>
              <a:rPr sz="2400" spc="-114" dirty="0">
                <a:solidFill>
                  <a:srgbClr val="374151"/>
                </a:solidFill>
                <a:cs typeface="Verdana"/>
              </a:rPr>
              <a:t> </a:t>
            </a:r>
            <a:r>
              <a:rPr sz="2400" dirty="0">
                <a:solidFill>
                  <a:srgbClr val="374151"/>
                </a:solidFill>
                <a:cs typeface="Verdana"/>
              </a:rPr>
              <a:t>the</a:t>
            </a:r>
            <a:r>
              <a:rPr sz="2400" spc="-155" dirty="0">
                <a:solidFill>
                  <a:srgbClr val="374151"/>
                </a:solidFill>
                <a:cs typeface="Verdana"/>
              </a:rPr>
              <a:t> </a:t>
            </a:r>
            <a:r>
              <a:rPr sz="2400" dirty="0">
                <a:solidFill>
                  <a:srgbClr val="374151"/>
                </a:solidFill>
                <a:cs typeface="Verdana"/>
              </a:rPr>
              <a:t>Mendeley</a:t>
            </a:r>
            <a:r>
              <a:rPr sz="2400" spc="-110" dirty="0">
                <a:solidFill>
                  <a:srgbClr val="374151"/>
                </a:solidFill>
                <a:cs typeface="Verdana"/>
              </a:rPr>
              <a:t> </a:t>
            </a:r>
            <a:r>
              <a:rPr sz="2400" dirty="0">
                <a:solidFill>
                  <a:srgbClr val="374151"/>
                </a:solidFill>
                <a:cs typeface="Verdana"/>
              </a:rPr>
              <a:t>website</a:t>
            </a:r>
            <a:r>
              <a:rPr sz="2400" spc="-70" dirty="0">
                <a:solidFill>
                  <a:srgbClr val="374151"/>
                </a:solidFill>
                <a:cs typeface="Verdana"/>
              </a:rPr>
              <a:t> </a:t>
            </a:r>
            <a:r>
              <a:rPr sz="2400" spc="-10" dirty="0">
                <a:solidFill>
                  <a:srgbClr val="374151"/>
                </a:solidFill>
                <a:cs typeface="Verdana"/>
              </a:rPr>
              <a:t>(</a:t>
            </a:r>
            <a:r>
              <a:rPr sz="2400" u="sng" spc="-10" dirty="0">
                <a:solidFill>
                  <a:srgbClr val="0462C1"/>
                </a:solidFill>
                <a:uFill>
                  <a:solidFill>
                    <a:srgbClr val="0462C1"/>
                  </a:solidFill>
                </a:uFill>
                <a:cs typeface="Verdana"/>
                <a:hlinkClick r:id="rId2"/>
              </a:rPr>
              <a:t>www.mendeley.com</a:t>
            </a:r>
            <a:r>
              <a:rPr sz="2400" spc="-10" dirty="0">
                <a:solidFill>
                  <a:srgbClr val="374151"/>
                </a:solidFill>
                <a:cs typeface="Verdana"/>
              </a:rPr>
              <a:t>)</a:t>
            </a:r>
            <a:r>
              <a:rPr sz="2400" spc="-5" dirty="0">
                <a:solidFill>
                  <a:srgbClr val="374151"/>
                </a:solidFill>
                <a:cs typeface="Verdana"/>
              </a:rPr>
              <a:t> </a:t>
            </a:r>
            <a:r>
              <a:rPr sz="2400" dirty="0">
                <a:solidFill>
                  <a:srgbClr val="374151"/>
                </a:solidFill>
                <a:cs typeface="Verdana"/>
              </a:rPr>
              <a:t>and</a:t>
            </a:r>
            <a:r>
              <a:rPr sz="2400" spc="-45" dirty="0">
                <a:solidFill>
                  <a:srgbClr val="374151"/>
                </a:solidFill>
                <a:cs typeface="Verdana"/>
              </a:rPr>
              <a:t> </a:t>
            </a:r>
            <a:r>
              <a:rPr sz="2400" dirty="0">
                <a:solidFill>
                  <a:srgbClr val="374151"/>
                </a:solidFill>
                <a:cs typeface="Verdana"/>
              </a:rPr>
              <a:t>sign</a:t>
            </a:r>
            <a:r>
              <a:rPr sz="2400" spc="-40" dirty="0">
                <a:solidFill>
                  <a:srgbClr val="374151"/>
                </a:solidFill>
                <a:cs typeface="Verdana"/>
              </a:rPr>
              <a:t> </a:t>
            </a:r>
            <a:r>
              <a:rPr sz="2400" spc="70" dirty="0">
                <a:solidFill>
                  <a:srgbClr val="374151"/>
                </a:solidFill>
                <a:cs typeface="Verdana"/>
              </a:rPr>
              <a:t>up</a:t>
            </a:r>
            <a:r>
              <a:rPr sz="2400" spc="-45" dirty="0">
                <a:solidFill>
                  <a:srgbClr val="374151"/>
                </a:solidFill>
                <a:cs typeface="Verdana"/>
              </a:rPr>
              <a:t> </a:t>
            </a:r>
            <a:r>
              <a:rPr sz="2400" spc="-20" dirty="0">
                <a:solidFill>
                  <a:srgbClr val="374151"/>
                </a:solidFill>
                <a:cs typeface="Verdana"/>
              </a:rPr>
              <a:t>for</a:t>
            </a:r>
            <a:r>
              <a:rPr sz="2400" spc="-80" dirty="0">
                <a:solidFill>
                  <a:srgbClr val="374151"/>
                </a:solidFill>
                <a:cs typeface="Verdana"/>
              </a:rPr>
              <a:t> </a:t>
            </a:r>
            <a:r>
              <a:rPr sz="2400" spc="-50" dirty="0">
                <a:solidFill>
                  <a:srgbClr val="374151"/>
                </a:solidFill>
                <a:cs typeface="Verdana"/>
              </a:rPr>
              <a:t>a </a:t>
            </a:r>
            <a:r>
              <a:rPr sz="2400" spc="-10" dirty="0">
                <a:solidFill>
                  <a:srgbClr val="374151"/>
                </a:solidFill>
                <a:cs typeface="Verdana"/>
              </a:rPr>
              <a:t>free</a:t>
            </a:r>
            <a:r>
              <a:rPr sz="2400" spc="-204" dirty="0">
                <a:solidFill>
                  <a:srgbClr val="374151"/>
                </a:solidFill>
                <a:cs typeface="Verdana"/>
              </a:rPr>
              <a:t> </a:t>
            </a:r>
            <a:r>
              <a:rPr sz="2400" spc="-10" dirty="0">
                <a:solidFill>
                  <a:srgbClr val="374151"/>
                </a:solidFill>
                <a:cs typeface="Verdana"/>
              </a:rPr>
              <a:t>account.</a:t>
            </a:r>
            <a:endParaRPr sz="2400" dirty="0">
              <a:cs typeface="Verdana"/>
            </a:endParaRPr>
          </a:p>
          <a:p>
            <a:pPr marL="469900" marR="1334770">
              <a:lnSpc>
                <a:spcPts val="2180"/>
              </a:lnSpc>
              <a:spcBef>
                <a:spcPts val="15"/>
              </a:spcBef>
            </a:pPr>
            <a:r>
              <a:rPr sz="2400" dirty="0">
                <a:solidFill>
                  <a:srgbClr val="374151"/>
                </a:solidFill>
                <a:cs typeface="Verdana"/>
              </a:rPr>
              <a:t>You</a:t>
            </a:r>
            <a:r>
              <a:rPr sz="2400" spc="5" dirty="0">
                <a:solidFill>
                  <a:srgbClr val="374151"/>
                </a:solidFill>
                <a:cs typeface="Verdana"/>
              </a:rPr>
              <a:t> </a:t>
            </a:r>
            <a:r>
              <a:rPr sz="2400" dirty="0">
                <a:solidFill>
                  <a:srgbClr val="374151"/>
                </a:solidFill>
                <a:cs typeface="Verdana"/>
              </a:rPr>
              <a:t>can</a:t>
            </a:r>
            <a:r>
              <a:rPr sz="2400" spc="-90" dirty="0">
                <a:solidFill>
                  <a:srgbClr val="374151"/>
                </a:solidFill>
                <a:cs typeface="Verdana"/>
              </a:rPr>
              <a:t> </a:t>
            </a:r>
            <a:r>
              <a:rPr sz="2400" spc="-35" dirty="0">
                <a:solidFill>
                  <a:srgbClr val="374151"/>
                </a:solidFill>
                <a:cs typeface="Verdana"/>
              </a:rPr>
              <a:t>also</a:t>
            </a:r>
            <a:r>
              <a:rPr sz="2400" spc="-75" dirty="0">
                <a:solidFill>
                  <a:srgbClr val="374151"/>
                </a:solidFill>
                <a:cs typeface="Verdana"/>
              </a:rPr>
              <a:t> </a:t>
            </a:r>
            <a:r>
              <a:rPr sz="2400" dirty="0">
                <a:solidFill>
                  <a:srgbClr val="374151"/>
                </a:solidFill>
                <a:cs typeface="Verdana"/>
              </a:rPr>
              <a:t>download</a:t>
            </a:r>
            <a:r>
              <a:rPr sz="2400" spc="95" dirty="0">
                <a:solidFill>
                  <a:srgbClr val="374151"/>
                </a:solidFill>
                <a:cs typeface="Verdana"/>
              </a:rPr>
              <a:t> </a:t>
            </a:r>
            <a:r>
              <a:rPr sz="2400" dirty="0">
                <a:solidFill>
                  <a:srgbClr val="374151"/>
                </a:solidFill>
                <a:cs typeface="Verdana"/>
              </a:rPr>
              <a:t>and </a:t>
            </a:r>
            <a:r>
              <a:rPr sz="2400" spc="-10" dirty="0">
                <a:solidFill>
                  <a:srgbClr val="374151"/>
                </a:solidFill>
                <a:cs typeface="Verdana"/>
              </a:rPr>
              <a:t>install</a:t>
            </a:r>
            <a:r>
              <a:rPr sz="2400" spc="80" dirty="0">
                <a:solidFill>
                  <a:srgbClr val="374151"/>
                </a:solidFill>
                <a:cs typeface="Verdana"/>
              </a:rPr>
              <a:t> </a:t>
            </a:r>
            <a:r>
              <a:rPr sz="2400" dirty="0">
                <a:solidFill>
                  <a:srgbClr val="374151"/>
                </a:solidFill>
                <a:cs typeface="Verdana"/>
              </a:rPr>
              <a:t>the</a:t>
            </a:r>
            <a:r>
              <a:rPr sz="2400" spc="-20" dirty="0">
                <a:solidFill>
                  <a:srgbClr val="374151"/>
                </a:solidFill>
                <a:cs typeface="Verdana"/>
              </a:rPr>
              <a:t> </a:t>
            </a:r>
            <a:r>
              <a:rPr sz="2400" dirty="0">
                <a:solidFill>
                  <a:srgbClr val="374151"/>
                </a:solidFill>
                <a:cs typeface="Verdana"/>
              </a:rPr>
              <a:t>Mendeley</a:t>
            </a:r>
            <a:r>
              <a:rPr sz="2400" spc="-160" dirty="0">
                <a:solidFill>
                  <a:srgbClr val="374151"/>
                </a:solidFill>
                <a:cs typeface="Verdana"/>
              </a:rPr>
              <a:t> </a:t>
            </a:r>
            <a:r>
              <a:rPr sz="2400" spc="-10" dirty="0">
                <a:solidFill>
                  <a:srgbClr val="374151"/>
                </a:solidFill>
                <a:cs typeface="Verdana"/>
              </a:rPr>
              <a:t>Desktop application.</a:t>
            </a:r>
            <a:endParaRPr sz="2400" dirty="0">
              <a:cs typeface="Verdana"/>
            </a:endParaRPr>
          </a:p>
          <a:p>
            <a:pPr marL="297815" indent="-285115">
              <a:lnSpc>
                <a:spcPts val="2130"/>
              </a:lnSpc>
              <a:spcBef>
                <a:spcPts val="2120"/>
              </a:spcBef>
              <a:buFont typeface="Arial MT"/>
              <a:buChar char="•"/>
              <a:tabLst>
                <a:tab pos="297815" algn="l"/>
              </a:tabLst>
            </a:pPr>
            <a:r>
              <a:rPr sz="2400" b="1" spc="-40" dirty="0">
                <a:cs typeface="Verdana"/>
              </a:rPr>
              <a:t>Once</a:t>
            </a:r>
            <a:r>
              <a:rPr sz="2400" b="1" spc="-100" dirty="0">
                <a:cs typeface="Verdana"/>
              </a:rPr>
              <a:t> </a:t>
            </a:r>
            <a:r>
              <a:rPr sz="2400" b="1" spc="-114" dirty="0">
                <a:cs typeface="Verdana"/>
              </a:rPr>
              <a:t>you've</a:t>
            </a:r>
            <a:r>
              <a:rPr sz="2400" b="1" spc="-95" dirty="0">
                <a:cs typeface="Verdana"/>
              </a:rPr>
              <a:t> </a:t>
            </a:r>
            <a:r>
              <a:rPr sz="2400" b="1" spc="-70" dirty="0">
                <a:cs typeface="Verdana"/>
              </a:rPr>
              <a:t>created</a:t>
            </a:r>
            <a:r>
              <a:rPr sz="2400" b="1" spc="5" dirty="0">
                <a:cs typeface="Verdana"/>
              </a:rPr>
              <a:t> </a:t>
            </a:r>
            <a:r>
              <a:rPr sz="2400" b="1" spc="-100" dirty="0">
                <a:cs typeface="Verdana"/>
              </a:rPr>
              <a:t>a</a:t>
            </a:r>
            <a:r>
              <a:rPr sz="2400" b="1" spc="-65" dirty="0">
                <a:cs typeface="Verdana"/>
              </a:rPr>
              <a:t> </a:t>
            </a:r>
            <a:r>
              <a:rPr sz="2400" b="1" spc="-60" dirty="0">
                <a:cs typeface="Verdana"/>
              </a:rPr>
              <a:t>Mendeley</a:t>
            </a:r>
            <a:r>
              <a:rPr sz="2400" b="1" spc="-105" dirty="0">
                <a:cs typeface="Verdana"/>
              </a:rPr>
              <a:t> </a:t>
            </a:r>
            <a:r>
              <a:rPr sz="2400" b="1" spc="-50" dirty="0">
                <a:cs typeface="Verdana"/>
              </a:rPr>
              <a:t>account</a:t>
            </a:r>
            <a:r>
              <a:rPr sz="2400" b="1" spc="-120" dirty="0">
                <a:cs typeface="Verdana"/>
              </a:rPr>
              <a:t> </a:t>
            </a:r>
            <a:r>
              <a:rPr sz="2400" b="1" spc="-70" dirty="0">
                <a:cs typeface="Verdana"/>
              </a:rPr>
              <a:t>you</a:t>
            </a:r>
            <a:r>
              <a:rPr sz="2400" b="1" spc="-45" dirty="0">
                <a:cs typeface="Verdana"/>
              </a:rPr>
              <a:t> </a:t>
            </a:r>
            <a:r>
              <a:rPr sz="2400" b="1" spc="-100" dirty="0">
                <a:cs typeface="Verdana"/>
              </a:rPr>
              <a:t>will</a:t>
            </a:r>
            <a:r>
              <a:rPr sz="2400" b="1" spc="-95" dirty="0">
                <a:cs typeface="Verdana"/>
              </a:rPr>
              <a:t> </a:t>
            </a:r>
            <a:r>
              <a:rPr sz="2400" b="1" spc="-20" dirty="0">
                <a:cs typeface="Verdana"/>
              </a:rPr>
              <a:t>be</a:t>
            </a:r>
            <a:r>
              <a:rPr sz="2400" b="1" spc="-90" dirty="0">
                <a:cs typeface="Verdana"/>
              </a:rPr>
              <a:t> </a:t>
            </a:r>
            <a:r>
              <a:rPr sz="2400" b="1" spc="-70" dirty="0">
                <a:cs typeface="Verdana"/>
              </a:rPr>
              <a:t>able</a:t>
            </a:r>
            <a:r>
              <a:rPr sz="2400" b="1" spc="-170" dirty="0">
                <a:cs typeface="Verdana"/>
              </a:rPr>
              <a:t> </a:t>
            </a:r>
            <a:r>
              <a:rPr sz="2400" b="1" spc="-60" dirty="0">
                <a:cs typeface="Verdana"/>
              </a:rPr>
              <a:t>to </a:t>
            </a:r>
            <a:r>
              <a:rPr sz="2400" b="1" spc="-25" dirty="0">
                <a:cs typeface="Verdana"/>
              </a:rPr>
              <a:t>:-</a:t>
            </a:r>
            <a:endParaRPr sz="2400" dirty="0">
              <a:cs typeface="Verdana"/>
            </a:endParaRPr>
          </a:p>
          <a:p>
            <a:pPr marL="1212850" lvl="1" indent="-285115">
              <a:lnSpc>
                <a:spcPts val="2130"/>
              </a:lnSpc>
              <a:buFont typeface="Wingdings"/>
              <a:buChar char=""/>
              <a:tabLst>
                <a:tab pos="1212850" algn="l"/>
              </a:tabLst>
            </a:pPr>
            <a:r>
              <a:rPr sz="2400" dirty="0">
                <a:solidFill>
                  <a:srgbClr val="0D0D0D"/>
                </a:solidFill>
                <a:cs typeface="Verdana"/>
              </a:rPr>
              <a:t>Import</a:t>
            </a:r>
            <a:r>
              <a:rPr sz="2400" spc="5" dirty="0">
                <a:solidFill>
                  <a:srgbClr val="0D0D0D"/>
                </a:solidFill>
                <a:cs typeface="Verdana"/>
              </a:rPr>
              <a:t> </a:t>
            </a:r>
            <a:r>
              <a:rPr sz="2400" dirty="0">
                <a:solidFill>
                  <a:srgbClr val="0D0D0D"/>
                </a:solidFill>
                <a:cs typeface="Verdana"/>
              </a:rPr>
              <a:t>references</a:t>
            </a:r>
            <a:r>
              <a:rPr sz="2400" spc="-180" dirty="0">
                <a:solidFill>
                  <a:srgbClr val="0D0D0D"/>
                </a:solidFill>
                <a:cs typeface="Verdana"/>
              </a:rPr>
              <a:t> </a:t>
            </a:r>
            <a:r>
              <a:rPr sz="2400" spc="-254" dirty="0">
                <a:solidFill>
                  <a:srgbClr val="0D0D0D"/>
                </a:solidFill>
                <a:cs typeface="Verdana"/>
              </a:rPr>
              <a:t>–</a:t>
            </a:r>
            <a:r>
              <a:rPr sz="2400" spc="-285" dirty="0">
                <a:solidFill>
                  <a:srgbClr val="0D0D0D"/>
                </a:solidFill>
                <a:cs typeface="Verdana"/>
              </a:rPr>
              <a:t> </a:t>
            </a:r>
            <a:r>
              <a:rPr sz="2400" dirty="0">
                <a:solidFill>
                  <a:srgbClr val="0D0D0D"/>
                </a:solidFill>
                <a:cs typeface="Verdana"/>
              </a:rPr>
              <a:t>PDFs,</a:t>
            </a:r>
            <a:r>
              <a:rPr sz="2400" spc="-100" dirty="0">
                <a:solidFill>
                  <a:srgbClr val="0D0D0D"/>
                </a:solidFill>
                <a:cs typeface="Verdana"/>
              </a:rPr>
              <a:t> </a:t>
            </a:r>
            <a:r>
              <a:rPr sz="2400" dirty="0">
                <a:solidFill>
                  <a:srgbClr val="0D0D0D"/>
                </a:solidFill>
                <a:cs typeface="Verdana"/>
              </a:rPr>
              <a:t>from</a:t>
            </a:r>
            <a:r>
              <a:rPr sz="2400" spc="-70" dirty="0">
                <a:solidFill>
                  <a:srgbClr val="0D0D0D"/>
                </a:solidFill>
                <a:cs typeface="Verdana"/>
              </a:rPr>
              <a:t> </a:t>
            </a:r>
            <a:r>
              <a:rPr sz="2400" spc="-10" dirty="0">
                <a:solidFill>
                  <a:srgbClr val="0D0D0D"/>
                </a:solidFill>
                <a:cs typeface="Verdana"/>
              </a:rPr>
              <a:t>databases</a:t>
            </a:r>
            <a:endParaRPr sz="2400" dirty="0">
              <a:cs typeface="Verdana"/>
            </a:endParaRPr>
          </a:p>
          <a:p>
            <a:pPr marL="1212850" lvl="1" indent="-285115">
              <a:lnSpc>
                <a:spcPct val="100000"/>
              </a:lnSpc>
              <a:spcBef>
                <a:spcPts val="15"/>
              </a:spcBef>
              <a:buFont typeface="Wingdings"/>
              <a:buChar char=""/>
              <a:tabLst>
                <a:tab pos="1212850" algn="l"/>
              </a:tabLst>
            </a:pPr>
            <a:r>
              <a:rPr sz="2400" dirty="0">
                <a:solidFill>
                  <a:srgbClr val="0D0D0D"/>
                </a:solidFill>
                <a:cs typeface="Verdana"/>
              </a:rPr>
              <a:t>Organise</a:t>
            </a:r>
            <a:r>
              <a:rPr sz="2400" spc="70" dirty="0">
                <a:solidFill>
                  <a:srgbClr val="0D0D0D"/>
                </a:solidFill>
                <a:cs typeface="Verdana"/>
              </a:rPr>
              <a:t> </a:t>
            </a:r>
            <a:r>
              <a:rPr sz="2400" dirty="0">
                <a:solidFill>
                  <a:srgbClr val="0D0D0D"/>
                </a:solidFill>
                <a:cs typeface="Verdana"/>
              </a:rPr>
              <a:t>references</a:t>
            </a:r>
            <a:r>
              <a:rPr sz="2400" spc="-135" dirty="0">
                <a:solidFill>
                  <a:srgbClr val="0D0D0D"/>
                </a:solidFill>
                <a:cs typeface="Verdana"/>
              </a:rPr>
              <a:t> </a:t>
            </a:r>
            <a:r>
              <a:rPr sz="2400" dirty="0">
                <a:solidFill>
                  <a:srgbClr val="0D0D0D"/>
                </a:solidFill>
                <a:cs typeface="Verdana"/>
              </a:rPr>
              <a:t>into</a:t>
            </a:r>
            <a:r>
              <a:rPr sz="2400" spc="-250" dirty="0">
                <a:solidFill>
                  <a:srgbClr val="0D0D0D"/>
                </a:solidFill>
                <a:cs typeface="Verdana"/>
              </a:rPr>
              <a:t> </a:t>
            </a:r>
            <a:r>
              <a:rPr sz="2400" spc="-10" dirty="0">
                <a:solidFill>
                  <a:srgbClr val="0D0D0D"/>
                </a:solidFill>
                <a:cs typeface="Verdana"/>
              </a:rPr>
              <a:t>folders/collections</a:t>
            </a:r>
            <a:endParaRPr sz="2400" dirty="0">
              <a:cs typeface="Verdana"/>
            </a:endParaRPr>
          </a:p>
          <a:p>
            <a:pPr marL="1212850" lvl="1" indent="-285115">
              <a:lnSpc>
                <a:spcPct val="100000"/>
              </a:lnSpc>
              <a:spcBef>
                <a:spcPts val="20"/>
              </a:spcBef>
              <a:buFont typeface="Wingdings"/>
              <a:buChar char=""/>
              <a:tabLst>
                <a:tab pos="1212850" algn="l"/>
              </a:tabLst>
            </a:pPr>
            <a:r>
              <a:rPr sz="2400" spc="65" dirty="0">
                <a:solidFill>
                  <a:srgbClr val="0D0D0D"/>
                </a:solidFill>
                <a:cs typeface="Verdana"/>
              </a:rPr>
              <a:t>Add</a:t>
            </a:r>
            <a:r>
              <a:rPr sz="2400" spc="-45" dirty="0">
                <a:solidFill>
                  <a:srgbClr val="0D0D0D"/>
                </a:solidFill>
                <a:cs typeface="Verdana"/>
              </a:rPr>
              <a:t> </a:t>
            </a:r>
            <a:r>
              <a:rPr sz="2400" dirty="0">
                <a:solidFill>
                  <a:srgbClr val="0D0D0D"/>
                </a:solidFill>
                <a:cs typeface="Verdana"/>
              </a:rPr>
              <a:t>comments,</a:t>
            </a:r>
            <a:r>
              <a:rPr sz="2400" spc="-114" dirty="0">
                <a:solidFill>
                  <a:srgbClr val="0D0D0D"/>
                </a:solidFill>
                <a:cs typeface="Verdana"/>
              </a:rPr>
              <a:t> </a:t>
            </a:r>
            <a:r>
              <a:rPr sz="2400" dirty="0">
                <a:solidFill>
                  <a:srgbClr val="0D0D0D"/>
                </a:solidFill>
                <a:cs typeface="Verdana"/>
              </a:rPr>
              <a:t>annotations and</a:t>
            </a:r>
            <a:r>
              <a:rPr sz="2400" spc="-45" dirty="0">
                <a:solidFill>
                  <a:srgbClr val="0D0D0D"/>
                </a:solidFill>
                <a:cs typeface="Verdana"/>
              </a:rPr>
              <a:t> </a:t>
            </a:r>
            <a:r>
              <a:rPr sz="2400" dirty="0">
                <a:solidFill>
                  <a:srgbClr val="0D0D0D"/>
                </a:solidFill>
                <a:cs typeface="Verdana"/>
              </a:rPr>
              <a:t>tags</a:t>
            </a:r>
            <a:r>
              <a:rPr sz="2400" spc="-85" dirty="0">
                <a:solidFill>
                  <a:srgbClr val="0D0D0D"/>
                </a:solidFill>
                <a:cs typeface="Verdana"/>
              </a:rPr>
              <a:t> </a:t>
            </a:r>
            <a:r>
              <a:rPr sz="2400" dirty="0">
                <a:solidFill>
                  <a:srgbClr val="0D0D0D"/>
                </a:solidFill>
                <a:cs typeface="Verdana"/>
              </a:rPr>
              <a:t>to</a:t>
            </a:r>
            <a:r>
              <a:rPr sz="2400" spc="-110" dirty="0">
                <a:solidFill>
                  <a:srgbClr val="0D0D0D"/>
                </a:solidFill>
                <a:cs typeface="Verdana"/>
              </a:rPr>
              <a:t> </a:t>
            </a:r>
            <a:r>
              <a:rPr sz="2400" spc="-25" dirty="0">
                <a:solidFill>
                  <a:srgbClr val="0D0D0D"/>
                </a:solidFill>
                <a:cs typeface="Verdana"/>
              </a:rPr>
              <a:t>your</a:t>
            </a:r>
            <a:r>
              <a:rPr sz="2400" spc="-135" dirty="0">
                <a:solidFill>
                  <a:srgbClr val="0D0D0D"/>
                </a:solidFill>
                <a:cs typeface="Verdana"/>
              </a:rPr>
              <a:t> </a:t>
            </a:r>
            <a:r>
              <a:rPr sz="2400" spc="-10" dirty="0">
                <a:solidFill>
                  <a:srgbClr val="0D0D0D"/>
                </a:solidFill>
                <a:cs typeface="Verdana"/>
              </a:rPr>
              <a:t>references</a:t>
            </a:r>
            <a:endParaRPr sz="2400" dirty="0">
              <a:cs typeface="Verdana"/>
            </a:endParaRPr>
          </a:p>
          <a:p>
            <a:pPr marL="1212850" lvl="1" indent="-285115">
              <a:lnSpc>
                <a:spcPct val="100000"/>
              </a:lnSpc>
              <a:spcBef>
                <a:spcPts val="20"/>
              </a:spcBef>
              <a:buFont typeface="Wingdings"/>
              <a:buChar char=""/>
              <a:tabLst>
                <a:tab pos="1212850" algn="l"/>
              </a:tabLst>
            </a:pPr>
            <a:r>
              <a:rPr sz="2400" dirty="0">
                <a:solidFill>
                  <a:srgbClr val="0D0D0D"/>
                </a:solidFill>
                <a:cs typeface="Verdana"/>
              </a:rPr>
              <a:t>Generate</a:t>
            </a:r>
            <a:r>
              <a:rPr sz="2400" spc="-195" dirty="0">
                <a:solidFill>
                  <a:srgbClr val="0D0D0D"/>
                </a:solidFill>
                <a:cs typeface="Verdana"/>
              </a:rPr>
              <a:t> </a:t>
            </a:r>
            <a:r>
              <a:rPr sz="2400" dirty="0">
                <a:solidFill>
                  <a:srgbClr val="0D0D0D"/>
                </a:solidFill>
                <a:cs typeface="Verdana"/>
              </a:rPr>
              <a:t>citations</a:t>
            </a:r>
            <a:r>
              <a:rPr sz="2400" spc="-25" dirty="0">
                <a:solidFill>
                  <a:srgbClr val="0D0D0D"/>
                </a:solidFill>
                <a:cs typeface="Verdana"/>
              </a:rPr>
              <a:t> </a:t>
            </a:r>
            <a:r>
              <a:rPr sz="2400" dirty="0">
                <a:solidFill>
                  <a:srgbClr val="0D0D0D"/>
                </a:solidFill>
                <a:cs typeface="Verdana"/>
              </a:rPr>
              <a:t>and</a:t>
            </a:r>
            <a:r>
              <a:rPr sz="2400" spc="20" dirty="0">
                <a:solidFill>
                  <a:srgbClr val="0D0D0D"/>
                </a:solidFill>
                <a:cs typeface="Verdana"/>
              </a:rPr>
              <a:t> </a:t>
            </a:r>
            <a:r>
              <a:rPr sz="2400" dirty="0">
                <a:solidFill>
                  <a:srgbClr val="0D0D0D"/>
                </a:solidFill>
                <a:cs typeface="Verdana"/>
              </a:rPr>
              <a:t>export</a:t>
            </a:r>
            <a:r>
              <a:rPr sz="2400" spc="-120" dirty="0">
                <a:solidFill>
                  <a:srgbClr val="0D0D0D"/>
                </a:solidFill>
                <a:cs typeface="Verdana"/>
              </a:rPr>
              <a:t> </a:t>
            </a:r>
            <a:r>
              <a:rPr sz="2400" dirty="0">
                <a:solidFill>
                  <a:srgbClr val="0D0D0D"/>
                </a:solidFill>
                <a:cs typeface="Verdana"/>
              </a:rPr>
              <a:t>reference</a:t>
            </a:r>
            <a:r>
              <a:rPr sz="2400" spc="-195" dirty="0">
                <a:solidFill>
                  <a:srgbClr val="0D0D0D"/>
                </a:solidFill>
                <a:cs typeface="Verdana"/>
              </a:rPr>
              <a:t> </a:t>
            </a:r>
            <a:r>
              <a:rPr sz="2400" spc="-10" dirty="0">
                <a:solidFill>
                  <a:srgbClr val="0D0D0D"/>
                </a:solidFill>
                <a:cs typeface="Verdana"/>
              </a:rPr>
              <a:t>lists</a:t>
            </a:r>
            <a:endParaRPr sz="2400" dirty="0">
              <a:cs typeface="Verdana"/>
            </a:endParaRPr>
          </a:p>
          <a:p>
            <a:pPr marL="1212850" lvl="1" indent="-285115">
              <a:lnSpc>
                <a:spcPts val="2130"/>
              </a:lnSpc>
              <a:spcBef>
                <a:spcPts val="15"/>
              </a:spcBef>
              <a:buFont typeface="Wingdings"/>
              <a:buChar char=""/>
              <a:tabLst>
                <a:tab pos="1212850" algn="l"/>
              </a:tabLst>
            </a:pPr>
            <a:r>
              <a:rPr sz="2400" dirty="0">
                <a:solidFill>
                  <a:srgbClr val="0D0D0D"/>
                </a:solidFill>
                <a:cs typeface="Verdana"/>
              </a:rPr>
              <a:t>Cite</a:t>
            </a:r>
            <a:r>
              <a:rPr sz="2400" spc="-90" dirty="0">
                <a:solidFill>
                  <a:srgbClr val="0D0D0D"/>
                </a:solidFill>
                <a:cs typeface="Verdana"/>
              </a:rPr>
              <a:t> </a:t>
            </a:r>
            <a:r>
              <a:rPr sz="2400" dirty="0">
                <a:solidFill>
                  <a:srgbClr val="0D0D0D"/>
                </a:solidFill>
                <a:cs typeface="Verdana"/>
              </a:rPr>
              <a:t>while</a:t>
            </a:r>
            <a:r>
              <a:rPr sz="2400" spc="-5" dirty="0">
                <a:solidFill>
                  <a:srgbClr val="0D0D0D"/>
                </a:solidFill>
                <a:cs typeface="Verdana"/>
              </a:rPr>
              <a:t> </a:t>
            </a:r>
            <a:r>
              <a:rPr sz="2400" dirty="0">
                <a:solidFill>
                  <a:srgbClr val="0D0D0D"/>
                </a:solidFill>
                <a:cs typeface="Verdana"/>
              </a:rPr>
              <a:t>you</a:t>
            </a:r>
            <a:r>
              <a:rPr sz="2400" spc="-55" dirty="0">
                <a:solidFill>
                  <a:srgbClr val="0D0D0D"/>
                </a:solidFill>
                <a:cs typeface="Verdana"/>
              </a:rPr>
              <a:t> </a:t>
            </a:r>
            <a:r>
              <a:rPr sz="2400" dirty="0">
                <a:solidFill>
                  <a:srgbClr val="0D0D0D"/>
                </a:solidFill>
                <a:cs typeface="Verdana"/>
              </a:rPr>
              <a:t>write</a:t>
            </a:r>
            <a:r>
              <a:rPr sz="2400" spc="-90" dirty="0">
                <a:solidFill>
                  <a:srgbClr val="0D0D0D"/>
                </a:solidFill>
                <a:cs typeface="Verdana"/>
              </a:rPr>
              <a:t> </a:t>
            </a:r>
            <a:r>
              <a:rPr sz="2400" dirty="0">
                <a:solidFill>
                  <a:srgbClr val="0D0D0D"/>
                </a:solidFill>
                <a:cs typeface="Verdana"/>
              </a:rPr>
              <a:t>in</a:t>
            </a:r>
            <a:r>
              <a:rPr sz="2400" spc="-65" dirty="0">
                <a:solidFill>
                  <a:srgbClr val="0D0D0D"/>
                </a:solidFill>
                <a:cs typeface="Verdana"/>
              </a:rPr>
              <a:t> </a:t>
            </a:r>
            <a:r>
              <a:rPr sz="2400" dirty="0">
                <a:solidFill>
                  <a:srgbClr val="0D0D0D"/>
                </a:solidFill>
                <a:cs typeface="Verdana"/>
              </a:rPr>
              <a:t>Microsoft</a:t>
            </a:r>
            <a:r>
              <a:rPr sz="2400" spc="-190" dirty="0">
                <a:solidFill>
                  <a:srgbClr val="0D0D0D"/>
                </a:solidFill>
                <a:cs typeface="Verdana"/>
              </a:rPr>
              <a:t> </a:t>
            </a:r>
            <a:r>
              <a:rPr sz="2400" spc="65" dirty="0">
                <a:solidFill>
                  <a:srgbClr val="0D0D0D"/>
                </a:solidFill>
                <a:cs typeface="Verdana"/>
              </a:rPr>
              <a:t>Word</a:t>
            </a:r>
            <a:endParaRPr sz="2400" dirty="0">
              <a:cs typeface="Verdana"/>
            </a:endParaRPr>
          </a:p>
          <a:p>
            <a:pPr marL="1213485" marR="5080" lvl="1" indent="-285750">
              <a:lnSpc>
                <a:spcPts val="2180"/>
              </a:lnSpc>
              <a:spcBef>
                <a:spcPts val="25"/>
              </a:spcBef>
              <a:buFont typeface="Wingdings"/>
              <a:buChar char=""/>
              <a:tabLst>
                <a:tab pos="1213485" algn="l"/>
              </a:tabLst>
            </a:pPr>
            <a:r>
              <a:rPr sz="2400" dirty="0">
                <a:solidFill>
                  <a:srgbClr val="0D0D0D"/>
                </a:solidFill>
                <a:cs typeface="Verdana"/>
              </a:rPr>
              <a:t>Search</a:t>
            </a:r>
            <a:r>
              <a:rPr sz="2400" spc="-200" dirty="0">
                <a:solidFill>
                  <a:srgbClr val="0D0D0D"/>
                </a:solidFill>
                <a:cs typeface="Verdana"/>
              </a:rPr>
              <a:t> </a:t>
            </a:r>
            <a:r>
              <a:rPr sz="2400" spc="-20" dirty="0">
                <a:solidFill>
                  <a:srgbClr val="0D0D0D"/>
                </a:solidFill>
                <a:cs typeface="Verdana"/>
              </a:rPr>
              <a:t>for</a:t>
            </a:r>
            <a:r>
              <a:rPr sz="2400" spc="-55" dirty="0">
                <a:solidFill>
                  <a:srgbClr val="0D0D0D"/>
                </a:solidFill>
                <a:cs typeface="Verdana"/>
              </a:rPr>
              <a:t> </a:t>
            </a:r>
            <a:r>
              <a:rPr sz="2400" spc="55" dirty="0">
                <a:solidFill>
                  <a:srgbClr val="0D0D0D"/>
                </a:solidFill>
                <a:cs typeface="Verdana"/>
              </a:rPr>
              <a:t>open</a:t>
            </a:r>
            <a:r>
              <a:rPr sz="2400" spc="-10" dirty="0">
                <a:solidFill>
                  <a:srgbClr val="0D0D0D"/>
                </a:solidFill>
                <a:cs typeface="Verdana"/>
              </a:rPr>
              <a:t> </a:t>
            </a:r>
            <a:r>
              <a:rPr sz="2400" dirty="0">
                <a:solidFill>
                  <a:srgbClr val="0D0D0D"/>
                </a:solidFill>
                <a:cs typeface="Verdana"/>
              </a:rPr>
              <a:t>access</a:t>
            </a:r>
            <a:r>
              <a:rPr sz="2400" spc="-245" dirty="0">
                <a:solidFill>
                  <a:srgbClr val="0D0D0D"/>
                </a:solidFill>
                <a:cs typeface="Verdana"/>
              </a:rPr>
              <a:t> </a:t>
            </a:r>
            <a:r>
              <a:rPr sz="2400" spc="-10" dirty="0">
                <a:solidFill>
                  <a:srgbClr val="0D0D0D"/>
                </a:solidFill>
                <a:cs typeface="Verdana"/>
              </a:rPr>
              <a:t>articles</a:t>
            </a:r>
            <a:r>
              <a:rPr sz="2400" spc="-155" dirty="0">
                <a:solidFill>
                  <a:srgbClr val="0D0D0D"/>
                </a:solidFill>
                <a:cs typeface="Verdana"/>
              </a:rPr>
              <a:t> </a:t>
            </a:r>
            <a:r>
              <a:rPr sz="2400" dirty="0">
                <a:solidFill>
                  <a:srgbClr val="0D0D0D"/>
                </a:solidFill>
                <a:cs typeface="Verdana"/>
              </a:rPr>
              <a:t>in</a:t>
            </a:r>
            <a:r>
              <a:rPr sz="2400" spc="-10" dirty="0">
                <a:solidFill>
                  <a:srgbClr val="0D0D0D"/>
                </a:solidFill>
                <a:cs typeface="Verdana"/>
              </a:rPr>
              <a:t> </a:t>
            </a:r>
            <a:r>
              <a:rPr sz="2400" dirty="0">
                <a:solidFill>
                  <a:srgbClr val="0D0D0D"/>
                </a:solidFill>
                <a:cs typeface="Verdana"/>
              </a:rPr>
              <a:t>the</a:t>
            </a:r>
            <a:r>
              <a:rPr sz="2400" spc="-40" dirty="0">
                <a:solidFill>
                  <a:srgbClr val="0D0D0D"/>
                </a:solidFill>
                <a:cs typeface="Verdana"/>
              </a:rPr>
              <a:t> </a:t>
            </a:r>
            <a:r>
              <a:rPr sz="2400" dirty="0">
                <a:solidFill>
                  <a:srgbClr val="0D0D0D"/>
                </a:solidFill>
                <a:cs typeface="Verdana"/>
              </a:rPr>
              <a:t>Mendeley</a:t>
            </a:r>
            <a:r>
              <a:rPr sz="2400" spc="-85" dirty="0">
                <a:solidFill>
                  <a:srgbClr val="0D0D0D"/>
                </a:solidFill>
                <a:cs typeface="Verdana"/>
              </a:rPr>
              <a:t> </a:t>
            </a:r>
            <a:r>
              <a:rPr sz="2400" dirty="0">
                <a:solidFill>
                  <a:srgbClr val="0D0D0D"/>
                </a:solidFill>
                <a:cs typeface="Verdana"/>
              </a:rPr>
              <a:t>catalogue</a:t>
            </a:r>
            <a:r>
              <a:rPr sz="2400" spc="-35" dirty="0">
                <a:solidFill>
                  <a:srgbClr val="0D0D0D"/>
                </a:solidFill>
                <a:cs typeface="Verdana"/>
              </a:rPr>
              <a:t> </a:t>
            </a:r>
            <a:r>
              <a:rPr sz="2400" spc="-25" dirty="0">
                <a:solidFill>
                  <a:srgbClr val="0D0D0D"/>
                </a:solidFill>
                <a:cs typeface="Verdana"/>
              </a:rPr>
              <a:t>and </a:t>
            </a:r>
            <a:r>
              <a:rPr sz="2400" dirty="0">
                <a:solidFill>
                  <a:srgbClr val="0D0D0D"/>
                </a:solidFill>
                <a:cs typeface="Verdana"/>
              </a:rPr>
              <a:t>add</a:t>
            </a:r>
            <a:r>
              <a:rPr sz="2400" spc="-75" dirty="0">
                <a:solidFill>
                  <a:srgbClr val="0D0D0D"/>
                </a:solidFill>
                <a:cs typeface="Verdana"/>
              </a:rPr>
              <a:t> </a:t>
            </a:r>
            <a:r>
              <a:rPr sz="2400" spc="70" dirty="0">
                <a:solidFill>
                  <a:srgbClr val="0D0D0D"/>
                </a:solidFill>
                <a:cs typeface="Verdana"/>
              </a:rPr>
              <a:t>them</a:t>
            </a:r>
            <a:r>
              <a:rPr sz="2400" spc="-165" dirty="0">
                <a:solidFill>
                  <a:srgbClr val="0D0D0D"/>
                </a:solidFill>
                <a:cs typeface="Verdana"/>
              </a:rPr>
              <a:t> </a:t>
            </a:r>
            <a:r>
              <a:rPr sz="2400" dirty="0">
                <a:solidFill>
                  <a:srgbClr val="0D0D0D"/>
                </a:solidFill>
                <a:cs typeface="Verdana"/>
              </a:rPr>
              <a:t>to</a:t>
            </a:r>
            <a:r>
              <a:rPr sz="2400" spc="-130" dirty="0">
                <a:solidFill>
                  <a:srgbClr val="0D0D0D"/>
                </a:solidFill>
                <a:cs typeface="Verdana"/>
              </a:rPr>
              <a:t> </a:t>
            </a:r>
            <a:r>
              <a:rPr sz="2400" spc="-20" dirty="0">
                <a:solidFill>
                  <a:srgbClr val="0D0D0D"/>
                </a:solidFill>
                <a:cs typeface="Verdana"/>
              </a:rPr>
              <a:t>your</a:t>
            </a:r>
            <a:r>
              <a:rPr sz="2400" spc="-100" dirty="0">
                <a:solidFill>
                  <a:srgbClr val="0D0D0D"/>
                </a:solidFill>
                <a:cs typeface="Verdana"/>
              </a:rPr>
              <a:t> </a:t>
            </a:r>
            <a:r>
              <a:rPr sz="2400" spc="-10" dirty="0">
                <a:solidFill>
                  <a:srgbClr val="0D0D0D"/>
                </a:solidFill>
                <a:cs typeface="Verdana"/>
              </a:rPr>
              <a:t>library</a:t>
            </a:r>
            <a:endParaRPr sz="2400" dirty="0">
              <a:cs typeface="Verdana"/>
            </a:endParaRPr>
          </a:p>
          <a:p>
            <a:pPr marL="1212850" lvl="1" indent="-285115">
              <a:lnSpc>
                <a:spcPts val="2100"/>
              </a:lnSpc>
              <a:buFont typeface="Wingdings"/>
              <a:buChar char=""/>
              <a:tabLst>
                <a:tab pos="1212850" algn="l"/>
              </a:tabLst>
            </a:pPr>
            <a:r>
              <a:rPr sz="2400" dirty="0">
                <a:solidFill>
                  <a:srgbClr val="0D0D0D"/>
                </a:solidFill>
                <a:cs typeface="Verdana"/>
              </a:rPr>
              <a:t>Collaborate</a:t>
            </a:r>
            <a:r>
              <a:rPr sz="2400" spc="-15" dirty="0">
                <a:solidFill>
                  <a:srgbClr val="0D0D0D"/>
                </a:solidFill>
                <a:cs typeface="Verdana"/>
              </a:rPr>
              <a:t> </a:t>
            </a:r>
            <a:r>
              <a:rPr sz="2400" dirty="0">
                <a:solidFill>
                  <a:srgbClr val="0D0D0D"/>
                </a:solidFill>
                <a:cs typeface="Verdana"/>
              </a:rPr>
              <a:t>and</a:t>
            </a:r>
            <a:r>
              <a:rPr sz="2400" spc="-80" dirty="0">
                <a:solidFill>
                  <a:srgbClr val="0D0D0D"/>
                </a:solidFill>
                <a:cs typeface="Verdana"/>
              </a:rPr>
              <a:t> </a:t>
            </a:r>
            <a:r>
              <a:rPr sz="2400" spc="-20" dirty="0">
                <a:solidFill>
                  <a:srgbClr val="0D0D0D"/>
                </a:solidFill>
                <a:cs typeface="Verdana"/>
              </a:rPr>
              <a:t>share</a:t>
            </a:r>
            <a:endParaRPr sz="2400" dirty="0">
              <a:cs typeface="Verdana"/>
            </a:endParaRPr>
          </a:p>
        </p:txBody>
      </p:sp>
    </p:spTree>
    <p:extLst>
      <p:ext uri="{BB962C8B-B14F-4D97-AF65-F5344CB8AC3E}">
        <p14:creationId xmlns:p14="http://schemas.microsoft.com/office/powerpoint/2010/main" val="2974664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66CCA-E114-F465-D13E-CA2DF0482C7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336A374-34B7-3D3A-DC4F-ABF511A432FC}"/>
              </a:ext>
            </a:extLst>
          </p:cNvPr>
          <p:cNvSpPr txBox="1">
            <a:spLocks/>
          </p:cNvSpPr>
          <p:nvPr/>
        </p:nvSpPr>
        <p:spPr>
          <a:xfrm>
            <a:off x="457200" y="274638"/>
            <a:ext cx="1011555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dirty="0">
                <a:solidFill>
                  <a:schemeClr val="bg1"/>
                </a:solidFill>
              </a:rPr>
              <a:t>How to Use Zotero: Step-by-Step</a:t>
            </a:r>
          </a:p>
        </p:txBody>
      </p:sp>
      <p:sp>
        <p:nvSpPr>
          <p:cNvPr id="5" name="Content Placeholder 2">
            <a:extLst>
              <a:ext uri="{FF2B5EF4-FFF2-40B4-BE49-F238E27FC236}">
                <a16:creationId xmlns:a16="http://schemas.microsoft.com/office/drawing/2014/main" id="{00544287-74AC-62AE-B69C-356A1B0C971B}"/>
              </a:ext>
            </a:extLst>
          </p:cNvPr>
          <p:cNvSpPr txBox="1">
            <a:spLocks/>
          </p:cNvSpPr>
          <p:nvPr/>
        </p:nvSpPr>
        <p:spPr>
          <a:xfrm>
            <a:off x="457200" y="1600200"/>
            <a:ext cx="10115550"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kern="0" dirty="0"/>
              <a:t>1. Install Zotero from </a:t>
            </a:r>
            <a:r>
              <a:rPr lang="en-US" sz="2400" kern="0" dirty="0" err="1"/>
              <a:t>zotero.org</a:t>
            </a:r>
            <a:r>
              <a:rPr lang="en-US" sz="2400" kern="0" dirty="0"/>
              <a:t> and the browser connector</a:t>
            </a:r>
          </a:p>
          <a:p>
            <a:r>
              <a:rPr lang="en-US" sz="2400" kern="0" dirty="0"/>
              <a:t>2. Open Zotero and create a new library or collection</a:t>
            </a:r>
          </a:p>
          <a:p>
            <a:r>
              <a:rPr lang="en-US" sz="2400" kern="0" dirty="0"/>
              <a:t>3. Use the browser connector to save references from websites</a:t>
            </a:r>
          </a:p>
          <a:p>
            <a:r>
              <a:rPr lang="en-US" sz="2400" kern="0" dirty="0"/>
              <a:t>4. Drag and drop PDFs into Zotero to extract metadata</a:t>
            </a:r>
          </a:p>
          <a:p>
            <a:r>
              <a:rPr lang="en-US" sz="2400" kern="0" dirty="0"/>
              <a:t>5. Use the Word plugin to insert citations</a:t>
            </a:r>
          </a:p>
          <a:p>
            <a:r>
              <a:rPr lang="en-US" sz="2400" kern="0" dirty="0"/>
              <a:t>6. Generate a bibliography in APA 7th format</a:t>
            </a:r>
          </a:p>
          <a:p>
            <a:endParaRPr lang="en-US" sz="2400" kern="0" dirty="0"/>
          </a:p>
          <a:p>
            <a:r>
              <a:rPr lang="en-US" sz="2400" b="1" kern="0" dirty="0"/>
              <a:t>Example:</a:t>
            </a:r>
          </a:p>
          <a:p>
            <a:r>
              <a:rPr lang="en-US" sz="2400" kern="0" dirty="0"/>
              <a:t>Search for an article on </a:t>
            </a:r>
            <a:r>
              <a:rPr lang="en-US" sz="2400" b="1" kern="0" dirty="0"/>
              <a:t>Google Scholar </a:t>
            </a:r>
            <a:r>
              <a:rPr lang="en-US" sz="2400" kern="0" dirty="0"/>
              <a:t>→ </a:t>
            </a:r>
            <a:r>
              <a:rPr lang="en-US" sz="2400" b="1" kern="0" dirty="0"/>
              <a:t>Click Zotero icon </a:t>
            </a:r>
            <a:r>
              <a:rPr lang="en-US" sz="2400" kern="0" dirty="0"/>
              <a:t>→ Insert citation in Word → Generate bibliography</a:t>
            </a:r>
          </a:p>
        </p:txBody>
      </p:sp>
    </p:spTree>
    <p:extLst>
      <p:ext uri="{BB962C8B-B14F-4D97-AF65-F5344CB8AC3E}">
        <p14:creationId xmlns:p14="http://schemas.microsoft.com/office/powerpoint/2010/main" val="613245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B92E9E-C8DE-2C13-B7F8-602710789B61}"/>
              </a:ext>
            </a:extLst>
          </p:cNvPr>
          <p:cNvSpPr txBox="1"/>
          <p:nvPr/>
        </p:nvSpPr>
        <p:spPr>
          <a:xfrm>
            <a:off x="556591" y="1259228"/>
            <a:ext cx="10005391" cy="5267468"/>
          </a:xfrm>
          <a:prstGeom prst="rect">
            <a:avLst/>
          </a:prstGeom>
          <a:noFill/>
        </p:spPr>
        <p:txBody>
          <a:bodyPr wrap="square">
            <a:spAutoFit/>
          </a:bodyPr>
          <a:lstStyle/>
          <a:p>
            <a:pPr algn="l">
              <a:buNone/>
            </a:pPr>
            <a:endParaRPr lang="en-US" sz="2000" b="0" i="0" dirty="0">
              <a:solidFill>
                <a:srgbClr val="000000"/>
              </a:solidFill>
              <a:effectLst/>
            </a:endParaRPr>
          </a:p>
          <a:p>
            <a:pPr algn="l">
              <a:buNone/>
            </a:pPr>
            <a:r>
              <a:rPr lang="en-US" sz="2000" b="0" i="0" dirty="0">
                <a:solidFill>
                  <a:srgbClr val="000000"/>
                </a:solidFill>
                <a:effectLst/>
              </a:rPr>
              <a:t>Submission Deadline : Within 3–5 days after the webinar</a:t>
            </a:r>
          </a:p>
          <a:p>
            <a:pPr algn="l">
              <a:lnSpc>
                <a:spcPct val="150000"/>
              </a:lnSpc>
              <a:buNone/>
            </a:pPr>
            <a:r>
              <a:rPr lang="en-US" sz="2000" b="0" i="0" dirty="0">
                <a:solidFill>
                  <a:srgbClr val="000000"/>
                </a:solidFill>
                <a:effectLst/>
              </a:rPr>
              <a:t>1. Select a </a:t>
            </a:r>
            <a:r>
              <a:rPr lang="en-US" sz="2000" b="1" i="0" dirty="0">
                <a:solidFill>
                  <a:srgbClr val="000000"/>
                </a:solidFill>
                <a:effectLst/>
              </a:rPr>
              <a:t>150–200 word excerpt </a:t>
            </a:r>
            <a:r>
              <a:rPr lang="en-US" sz="2000" b="0" i="0" dirty="0">
                <a:solidFill>
                  <a:srgbClr val="000000"/>
                </a:solidFill>
                <a:effectLst/>
              </a:rPr>
              <a:t>from your dissertation work-in-progress. This can be </a:t>
            </a:r>
            <a:r>
              <a:rPr lang="en-US" sz="2000" b="1" i="0" dirty="0">
                <a:solidFill>
                  <a:srgbClr val="000000"/>
                </a:solidFill>
                <a:effectLst/>
              </a:rPr>
              <a:t>from your introduction, literature review, or theoretical framework chapter</a:t>
            </a:r>
            <a:r>
              <a:rPr lang="en-US" sz="2000" b="0" i="0" dirty="0">
                <a:solidFill>
                  <a:srgbClr val="000000"/>
                </a:solidFill>
                <a:effectLst/>
              </a:rPr>
              <a:t>.</a:t>
            </a:r>
          </a:p>
          <a:p>
            <a:pPr algn="l">
              <a:lnSpc>
                <a:spcPct val="150000"/>
              </a:lnSpc>
              <a:buNone/>
            </a:pPr>
            <a:r>
              <a:rPr lang="en-US" sz="2000" b="0" i="0" dirty="0">
                <a:solidFill>
                  <a:srgbClr val="000000"/>
                </a:solidFill>
                <a:effectLst/>
              </a:rPr>
              <a:t>2. Review and revise the excerpt to ensure all ideas that are not your own are cited correctly </a:t>
            </a:r>
            <a:r>
              <a:rPr lang="en-US" sz="2000" b="1" i="0" dirty="0">
                <a:solidFill>
                  <a:srgbClr val="000000"/>
                </a:solidFill>
                <a:effectLst/>
              </a:rPr>
              <a:t>using APA 7th edition in-text citation format</a:t>
            </a:r>
            <a:r>
              <a:rPr lang="en-US" sz="2000" b="0" i="0" dirty="0">
                <a:solidFill>
                  <a:srgbClr val="000000"/>
                </a:solidFill>
                <a:effectLst/>
              </a:rPr>
              <a:t>.</a:t>
            </a:r>
          </a:p>
          <a:p>
            <a:pPr algn="l">
              <a:lnSpc>
                <a:spcPct val="150000"/>
              </a:lnSpc>
              <a:buNone/>
            </a:pPr>
            <a:r>
              <a:rPr lang="en-US" sz="2000" b="0" i="0" dirty="0">
                <a:solidFill>
                  <a:srgbClr val="000000"/>
                </a:solidFill>
                <a:effectLst/>
              </a:rPr>
              <a:t>3. Attach the </a:t>
            </a:r>
            <a:r>
              <a:rPr lang="en-US" sz="2000" b="1" i="0" dirty="0">
                <a:solidFill>
                  <a:srgbClr val="000000"/>
                </a:solidFill>
                <a:effectLst/>
              </a:rPr>
              <a:t>reference list (minimum three entries) </a:t>
            </a:r>
            <a:r>
              <a:rPr lang="en-US" sz="2000" b="0" i="0" dirty="0">
                <a:solidFill>
                  <a:srgbClr val="000000"/>
                </a:solidFill>
                <a:effectLst/>
              </a:rPr>
              <a:t>for the sources you cited, formatted in proper APA 7th edition style.</a:t>
            </a:r>
          </a:p>
          <a:p>
            <a:pPr algn="l">
              <a:lnSpc>
                <a:spcPct val="150000"/>
              </a:lnSpc>
              <a:buNone/>
            </a:pPr>
            <a:r>
              <a:rPr lang="en-US" sz="2000" b="0" i="0" dirty="0">
                <a:solidFill>
                  <a:srgbClr val="000000"/>
                </a:solidFill>
                <a:effectLst/>
              </a:rPr>
              <a:t>4. Write a </a:t>
            </a:r>
            <a:r>
              <a:rPr lang="en-US" sz="2000" b="1" i="0" dirty="0">
                <a:solidFill>
                  <a:srgbClr val="000000"/>
                </a:solidFill>
                <a:effectLst/>
              </a:rPr>
              <a:t>short reflection (100–150 words) </a:t>
            </a:r>
            <a:r>
              <a:rPr lang="en-US" sz="2000" b="0" i="0" dirty="0">
                <a:solidFill>
                  <a:srgbClr val="000000"/>
                </a:solidFill>
                <a:effectLst/>
              </a:rPr>
              <a:t>answering the following:</a:t>
            </a:r>
          </a:p>
          <a:p>
            <a:pPr lvl="1">
              <a:lnSpc>
                <a:spcPct val="150000"/>
              </a:lnSpc>
            </a:pPr>
            <a:r>
              <a:rPr lang="en-US" sz="2000" b="0" i="0" dirty="0">
                <a:solidFill>
                  <a:srgbClr val="000000"/>
                </a:solidFill>
                <a:effectLst/>
              </a:rPr>
              <a:t>a) What citation challenges did you face when reviewing your own work?</a:t>
            </a:r>
          </a:p>
          <a:p>
            <a:pPr lvl="1">
              <a:lnSpc>
                <a:spcPct val="150000"/>
              </a:lnSpc>
            </a:pPr>
            <a:r>
              <a:rPr lang="en-US" sz="2000" b="0" i="0" dirty="0">
                <a:solidFill>
                  <a:srgbClr val="000000"/>
                </a:solidFill>
                <a:effectLst/>
              </a:rPr>
              <a:t>b) How did applying APA rules improve the clarity or credibility of your writing?</a:t>
            </a:r>
          </a:p>
          <a:p>
            <a:pPr lvl="1">
              <a:lnSpc>
                <a:spcPct val="150000"/>
              </a:lnSpc>
            </a:pPr>
            <a:r>
              <a:rPr lang="en-US" sz="2000" b="0" i="0" dirty="0">
                <a:solidFill>
                  <a:srgbClr val="000000"/>
                </a:solidFill>
                <a:effectLst/>
              </a:rPr>
              <a:t>c) What will you do differently going forward in citing and referencing your sources?</a:t>
            </a:r>
          </a:p>
        </p:txBody>
      </p:sp>
      <p:sp>
        <p:nvSpPr>
          <p:cNvPr id="4" name="TextBox 3">
            <a:extLst>
              <a:ext uri="{FF2B5EF4-FFF2-40B4-BE49-F238E27FC236}">
                <a16:creationId xmlns:a16="http://schemas.microsoft.com/office/drawing/2014/main" id="{3B1393CA-6D6F-FA48-4333-F1F838382955}"/>
              </a:ext>
            </a:extLst>
          </p:cNvPr>
          <p:cNvSpPr txBox="1"/>
          <p:nvPr/>
        </p:nvSpPr>
        <p:spPr>
          <a:xfrm>
            <a:off x="742121" y="331304"/>
            <a:ext cx="7540488" cy="461665"/>
          </a:xfrm>
          <a:prstGeom prst="rect">
            <a:avLst/>
          </a:prstGeom>
          <a:noFill/>
        </p:spPr>
        <p:txBody>
          <a:bodyPr wrap="square" rtlCol="0">
            <a:spAutoFit/>
          </a:bodyPr>
          <a:lstStyle/>
          <a:p>
            <a:r>
              <a:rPr lang="en-US" sz="2400" dirty="0">
                <a:solidFill>
                  <a:schemeClr val="bg1"/>
                </a:solidFill>
                <a:latin typeface="Times"/>
              </a:rPr>
              <a:t>Post webinar – (Reflection Exercise – Submission on LMS)</a:t>
            </a:r>
            <a:endParaRPr lang="en-AE" sz="2400" dirty="0">
              <a:solidFill>
                <a:schemeClr val="bg1"/>
              </a:solidFill>
            </a:endParaRPr>
          </a:p>
        </p:txBody>
      </p:sp>
    </p:spTree>
    <p:extLst>
      <p:ext uri="{BB962C8B-B14F-4D97-AF65-F5344CB8AC3E}">
        <p14:creationId xmlns:p14="http://schemas.microsoft.com/office/powerpoint/2010/main" val="2391524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9178-CBD2-12AA-58CC-35DF2C6DA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46DE9-DA6C-5D83-825C-B15BFE24C23E}"/>
              </a:ext>
            </a:extLst>
          </p:cNvPr>
          <p:cNvSpPr txBox="1">
            <a:spLocks/>
          </p:cNvSpPr>
          <p:nvPr/>
        </p:nvSpPr>
        <p:spPr>
          <a:xfrm>
            <a:off x="457200" y="274638"/>
            <a:ext cx="822960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a:solidFill>
                  <a:schemeClr val="bg1"/>
                </a:solidFill>
              </a:rPr>
              <a:t>APA Citation &amp; Writing Resources</a:t>
            </a:r>
          </a:p>
        </p:txBody>
      </p:sp>
      <p:sp>
        <p:nvSpPr>
          <p:cNvPr id="3" name="TextBox 2">
            <a:extLst>
              <a:ext uri="{FF2B5EF4-FFF2-40B4-BE49-F238E27FC236}">
                <a16:creationId xmlns:a16="http://schemas.microsoft.com/office/drawing/2014/main" id="{D6BD6285-D531-2156-A2C6-51314E2B210D}"/>
              </a:ext>
            </a:extLst>
          </p:cNvPr>
          <p:cNvSpPr txBox="1"/>
          <p:nvPr/>
        </p:nvSpPr>
        <p:spPr>
          <a:xfrm>
            <a:off x="457200" y="1097280"/>
            <a:ext cx="11253273" cy="1231106"/>
          </a:xfrm>
          <a:prstGeom prst="rect">
            <a:avLst/>
          </a:prstGeom>
          <a:noFill/>
        </p:spPr>
        <p:txBody>
          <a:bodyPr wrap="none">
            <a:spAutoFit/>
          </a:bodyPr>
          <a:lstStyle/>
          <a:p>
            <a:endParaRPr sz="2400"/>
          </a:p>
          <a:p>
            <a:r>
              <a:rPr b="1"/>
              <a:t>Academic Writer</a:t>
            </a:r>
          </a:p>
          <a:p>
            <a:r>
              <a:rPr sz="1600">
                <a:solidFill>
                  <a:srgbClr val="0000FF"/>
                </a:solidFill>
                <a:hlinkClick r:id="rId2"/>
              </a:rPr>
              <a:t>https://academicwriter.apa.org</a:t>
            </a:r>
          </a:p>
          <a:p>
            <a:r>
              <a:rPr sz="1600"/>
              <a:t>Created by APA Style experts, this tool offers self-paced learning modules, reference builders, and a guided writing center.</a:t>
            </a:r>
          </a:p>
        </p:txBody>
      </p:sp>
      <p:sp>
        <p:nvSpPr>
          <p:cNvPr id="4" name="TextBox 3">
            <a:extLst>
              <a:ext uri="{FF2B5EF4-FFF2-40B4-BE49-F238E27FC236}">
                <a16:creationId xmlns:a16="http://schemas.microsoft.com/office/drawing/2014/main" id="{28F7460B-9226-F328-D5E3-D227ED6FA5C1}"/>
              </a:ext>
            </a:extLst>
          </p:cNvPr>
          <p:cNvSpPr txBox="1"/>
          <p:nvPr/>
        </p:nvSpPr>
        <p:spPr>
          <a:xfrm>
            <a:off x="457200" y="2103120"/>
            <a:ext cx="10167527" cy="1231106"/>
          </a:xfrm>
          <a:prstGeom prst="rect">
            <a:avLst/>
          </a:prstGeom>
          <a:noFill/>
        </p:spPr>
        <p:txBody>
          <a:bodyPr wrap="none">
            <a:spAutoFit/>
          </a:bodyPr>
          <a:lstStyle/>
          <a:p>
            <a:endParaRPr sz="2400"/>
          </a:p>
          <a:p>
            <a:r>
              <a:rPr b="1"/>
              <a:t>APA Style Web Resource</a:t>
            </a:r>
          </a:p>
          <a:p>
            <a:r>
              <a:rPr sz="1600">
                <a:solidFill>
                  <a:srgbClr val="0000FF"/>
                </a:solidFill>
                <a:hlinkClick r:id="rId3"/>
              </a:rPr>
              <a:t>https://apastyle.apa.org</a:t>
            </a:r>
          </a:p>
          <a:p>
            <a:r>
              <a:rPr sz="1600"/>
              <a:t>Provides a foundation for effective scholarly communication with clear, precise, and inclusive writing guidance.</a:t>
            </a:r>
          </a:p>
        </p:txBody>
      </p:sp>
      <p:sp>
        <p:nvSpPr>
          <p:cNvPr id="5" name="TextBox 4">
            <a:extLst>
              <a:ext uri="{FF2B5EF4-FFF2-40B4-BE49-F238E27FC236}">
                <a16:creationId xmlns:a16="http://schemas.microsoft.com/office/drawing/2014/main" id="{CF22BE79-0907-5357-C84D-83942FF03C10}"/>
              </a:ext>
            </a:extLst>
          </p:cNvPr>
          <p:cNvSpPr txBox="1"/>
          <p:nvPr/>
        </p:nvSpPr>
        <p:spPr>
          <a:xfrm>
            <a:off x="457200" y="3108960"/>
            <a:ext cx="8280985" cy="1231106"/>
          </a:xfrm>
          <a:prstGeom prst="rect">
            <a:avLst/>
          </a:prstGeom>
          <a:noFill/>
        </p:spPr>
        <p:txBody>
          <a:bodyPr wrap="none">
            <a:spAutoFit/>
          </a:bodyPr>
          <a:lstStyle/>
          <a:p>
            <a:endParaRPr sz="2400"/>
          </a:p>
          <a:p>
            <a:r>
              <a:rPr b="1"/>
              <a:t>APA Style for Beginners</a:t>
            </a:r>
          </a:p>
          <a:p>
            <a:r>
              <a:rPr sz="1600">
                <a:solidFill>
                  <a:srgbClr val="0000FF"/>
                </a:solidFill>
                <a:hlinkClick r:id="rId4"/>
              </a:rPr>
              <a:t>https://apastyle.apa.org/style-grammar-guidelines/basics</a:t>
            </a:r>
          </a:p>
          <a:p>
            <a:r>
              <a:rPr sz="1600"/>
              <a:t>A beginner-friendly gateway to APA Style, helping you communicate clearly and precisely.</a:t>
            </a:r>
          </a:p>
        </p:txBody>
      </p:sp>
      <p:sp>
        <p:nvSpPr>
          <p:cNvPr id="6" name="TextBox 5">
            <a:extLst>
              <a:ext uri="{FF2B5EF4-FFF2-40B4-BE49-F238E27FC236}">
                <a16:creationId xmlns:a16="http://schemas.microsoft.com/office/drawing/2014/main" id="{E8F8E632-EDA5-75F6-557F-C2D7E9169E98}"/>
              </a:ext>
            </a:extLst>
          </p:cNvPr>
          <p:cNvSpPr txBox="1"/>
          <p:nvPr/>
        </p:nvSpPr>
        <p:spPr>
          <a:xfrm>
            <a:off x="457200" y="4114800"/>
            <a:ext cx="8103500" cy="1231106"/>
          </a:xfrm>
          <a:prstGeom prst="rect">
            <a:avLst/>
          </a:prstGeom>
          <a:noFill/>
        </p:spPr>
        <p:txBody>
          <a:bodyPr wrap="none">
            <a:spAutoFit/>
          </a:bodyPr>
          <a:lstStyle/>
          <a:p>
            <a:endParaRPr sz="2400"/>
          </a:p>
          <a:p>
            <a:r>
              <a:rPr b="1"/>
              <a:t>APA Documentation - PHSC Writing Center</a:t>
            </a:r>
          </a:p>
          <a:p>
            <a:r>
              <a:rPr sz="1600">
                <a:solidFill>
                  <a:srgbClr val="0000FF"/>
                </a:solidFill>
                <a:hlinkClick r:id="rId5"/>
              </a:rPr>
              <a:t>https://phsc.edu/academics/academic-resources/learning/writing-center/apa</a:t>
            </a:r>
          </a:p>
          <a:p>
            <a:r>
              <a:rPr sz="1600"/>
              <a:t>Explains how to use author-date citation style for quotes, paraphrases, and summaries.</a:t>
            </a:r>
          </a:p>
        </p:txBody>
      </p:sp>
      <p:sp>
        <p:nvSpPr>
          <p:cNvPr id="7" name="TextBox 6">
            <a:extLst>
              <a:ext uri="{FF2B5EF4-FFF2-40B4-BE49-F238E27FC236}">
                <a16:creationId xmlns:a16="http://schemas.microsoft.com/office/drawing/2014/main" id="{AABA7ECE-9F72-02B1-436E-9559D9B48BF2}"/>
              </a:ext>
            </a:extLst>
          </p:cNvPr>
          <p:cNvSpPr txBox="1"/>
          <p:nvPr/>
        </p:nvSpPr>
        <p:spPr>
          <a:xfrm>
            <a:off x="457200" y="5120640"/>
            <a:ext cx="6424066" cy="1231106"/>
          </a:xfrm>
          <a:prstGeom prst="rect">
            <a:avLst/>
          </a:prstGeom>
          <a:noFill/>
        </p:spPr>
        <p:txBody>
          <a:bodyPr wrap="none">
            <a:spAutoFit/>
          </a:bodyPr>
          <a:lstStyle/>
          <a:p>
            <a:endParaRPr sz="2400"/>
          </a:p>
          <a:p>
            <a:r>
              <a:rPr b="1"/>
              <a:t>APA Format for Students &amp; Researchers (EasyBib)</a:t>
            </a:r>
          </a:p>
          <a:p>
            <a:r>
              <a:rPr sz="1600">
                <a:solidFill>
                  <a:srgbClr val="0000FF"/>
                </a:solidFill>
                <a:hlinkClick r:id="rId6"/>
              </a:rPr>
              <a:t>https://www.easybib.com/guides/citation-guides/apa-format/</a:t>
            </a:r>
          </a:p>
          <a:p>
            <a:r>
              <a:rPr sz="1600"/>
              <a:t>Learn the basics of APA formatting for research papers and citations.</a:t>
            </a:r>
          </a:p>
        </p:txBody>
      </p:sp>
    </p:spTree>
    <p:extLst>
      <p:ext uri="{BB962C8B-B14F-4D97-AF65-F5344CB8AC3E}">
        <p14:creationId xmlns:p14="http://schemas.microsoft.com/office/powerpoint/2010/main" val="839899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01103-6299-5FFA-19D9-1DF89A1F6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C180E-82C9-58F3-145B-4F6307844AC5}"/>
              </a:ext>
            </a:extLst>
          </p:cNvPr>
          <p:cNvSpPr txBox="1">
            <a:spLocks/>
          </p:cNvSpPr>
          <p:nvPr/>
        </p:nvSpPr>
        <p:spPr>
          <a:xfrm>
            <a:off x="457200" y="274638"/>
            <a:ext cx="8229600"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kern="0" dirty="0">
                <a:solidFill>
                  <a:schemeClr val="bg1"/>
                </a:solidFill>
              </a:rPr>
              <a:t>APA Citation &amp; Writing Resources</a:t>
            </a:r>
          </a:p>
        </p:txBody>
      </p:sp>
      <p:sp>
        <p:nvSpPr>
          <p:cNvPr id="3" name="TextBox 2">
            <a:extLst>
              <a:ext uri="{FF2B5EF4-FFF2-40B4-BE49-F238E27FC236}">
                <a16:creationId xmlns:a16="http://schemas.microsoft.com/office/drawing/2014/main" id="{ECF0D4BF-F8BE-8386-63AB-890BFD9349F3}"/>
              </a:ext>
            </a:extLst>
          </p:cNvPr>
          <p:cNvSpPr txBox="1"/>
          <p:nvPr/>
        </p:nvSpPr>
        <p:spPr>
          <a:xfrm>
            <a:off x="457200" y="1097280"/>
            <a:ext cx="8122736" cy="1384995"/>
          </a:xfrm>
          <a:prstGeom prst="rect">
            <a:avLst/>
          </a:prstGeom>
          <a:noFill/>
        </p:spPr>
        <p:txBody>
          <a:bodyPr wrap="none">
            <a:spAutoFit/>
          </a:bodyPr>
          <a:lstStyle/>
          <a:p>
            <a:endParaRPr sz="2800"/>
          </a:p>
          <a:p>
            <a:r>
              <a:rPr sz="2000" b="1"/>
              <a:t>Excelsior Online Writing Lab</a:t>
            </a:r>
          </a:p>
          <a:p>
            <a:r>
              <a:rPr>
                <a:solidFill>
                  <a:srgbClr val="0000FF"/>
                </a:solidFill>
                <a:hlinkClick r:id="rId2"/>
              </a:rPr>
              <a:t>https://owl.excelsior.edu</a:t>
            </a:r>
          </a:p>
          <a:p>
            <a:r>
              <a:t>Supports writers transitioning from introductory to advanced academic writing.</a:t>
            </a:r>
          </a:p>
        </p:txBody>
      </p:sp>
      <p:sp>
        <p:nvSpPr>
          <p:cNvPr id="4" name="TextBox 3">
            <a:extLst>
              <a:ext uri="{FF2B5EF4-FFF2-40B4-BE49-F238E27FC236}">
                <a16:creationId xmlns:a16="http://schemas.microsoft.com/office/drawing/2014/main" id="{3C09ADDA-3960-84DA-DE20-AC750E328037}"/>
              </a:ext>
            </a:extLst>
          </p:cNvPr>
          <p:cNvSpPr txBox="1"/>
          <p:nvPr/>
        </p:nvSpPr>
        <p:spPr>
          <a:xfrm>
            <a:off x="457200" y="2103120"/>
            <a:ext cx="7951857" cy="1384995"/>
          </a:xfrm>
          <a:prstGeom prst="rect">
            <a:avLst/>
          </a:prstGeom>
          <a:noFill/>
        </p:spPr>
        <p:txBody>
          <a:bodyPr wrap="none">
            <a:spAutoFit/>
          </a:bodyPr>
          <a:lstStyle/>
          <a:p>
            <a:endParaRPr sz="2800"/>
          </a:p>
          <a:p>
            <a:r>
              <a:rPr sz="2000" b="1"/>
              <a:t>How to cite in APA format (Scribbr)</a:t>
            </a:r>
          </a:p>
          <a:p>
            <a:r>
              <a:rPr>
                <a:solidFill>
                  <a:srgbClr val="0000FF"/>
                </a:solidFill>
                <a:hlinkClick r:id="rId3"/>
              </a:rPr>
              <a:t>https://www.scribbr.com/apa-examples/</a:t>
            </a:r>
          </a:p>
          <a:p>
            <a:r>
              <a:t>Outlines key citation guidelines from the 7th edition APA Publication Manual.</a:t>
            </a:r>
          </a:p>
        </p:txBody>
      </p:sp>
      <p:sp>
        <p:nvSpPr>
          <p:cNvPr id="5" name="TextBox 4">
            <a:extLst>
              <a:ext uri="{FF2B5EF4-FFF2-40B4-BE49-F238E27FC236}">
                <a16:creationId xmlns:a16="http://schemas.microsoft.com/office/drawing/2014/main" id="{35DC3AF0-7469-9A75-8396-881D712B514C}"/>
              </a:ext>
            </a:extLst>
          </p:cNvPr>
          <p:cNvSpPr txBox="1"/>
          <p:nvPr/>
        </p:nvSpPr>
        <p:spPr>
          <a:xfrm>
            <a:off x="457200" y="3108960"/>
            <a:ext cx="9178795" cy="1384995"/>
          </a:xfrm>
          <a:prstGeom prst="rect">
            <a:avLst/>
          </a:prstGeom>
          <a:noFill/>
        </p:spPr>
        <p:txBody>
          <a:bodyPr wrap="none">
            <a:spAutoFit/>
          </a:bodyPr>
          <a:lstStyle/>
          <a:p>
            <a:endParaRPr sz="2800"/>
          </a:p>
          <a:p>
            <a:r>
              <a:rPr sz="2000" b="1"/>
              <a:t>Purdue Online Writing Lab</a:t>
            </a:r>
          </a:p>
          <a:p>
            <a:r>
              <a:rPr>
                <a:solidFill>
                  <a:srgbClr val="0000FF"/>
                </a:solidFill>
                <a:hlinkClick r:id="rId4"/>
              </a:rPr>
              <a:t>https://owl.purdue.edu/owl/research_and_citation/apa_style/apa_style_introduction.html</a:t>
            </a:r>
          </a:p>
          <a:p>
            <a:r>
              <a:t>Offers examples and guidance on APA formatting, in-text citations, and reference pages.</a:t>
            </a:r>
          </a:p>
        </p:txBody>
      </p:sp>
      <p:sp>
        <p:nvSpPr>
          <p:cNvPr id="6" name="TextBox 5">
            <a:extLst>
              <a:ext uri="{FF2B5EF4-FFF2-40B4-BE49-F238E27FC236}">
                <a16:creationId xmlns:a16="http://schemas.microsoft.com/office/drawing/2014/main" id="{84D573DC-1A88-7552-2C54-ABCEF71665A6}"/>
              </a:ext>
            </a:extLst>
          </p:cNvPr>
          <p:cNvSpPr txBox="1"/>
          <p:nvPr/>
        </p:nvSpPr>
        <p:spPr>
          <a:xfrm>
            <a:off x="457200" y="4114800"/>
            <a:ext cx="8464818" cy="1384995"/>
          </a:xfrm>
          <a:prstGeom prst="rect">
            <a:avLst/>
          </a:prstGeom>
          <a:noFill/>
        </p:spPr>
        <p:txBody>
          <a:bodyPr wrap="none">
            <a:spAutoFit/>
          </a:bodyPr>
          <a:lstStyle/>
          <a:p>
            <a:endParaRPr sz="2800"/>
          </a:p>
          <a:p>
            <a:r>
              <a:rPr sz="2000" b="1"/>
              <a:t>Useful guide to APA format (Bibme.org)</a:t>
            </a:r>
          </a:p>
          <a:p>
            <a:r>
              <a:rPr>
                <a:solidFill>
                  <a:srgbClr val="0000FF"/>
                </a:solidFill>
                <a:hlinkClick r:id="rId5"/>
              </a:rPr>
              <a:t>https://www.bibme.org/citation-guide/apa/</a:t>
            </a:r>
          </a:p>
          <a:p>
            <a:r>
              <a:t>Review APA format fundamentals and citation examples for various source types.</a:t>
            </a:r>
          </a:p>
        </p:txBody>
      </p:sp>
    </p:spTree>
    <p:extLst>
      <p:ext uri="{BB962C8B-B14F-4D97-AF65-F5344CB8AC3E}">
        <p14:creationId xmlns:p14="http://schemas.microsoft.com/office/powerpoint/2010/main" val="3760729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3"/>
          <p:cNvSpPr/>
          <p:nvPr/>
        </p:nvSpPr>
        <p:spPr>
          <a:xfrm>
            <a:off x="11395875" y="6461913"/>
            <a:ext cx="713899" cy="396697"/>
          </a:xfrm>
          <a:custGeom>
            <a:avLst/>
            <a:gdLst/>
            <a:ahLst/>
            <a:cxnLst/>
            <a:rect l="l" t="t" r="r" b="b"/>
            <a:pathLst>
              <a:path w="713899" h="579120" extrusionOk="0">
                <a:moveTo>
                  <a:pt x="112415" y="14855"/>
                </a:moveTo>
                <a:lnTo>
                  <a:pt x="713899" y="0"/>
                </a:lnTo>
                <a:lnTo>
                  <a:pt x="713899" y="579120"/>
                </a:lnTo>
                <a:lnTo>
                  <a:pt x="0" y="579120"/>
                </a:lnTo>
                <a:lnTo>
                  <a:pt x="112415" y="14855"/>
                </a:lnTo>
                <a:close/>
              </a:path>
            </a:pathLst>
          </a:cu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28" name="Google Shape;328;p23"/>
          <p:cNvPicPr preferRelativeResize="0"/>
          <p:nvPr/>
        </p:nvPicPr>
        <p:blipFill rotWithShape="1">
          <a:blip r:embed="rId3">
            <a:alphaModFix/>
          </a:blip>
          <a:srcRect l="19603" t="41007" r="19529" b="41003"/>
          <a:stretch/>
        </p:blipFill>
        <p:spPr>
          <a:xfrm>
            <a:off x="9699752" y="471293"/>
            <a:ext cx="2061131" cy="542310"/>
          </a:xfrm>
          <a:prstGeom prst="rect">
            <a:avLst/>
          </a:prstGeom>
          <a:noFill/>
          <a:ln>
            <a:noFill/>
          </a:ln>
        </p:spPr>
      </p:pic>
      <p:sp>
        <p:nvSpPr>
          <p:cNvPr id="329" name="Google Shape;329;p23"/>
          <p:cNvSpPr/>
          <p:nvPr/>
        </p:nvSpPr>
        <p:spPr>
          <a:xfrm>
            <a:off x="11478101" y="6363649"/>
            <a:ext cx="713899" cy="493700"/>
          </a:xfrm>
          <a:custGeom>
            <a:avLst/>
            <a:gdLst/>
            <a:ahLst/>
            <a:cxnLst/>
            <a:rect l="l" t="t" r="r" b="b"/>
            <a:pathLst>
              <a:path w="713899" h="579120" extrusionOk="0">
                <a:moveTo>
                  <a:pt x="132735" y="0"/>
                </a:moveTo>
                <a:lnTo>
                  <a:pt x="713899" y="0"/>
                </a:lnTo>
                <a:lnTo>
                  <a:pt x="713899" y="579120"/>
                </a:lnTo>
                <a:lnTo>
                  <a:pt x="0" y="579120"/>
                </a:lnTo>
                <a:lnTo>
                  <a:pt x="132735" y="0"/>
                </a:lnTo>
                <a:close/>
              </a:path>
            </a:pathLst>
          </a:custGeom>
          <a:solidFill>
            <a:srgbClr val="2993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 name="Google Shape;330;p23"/>
          <p:cNvSpPr txBox="1"/>
          <p:nvPr/>
        </p:nvSpPr>
        <p:spPr>
          <a:xfrm>
            <a:off x="11656179" y="6436318"/>
            <a:ext cx="418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24</a:t>
            </a:r>
            <a:endParaRPr sz="1400" b="0" i="0" u="none" strike="noStrike" cap="none">
              <a:solidFill>
                <a:srgbClr val="000000"/>
              </a:solidFill>
              <a:latin typeface="Arial"/>
              <a:ea typeface="Arial"/>
              <a:cs typeface="Arial"/>
              <a:sym typeface="Arial"/>
            </a:endParaRPr>
          </a:p>
        </p:txBody>
      </p:sp>
      <p:sp>
        <p:nvSpPr>
          <p:cNvPr id="331" name="Google Shape;331;p23"/>
          <p:cNvSpPr txBox="1"/>
          <p:nvPr/>
        </p:nvSpPr>
        <p:spPr>
          <a:xfrm>
            <a:off x="5228132" y="2825372"/>
            <a:ext cx="5337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US" sz="6000" b="1" i="0" u="none" strike="noStrike" cap="none">
                <a:solidFill>
                  <a:srgbClr val="595959"/>
                </a:solidFill>
                <a:latin typeface="Calibri"/>
                <a:ea typeface="Calibri"/>
                <a:cs typeface="Calibri"/>
                <a:sym typeface="Calibri"/>
              </a:rPr>
              <a:t>Any Questions?</a:t>
            </a:r>
            <a:endParaRPr sz="1400" b="0" i="0" u="none" strike="noStrike" cap="none">
              <a:solidFill>
                <a:srgbClr val="000000"/>
              </a:solidFill>
              <a:latin typeface="Arial"/>
              <a:ea typeface="Arial"/>
              <a:cs typeface="Arial"/>
              <a:sym typeface="Arial"/>
            </a:endParaRPr>
          </a:p>
        </p:txBody>
      </p:sp>
      <p:pic>
        <p:nvPicPr>
          <p:cNvPr id="332" name="Google Shape;332;p23"/>
          <p:cNvPicPr preferRelativeResize="0"/>
          <p:nvPr/>
        </p:nvPicPr>
        <p:blipFill rotWithShape="1">
          <a:blip r:embed="rId4">
            <a:alphaModFix/>
          </a:blip>
          <a:srcRect/>
          <a:stretch/>
        </p:blipFill>
        <p:spPr>
          <a:xfrm>
            <a:off x="1840423" y="1945021"/>
            <a:ext cx="2967958" cy="2967958"/>
          </a:xfrm>
          <a:prstGeom prst="rect">
            <a:avLst/>
          </a:prstGeom>
          <a:noFill/>
          <a:ln>
            <a:noFill/>
          </a:ln>
        </p:spPr>
      </p:pic>
      <p:sp>
        <p:nvSpPr>
          <p:cNvPr id="333" name="Google Shape;333;p23"/>
          <p:cNvSpPr txBox="1"/>
          <p:nvPr/>
        </p:nvSpPr>
        <p:spPr>
          <a:xfrm>
            <a:off x="9699750" y="6565500"/>
            <a:ext cx="1725600" cy="507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595959"/>
                </a:solidFill>
                <a:latin typeface="Calibri"/>
                <a:ea typeface="Calibri"/>
                <a:cs typeface="Calibri"/>
                <a:sym typeface="Calibri"/>
              </a:rPr>
              <a:t>Globalization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24"/>
          <p:cNvPicPr preferRelativeResize="0"/>
          <p:nvPr/>
        </p:nvPicPr>
        <p:blipFill rotWithShape="1">
          <a:blip r:embed="rId3">
            <a:alphaModFix/>
          </a:blip>
          <a:srcRect l="19607" t="41007" r="19528" b="41003"/>
          <a:stretch/>
        </p:blipFill>
        <p:spPr>
          <a:xfrm>
            <a:off x="927763" y="5542697"/>
            <a:ext cx="2584597" cy="680040"/>
          </a:xfrm>
          <a:prstGeom prst="rect">
            <a:avLst/>
          </a:prstGeom>
          <a:noFill/>
          <a:ln>
            <a:noFill/>
          </a:ln>
        </p:spPr>
      </p:pic>
      <p:sp>
        <p:nvSpPr>
          <p:cNvPr id="340" name="Google Shape;340;p24"/>
          <p:cNvSpPr txBox="1"/>
          <p:nvPr/>
        </p:nvSpPr>
        <p:spPr>
          <a:xfrm>
            <a:off x="5065460" y="5627884"/>
            <a:ext cx="2061077"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595959"/>
                </a:solidFill>
                <a:latin typeface="Calibri"/>
                <a:ea typeface="Calibri"/>
                <a:cs typeface="Calibri"/>
                <a:sym typeface="Calibri"/>
              </a:rPr>
              <a:t>www.learnersuae.com</a:t>
            </a:r>
            <a:endParaRPr sz="1600" b="0" i="0" u="none" strike="noStrike" cap="none">
              <a:solidFill>
                <a:srgbClr val="595959"/>
              </a:solidFill>
              <a:latin typeface="Calibri"/>
              <a:ea typeface="Calibri"/>
              <a:cs typeface="Calibri"/>
              <a:sym typeface="Calibri"/>
            </a:endParaRPr>
          </a:p>
        </p:txBody>
      </p:sp>
      <p:pic>
        <p:nvPicPr>
          <p:cNvPr id="341" name="Google Shape;341;p24"/>
          <p:cNvPicPr preferRelativeResize="0"/>
          <p:nvPr/>
        </p:nvPicPr>
        <p:blipFill rotWithShape="1">
          <a:blip r:embed="rId4">
            <a:alphaModFix/>
          </a:blip>
          <a:srcRect/>
          <a:stretch/>
        </p:blipFill>
        <p:spPr>
          <a:xfrm>
            <a:off x="4388668" y="1163490"/>
            <a:ext cx="3414663" cy="3414663"/>
          </a:xfrm>
          <a:prstGeom prst="rect">
            <a:avLst/>
          </a:prstGeom>
          <a:noFill/>
          <a:ln>
            <a:noFill/>
          </a:ln>
        </p:spPr>
      </p:pic>
      <p:pic>
        <p:nvPicPr>
          <p:cNvPr id="2" name="Image 6" descr="A logo with white text&#10;&#10;Description automatically generated">
            <a:extLst>
              <a:ext uri="{FF2B5EF4-FFF2-40B4-BE49-F238E27FC236}">
                <a16:creationId xmlns:a16="http://schemas.microsoft.com/office/drawing/2014/main" id="{7B77E135-7668-EA47-0AE5-D4EF342EC249}"/>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0040592" y="5293288"/>
            <a:ext cx="1223645" cy="10077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LUC Template</Template>
  <TotalTime>320</TotalTime>
  <Words>2612</Words>
  <Application>Microsoft Macintosh PowerPoint</Application>
  <PresentationFormat>Widescreen</PresentationFormat>
  <Paragraphs>328</Paragraphs>
  <Slides>32</Slides>
  <Notes>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32</vt:i4>
      </vt:variant>
    </vt:vector>
  </HeadingPairs>
  <TitlesOfParts>
    <vt:vector size="45" baseType="lpstr">
      <vt:lpstr>Arial MT</vt:lpstr>
      <vt:lpstr>Times</vt:lpstr>
      <vt:lpstr>Arial</vt:lpstr>
      <vt:lpstr>Calibri</vt:lpstr>
      <vt:lpstr>Calibri Light</vt:lpstr>
      <vt:lpstr>Georgia</vt:lpstr>
      <vt:lpstr>Segoe UI</vt:lpstr>
      <vt:lpstr>Segoe UI Symbol</vt:lpstr>
      <vt:lpstr>Tahoma</vt:lpstr>
      <vt:lpstr>Verdana</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Athira -Learners</dc:creator>
  <cp:lastModifiedBy>Scolah Kazi</cp:lastModifiedBy>
  <cp:revision>15</cp:revision>
  <dcterms:created xsi:type="dcterms:W3CDTF">2024-01-03T12:01:04Z</dcterms:created>
  <dcterms:modified xsi:type="dcterms:W3CDTF">2025-07-19T09:14:43Z</dcterms:modified>
</cp:coreProperties>
</file>